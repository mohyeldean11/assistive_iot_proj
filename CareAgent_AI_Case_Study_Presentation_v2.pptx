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5019" autoAdjust="0"/>
  </p:normalViewPr>
  <p:slideViewPr>
    <p:cSldViewPr snapToGrid="0" snapToObjects="1">
      <p:cViewPr>
        <p:scale>
          <a:sx n="80" d="100"/>
          <a:sy n="80" d="100"/>
        </p:scale>
        <p:origin x="354"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8037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local-first elderly monitoring prototype. Emphasize that Mohie Eldean Badawy is presenting as developer, architect, and team leader, with Mohamed Alomarry responsible for the paper and academic research. State the core goal: detect concerning posture and movement patterns from camera landmarks and simulated room sensors, then display the evidence in a dashboard and trigger caregiver checks. Clarify from the beginning that this is a monitoring aid and not a certified medical diagnosis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motivation. Falls are a public-health issue and especially serious for adults over 60. Stroke symptoms also require fast attention, but the system should not claim to diagnose stroke. It monitors visual and sensor evidence that can justify checking the elder. This context makes the project useful: it reduces the delay between an incident and caregiver awareness while preserving a local, low-cost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project ethically. It observes the person and the room, interprets structured evidence, and escalates when evidence is concerning. The system can help answer “should I check on this person now?” It should not answer “does this person medically have a stroke?” That distinction is important for the case study and for any future deployment.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Camera and simulated sensors feed the Raspberry Pi 5 agent. The agent reads frames with OpenCV, estimates body landmarks with MediaPipe, computes normalized mathematical features, classifies posture and risk, asks the local Llama module only to summarize evidence, and uploads JSON plus a snapshot to the local Flask dashboard. The project intentionally stays local for this case study; the future_cloud folder is separated so cloud work can be resumed later without changing the main prototype.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branch history as the project matured. V1.0 captured the early concept, V2.0 introduced stronger dashboard/cloud experimentation, and V3.0 is the final case-study branch. GitHub shows active V1.0, V2.0, and V3.0 branches; the final branch also has folders for rpi_agent, webapp, future_cloud, high-level design, and case-study material. Use this slide to prove organized development rather than one single script.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walk through the responsibilities of each module. The design is not just a web page; it is a complete pipeline. A key engineering choice is that Llama/Ollama summarizes structured evidence but cannot change the decision. Another key choice is the retry spool, because a local network can temporarily fail. This modular design makes the prototype easier to test and explain.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main technical improvement. MediaPipe returns landmarks, but landmarks alone are not enough. The project converts them into robust features: body scale, torso tilt, horizontal score, knee and hip angles, movement, recent drop, and normalized vertical velocity. Then the pose classifier and emergency engine use persistence, confidence, and conservative thresholds. This prevents the system from guessing when landmarks are poor or when the camera angle is difficult.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training module as a proof that the system can learn from labeled examples. The included data has five balanced classes and is useful for checking the training pipeline. The report shows a high synthetic holdout accuracy, but the presenter should be honest: synthetic data is not enough. Real RPi captures are required before claiming reliability. This honesty improves the academic quality of the case study.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project actually runs. The terminal screenshot shows MediaPipe/TensorFlow Lite initialization, frame capture, and pose output such as FALLING. The training commands generate the bootstrap dataset and train the model. The pytest result is important because it demonstrates that core RPi logic has tests. Mention that webapp tests were not executed in the current environment unless Flask is installed, but the live dashboard screenshots show the webapp running during prototype testing.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prototype evidence. The dashboard shows the core idea: latest telemetry, pose state, snapshot, stroke-risk indicators, and emergency action. The screenshots show that the system can move through sitting, standing, and falling states during testing. The automatic monitor can record alert attempts; email failures such as SMTP authentication errors become visible in the audit trail, which is useful for debugging and for a future production setup.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added slide includes more of the pictures from the prototype testing. Explain that the falling image is not only a visual mock-up; it is connected to terminal output and local code execution. The purpose is to show that the prototype was tested end-to-end: capture, detection, pose label, and feedback to the system.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extra screenshots to the implementation. The dashboard screenshot proves the webapp side. The emergency code screenshot proves the rule logic. The Azure picture proves that cloud telemetry was explored, but repeat that cloud is not required for the final demo and is intentionally left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outcome. The case study is successful because it demonstrates an end-to-end assistive IoT pipeline running locally: capture, pose analysis, risk decision, local upload, dashboard, and alert audit. Be transparent about limitations. The synthetic model proves the pipeline, not medical reliability. The next step is real-world data collection, production email/contact configuration, and privacy/security preparation before any elder-care trial.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bibliography and the ethical boundary. Sources include WHO and CDC for why the monitor is useful, and MediaPipe, OpenCV, scikit-learn, Raspberry Pi, and the GitHub repository for the technical implementation. End by saying that the project is successful as a case-study prototype, but it still needs real data, safety procedures, privacy hardening, and clinical oversight before any real elder-care use.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C31"/>
          </a:solidFill>
          <a:ln w="12700">
            <a:solidFill>
              <a:srgbClr val="0F1C31"/>
            </a:solidFill>
            <a:prstDash val="solid"/>
          </a:ln>
        </p:spPr>
        <p:txBody>
          <a:bodyPr/>
          <a:lstStyle/>
          <a:p>
            <a:endParaRPr lang="en-GB"/>
          </a:p>
        </p:txBody>
      </p:sp>
      <p:sp>
        <p:nvSpPr>
          <p:cNvPr id="3" name="Shape 1"/>
          <p:cNvSpPr/>
          <p:nvPr/>
        </p:nvSpPr>
        <p:spPr>
          <a:xfrm rot="1200000">
            <a:off x="8641080" y="256032"/>
            <a:ext cx="3154680" cy="3154680"/>
          </a:xfrm>
          <a:prstGeom prst="arc">
            <a:avLst/>
          </a:prstGeom>
          <a:noFill/>
          <a:ln w="25400">
            <a:solidFill>
              <a:srgbClr val="1D4ED8">
                <a:alpha val="28000"/>
              </a:srgbClr>
            </a:solidFill>
            <a:prstDash val="solid"/>
          </a:ln>
        </p:spPr>
        <p:txBody>
          <a:bodyPr/>
          <a:lstStyle/>
          <a:p>
            <a:endParaRPr lang="en-GB"/>
          </a:p>
        </p:txBody>
      </p:sp>
      <p:sp>
        <p:nvSpPr>
          <p:cNvPr id="4" name="Shape 2"/>
          <p:cNvSpPr/>
          <p:nvPr/>
        </p:nvSpPr>
        <p:spPr>
          <a:xfrm>
            <a:off x="8595360" y="868680"/>
            <a:ext cx="2926080" cy="2926080"/>
          </a:xfrm>
          <a:prstGeom prst="ellipse">
            <a:avLst/>
          </a:prstGeom>
          <a:solidFill>
            <a:srgbClr val="1E40AF">
              <a:alpha val="85000"/>
            </a:srgbClr>
          </a:solidFill>
          <a:ln w="12700">
            <a:solidFill>
              <a:srgbClr val="1E40AF">
                <a:alpha val="0"/>
              </a:srgbClr>
            </a:solidFill>
            <a:prstDash val="solid"/>
          </a:ln>
        </p:spPr>
        <p:txBody>
          <a:bodyPr/>
          <a:lstStyle/>
          <a:p>
            <a:endParaRPr lang="en-GB"/>
          </a:p>
        </p:txBody>
      </p:sp>
      <p:sp>
        <p:nvSpPr>
          <p:cNvPr id="5" name="Shape 3"/>
          <p:cNvSpPr/>
          <p:nvPr/>
        </p:nvSpPr>
        <p:spPr>
          <a:xfrm>
            <a:off x="9235440" y="1508760"/>
            <a:ext cx="1645920" cy="1645920"/>
          </a:xfrm>
          <a:prstGeom prst="ellipse">
            <a:avLst/>
          </a:prstGeom>
          <a:solidFill>
            <a:srgbClr val="22A6F2">
              <a:alpha val="82000"/>
            </a:srgbClr>
          </a:solidFill>
          <a:ln w="12700">
            <a:solidFill>
              <a:srgbClr val="22A6F2">
                <a:alpha val="0"/>
              </a:srgbClr>
            </a:solidFill>
            <a:prstDash val="solid"/>
          </a:ln>
        </p:spPr>
        <p:txBody>
          <a:bodyPr/>
          <a:lstStyle/>
          <a:p>
            <a:endParaRPr lang="en-GB"/>
          </a:p>
        </p:txBody>
      </p:sp>
      <p:sp>
        <p:nvSpPr>
          <p:cNvPr id="6" name="Shape 4"/>
          <p:cNvSpPr/>
          <p:nvPr/>
        </p:nvSpPr>
        <p:spPr>
          <a:xfrm>
            <a:off x="594360" y="502920"/>
            <a:ext cx="384048" cy="384048"/>
          </a:xfrm>
          <a:prstGeom prst="roundRect">
            <a:avLst>
              <a:gd name="adj" fmla="val 23810"/>
            </a:avLst>
          </a:prstGeom>
          <a:solidFill>
            <a:srgbClr val="22A6F2"/>
          </a:solidFill>
          <a:ln w="12700">
            <a:solidFill>
              <a:srgbClr val="22A6F2"/>
            </a:solidFill>
            <a:prstDash val="solid"/>
          </a:ln>
        </p:spPr>
        <p:txBody>
          <a:bodyPr/>
          <a:lstStyle/>
          <a:p>
            <a:endParaRPr lang="en-GB"/>
          </a:p>
        </p:txBody>
      </p:sp>
      <p:sp>
        <p:nvSpPr>
          <p:cNvPr id="7" name="Text 5"/>
          <p:cNvSpPr/>
          <p:nvPr/>
        </p:nvSpPr>
        <p:spPr>
          <a:xfrm>
            <a:off x="667512" y="612648"/>
            <a:ext cx="237744" cy="91440"/>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CA</a:t>
            </a:r>
            <a:endParaRPr lang="en-US" sz="850" dirty="0"/>
          </a:p>
        </p:txBody>
      </p:sp>
      <p:sp>
        <p:nvSpPr>
          <p:cNvPr id="8" name="Text 6"/>
          <p:cNvSpPr/>
          <p:nvPr/>
        </p:nvSpPr>
        <p:spPr>
          <a:xfrm>
            <a:off x="1088136" y="539496"/>
            <a:ext cx="1645920" cy="164592"/>
          </a:xfrm>
          <a:prstGeom prst="rect">
            <a:avLst/>
          </a:prstGeom>
          <a:noFill/>
          <a:ln/>
        </p:spPr>
        <p:txBody>
          <a:bodyPr wrap="square" lIns="0" tIns="0" rIns="0" bIns="0" rtlCol="0" anchor="ctr"/>
          <a:lstStyle/>
          <a:p>
            <a:pPr marL="0" indent="0">
              <a:buNone/>
            </a:pPr>
            <a:r>
              <a:rPr lang="en-US" sz="940" b="1" dirty="0">
                <a:solidFill>
                  <a:srgbClr val="FFFFFF"/>
                </a:solidFill>
                <a:latin typeface="Aptos" pitchFamily="34" charset="0"/>
                <a:ea typeface="Aptos" pitchFamily="34" charset="-122"/>
                <a:cs typeface="Aptos" pitchFamily="34" charset="-120"/>
              </a:rPr>
              <a:t>CareAgent AI</a:t>
            </a:r>
            <a:endParaRPr lang="en-US" sz="940" dirty="0"/>
          </a:p>
        </p:txBody>
      </p:sp>
      <p:sp>
        <p:nvSpPr>
          <p:cNvPr id="9" name="Text 7"/>
          <p:cNvSpPr/>
          <p:nvPr/>
        </p:nvSpPr>
        <p:spPr>
          <a:xfrm>
            <a:off x="1088136" y="704088"/>
            <a:ext cx="1463040" cy="109728"/>
          </a:xfrm>
          <a:prstGeom prst="rect">
            <a:avLst/>
          </a:prstGeom>
          <a:noFill/>
          <a:ln/>
        </p:spPr>
        <p:txBody>
          <a:bodyPr wrap="square" lIns="0" tIns="0" rIns="0" bIns="0" rtlCol="0" anchor="ctr"/>
          <a:lstStyle/>
          <a:p>
            <a:pPr marL="0" indent="0">
              <a:buNone/>
            </a:pPr>
            <a:r>
              <a:rPr lang="en-US" sz="680" dirty="0">
                <a:solidFill>
                  <a:srgbClr val="B8C6DB"/>
                </a:solidFill>
                <a:latin typeface="Aptos" pitchFamily="34" charset="0"/>
                <a:ea typeface="Aptos" pitchFamily="34" charset="-122"/>
                <a:cs typeface="Aptos" pitchFamily="34" charset="-120"/>
              </a:rPr>
              <a:t>Stroke Monitoring</a:t>
            </a:r>
            <a:endParaRPr lang="en-US" sz="680" dirty="0"/>
          </a:p>
        </p:txBody>
      </p:sp>
      <p:sp>
        <p:nvSpPr>
          <p:cNvPr id="10" name="Text 8"/>
          <p:cNvSpPr/>
          <p:nvPr/>
        </p:nvSpPr>
        <p:spPr>
          <a:xfrm>
            <a:off x="621792" y="1417320"/>
            <a:ext cx="3657600" cy="228600"/>
          </a:xfrm>
          <a:prstGeom prst="rect">
            <a:avLst/>
          </a:prstGeom>
          <a:noFill/>
          <a:ln/>
        </p:spPr>
        <p:txBody>
          <a:bodyPr wrap="square" lIns="0" tIns="0" rIns="0" bIns="0" rtlCol="0" anchor="ctr"/>
          <a:lstStyle/>
          <a:p>
            <a:pPr marL="0" indent="0">
              <a:buNone/>
            </a:pPr>
            <a:r>
              <a:rPr lang="en-US" sz="850" b="1" dirty="0">
                <a:solidFill>
                  <a:srgbClr val="22A6F2"/>
                </a:solidFill>
                <a:latin typeface="Aptos" pitchFamily="34" charset="0"/>
                <a:ea typeface="Aptos" pitchFamily="34" charset="-122"/>
                <a:cs typeface="Aptos" pitchFamily="34" charset="-120"/>
              </a:rPr>
              <a:t>ASSISTIVE IOT • CASE STUDY</a:t>
            </a:r>
            <a:endParaRPr lang="en-US" sz="850" dirty="0"/>
          </a:p>
        </p:txBody>
      </p:sp>
      <p:sp>
        <p:nvSpPr>
          <p:cNvPr id="11" name="Text 9"/>
          <p:cNvSpPr/>
          <p:nvPr/>
        </p:nvSpPr>
        <p:spPr>
          <a:xfrm>
            <a:off x="594360" y="1737360"/>
            <a:ext cx="6309360" cy="685800"/>
          </a:xfrm>
          <a:prstGeom prst="rect">
            <a:avLst/>
          </a:prstGeom>
          <a:noFill/>
          <a:ln/>
        </p:spPr>
        <p:txBody>
          <a:bodyPr wrap="square" lIns="0" tIns="0" rIns="0" bIns="0" rtlCol="0" anchor="ctr"/>
          <a:lstStyle/>
          <a:p>
            <a:pPr marL="0" indent="0">
              <a:buNone/>
            </a:pPr>
            <a:r>
              <a:rPr lang="en-US" sz="4400" b="1" dirty="0">
                <a:solidFill>
                  <a:srgbClr val="FFFFFF"/>
                </a:solidFill>
                <a:latin typeface="Aptos Display" pitchFamily="34" charset="0"/>
                <a:ea typeface="Aptos Display" pitchFamily="34" charset="-122"/>
                <a:cs typeface="Aptos Display" pitchFamily="34" charset="-120"/>
              </a:rPr>
              <a:t>CareAgent AI</a:t>
            </a:r>
            <a:endParaRPr lang="en-US" sz="4400" dirty="0"/>
          </a:p>
        </p:txBody>
      </p:sp>
      <p:sp>
        <p:nvSpPr>
          <p:cNvPr id="12" name="Text 10"/>
          <p:cNvSpPr/>
          <p:nvPr/>
        </p:nvSpPr>
        <p:spPr>
          <a:xfrm>
            <a:off x="630936" y="2514600"/>
            <a:ext cx="6537960" cy="685800"/>
          </a:xfrm>
          <a:prstGeom prst="rect">
            <a:avLst/>
          </a:prstGeom>
          <a:noFill/>
          <a:ln/>
        </p:spPr>
        <p:txBody>
          <a:bodyPr wrap="square" lIns="254" tIns="254" rIns="254" bIns="254" rtlCol="0" anchor="ctr">
            <a:normAutofit/>
          </a:bodyPr>
          <a:lstStyle/>
          <a:p>
            <a:pPr marL="0" indent="0">
              <a:buNone/>
            </a:pPr>
            <a:r>
              <a:rPr lang="en-US" sz="1650" dirty="0">
                <a:solidFill>
                  <a:srgbClr val="C7D2E6"/>
                </a:solidFill>
                <a:latin typeface="Aptos" pitchFamily="34" charset="0"/>
                <a:ea typeface="Aptos" pitchFamily="34" charset="-122"/>
                <a:cs typeface="Aptos" pitchFamily="34" charset="-120"/>
              </a:rPr>
              <a:t>Local elderly safety monitoring using Raspberry Pi 5, MediaPipe pose landmarks, OpenCV, scikit-learn, and a local Llama/Ollama summarizer.</a:t>
            </a:r>
            <a:endParaRPr lang="en-US" sz="1650" dirty="0"/>
          </a:p>
        </p:txBody>
      </p:sp>
      <p:sp>
        <p:nvSpPr>
          <p:cNvPr id="13" name="Shape 11"/>
          <p:cNvSpPr/>
          <p:nvPr/>
        </p:nvSpPr>
        <p:spPr>
          <a:xfrm>
            <a:off x="658368" y="3822192"/>
            <a:ext cx="3456432" cy="1207008"/>
          </a:xfrm>
          <a:prstGeom prst="roundRect">
            <a:avLst>
              <a:gd name="adj" fmla="val 13636"/>
            </a:avLst>
          </a:prstGeom>
          <a:solidFill>
            <a:srgbClr val="172743"/>
          </a:solidFill>
          <a:ln w="12700">
            <a:solidFill>
              <a:srgbClr val="29405E"/>
            </a:solidFill>
            <a:prstDash val="solid"/>
          </a:ln>
        </p:spPr>
        <p:txBody>
          <a:bodyPr/>
          <a:lstStyle/>
          <a:p>
            <a:endParaRPr lang="en-GB"/>
          </a:p>
        </p:txBody>
      </p:sp>
      <p:sp>
        <p:nvSpPr>
          <p:cNvPr id="14" name="Text 12"/>
          <p:cNvSpPr/>
          <p:nvPr/>
        </p:nvSpPr>
        <p:spPr>
          <a:xfrm>
            <a:off x="877824" y="4041648"/>
            <a:ext cx="3017520" cy="164592"/>
          </a:xfrm>
          <a:prstGeom prst="rect">
            <a:avLst/>
          </a:prstGeom>
          <a:noFill/>
          <a:ln/>
        </p:spPr>
        <p:txBody>
          <a:bodyPr wrap="square" lIns="0" tIns="0" rIns="0" bIns="0" rtlCol="0" anchor="ctr"/>
          <a:lstStyle/>
          <a:p>
            <a:pPr marL="0" indent="0">
              <a:buNone/>
            </a:pPr>
            <a:r>
              <a:rPr lang="en-US" sz="860" b="1" dirty="0">
                <a:solidFill>
                  <a:srgbClr val="22A6F2"/>
                </a:solidFill>
                <a:latin typeface="Aptos" pitchFamily="34" charset="0"/>
                <a:ea typeface="Aptos" pitchFamily="34" charset="-122"/>
                <a:cs typeface="Aptos" pitchFamily="34" charset="-120"/>
              </a:rPr>
              <a:t>Developer • Architect • Team Leader</a:t>
            </a:r>
            <a:endParaRPr lang="en-US" sz="860" dirty="0"/>
          </a:p>
        </p:txBody>
      </p:sp>
      <p:sp>
        <p:nvSpPr>
          <p:cNvPr id="15" name="Text 13"/>
          <p:cNvSpPr/>
          <p:nvPr/>
        </p:nvSpPr>
        <p:spPr>
          <a:xfrm>
            <a:off x="877824" y="4315968"/>
            <a:ext cx="2971800" cy="256032"/>
          </a:xfrm>
          <a:prstGeom prst="rect">
            <a:avLst/>
          </a:prstGeom>
          <a:noFill/>
          <a:ln/>
        </p:spPr>
        <p:txBody>
          <a:bodyPr wrap="square" lIns="0" tIns="0" rIns="0" bIns="0" rtlCol="0" anchor="ctr">
            <a:normAutofit/>
          </a:bodyPr>
          <a:lstStyle/>
          <a:p>
            <a:pPr marL="0" indent="0">
              <a:buNone/>
            </a:pPr>
            <a:r>
              <a:rPr lang="en-US" sz="1750" b="1" dirty="0">
                <a:solidFill>
                  <a:srgbClr val="FFFFFF"/>
                </a:solidFill>
                <a:latin typeface="Aptos Display" pitchFamily="34" charset="0"/>
                <a:ea typeface="Aptos Display" pitchFamily="34" charset="-122"/>
                <a:cs typeface="Aptos Display" pitchFamily="34" charset="-120"/>
              </a:rPr>
              <a:t>Mohie Eldean Badawy</a:t>
            </a:r>
            <a:endParaRPr lang="en-US" sz="1750" dirty="0"/>
          </a:p>
        </p:txBody>
      </p:sp>
      <p:sp>
        <p:nvSpPr>
          <p:cNvPr id="16" name="Text 14"/>
          <p:cNvSpPr/>
          <p:nvPr/>
        </p:nvSpPr>
        <p:spPr>
          <a:xfrm>
            <a:off x="877824" y="4645152"/>
            <a:ext cx="2926080" cy="219456"/>
          </a:xfrm>
          <a:prstGeom prst="rect">
            <a:avLst/>
          </a:prstGeom>
          <a:noFill/>
          <a:ln/>
        </p:spPr>
        <p:txBody>
          <a:bodyPr wrap="square" lIns="0" tIns="0" rIns="0" bIns="0" rtlCol="0" anchor="ctr">
            <a:normAutofit/>
          </a:bodyPr>
          <a:lstStyle/>
          <a:p>
            <a:pPr marL="0" indent="0">
              <a:buNone/>
            </a:pPr>
            <a:r>
              <a:rPr lang="en-US" sz="860" dirty="0">
                <a:solidFill>
                  <a:srgbClr val="B8C6DB"/>
                </a:solidFill>
                <a:latin typeface="Aptos" pitchFamily="34" charset="0"/>
                <a:ea typeface="Aptos" pitchFamily="34" charset="-122"/>
                <a:cs typeface="Aptos" pitchFamily="34" charset="-120"/>
              </a:rPr>
              <a:t>Architecture, RPi agent, AI integration, dashboard flow, and final branch coordination.</a:t>
            </a:r>
            <a:endParaRPr lang="en-US" sz="860" dirty="0"/>
          </a:p>
        </p:txBody>
      </p:sp>
      <p:sp>
        <p:nvSpPr>
          <p:cNvPr id="17" name="Shape 15"/>
          <p:cNvSpPr/>
          <p:nvPr/>
        </p:nvSpPr>
        <p:spPr>
          <a:xfrm>
            <a:off x="4370832" y="3822192"/>
            <a:ext cx="3291840" cy="1207008"/>
          </a:xfrm>
          <a:prstGeom prst="roundRect">
            <a:avLst>
              <a:gd name="adj" fmla="val 13636"/>
            </a:avLst>
          </a:prstGeom>
          <a:solidFill>
            <a:srgbClr val="172743"/>
          </a:solidFill>
          <a:ln w="12700">
            <a:solidFill>
              <a:srgbClr val="29405E"/>
            </a:solidFill>
            <a:prstDash val="solid"/>
          </a:ln>
        </p:spPr>
        <p:txBody>
          <a:bodyPr/>
          <a:lstStyle/>
          <a:p>
            <a:endParaRPr lang="en-GB" dirty="0"/>
          </a:p>
        </p:txBody>
      </p:sp>
      <p:sp>
        <p:nvSpPr>
          <p:cNvPr id="18" name="Text 16"/>
          <p:cNvSpPr/>
          <p:nvPr/>
        </p:nvSpPr>
        <p:spPr>
          <a:xfrm>
            <a:off x="4590288" y="4041648"/>
            <a:ext cx="2834640" cy="164592"/>
          </a:xfrm>
          <a:prstGeom prst="rect">
            <a:avLst/>
          </a:prstGeom>
          <a:noFill/>
          <a:ln/>
        </p:spPr>
        <p:txBody>
          <a:bodyPr wrap="square" lIns="0" tIns="0" rIns="0" bIns="0" rtlCol="0" anchor="ctr"/>
          <a:lstStyle/>
          <a:p>
            <a:pPr marL="0" indent="0">
              <a:buNone/>
            </a:pPr>
            <a:r>
              <a:rPr lang="en-US" sz="860" b="1" dirty="0">
                <a:solidFill>
                  <a:srgbClr val="22A6F2"/>
                </a:solidFill>
                <a:latin typeface="Aptos" pitchFamily="34" charset="0"/>
                <a:ea typeface="Aptos" pitchFamily="34" charset="-122"/>
                <a:cs typeface="Aptos" pitchFamily="34" charset="-120"/>
              </a:rPr>
              <a:t>Paper &amp; Academic Research Lead</a:t>
            </a:r>
            <a:endParaRPr lang="en-US" sz="860" dirty="0"/>
          </a:p>
        </p:txBody>
      </p:sp>
      <p:sp>
        <p:nvSpPr>
          <p:cNvPr id="19" name="Text 17"/>
          <p:cNvSpPr/>
          <p:nvPr/>
        </p:nvSpPr>
        <p:spPr>
          <a:xfrm>
            <a:off x="4590288" y="4315968"/>
            <a:ext cx="2834640" cy="256032"/>
          </a:xfrm>
          <a:prstGeom prst="rect">
            <a:avLst/>
          </a:prstGeom>
          <a:noFill/>
          <a:ln/>
        </p:spPr>
        <p:txBody>
          <a:bodyPr wrap="square" lIns="0" tIns="0" rIns="0" bIns="0" rtlCol="0" anchor="ctr">
            <a:normAutofit lnSpcReduction="10000"/>
          </a:bodyPr>
          <a:lstStyle/>
          <a:p>
            <a:pPr marL="0" indent="0">
              <a:buNone/>
            </a:pPr>
            <a:r>
              <a:rPr lang="en-US" sz="1750" b="1" dirty="0">
                <a:solidFill>
                  <a:srgbClr val="FFFFFF"/>
                </a:solidFill>
                <a:latin typeface="Aptos Display" pitchFamily="34" charset="0"/>
                <a:ea typeface="Aptos Display" pitchFamily="34" charset="-122"/>
                <a:cs typeface="Aptos Display" pitchFamily="34" charset="-120"/>
              </a:rPr>
              <a:t>Mohammed Alomari</a:t>
            </a:r>
            <a:endParaRPr lang="en-US" sz="1750" dirty="0"/>
          </a:p>
        </p:txBody>
      </p:sp>
      <p:sp>
        <p:nvSpPr>
          <p:cNvPr id="20" name="Text 18"/>
          <p:cNvSpPr/>
          <p:nvPr/>
        </p:nvSpPr>
        <p:spPr>
          <a:xfrm>
            <a:off x="4590288" y="4645152"/>
            <a:ext cx="2788920" cy="219456"/>
          </a:xfrm>
          <a:prstGeom prst="rect">
            <a:avLst/>
          </a:prstGeom>
          <a:noFill/>
          <a:ln/>
        </p:spPr>
        <p:txBody>
          <a:bodyPr wrap="square" lIns="0" tIns="0" rIns="0" bIns="0" rtlCol="0" anchor="ctr">
            <a:normAutofit/>
          </a:bodyPr>
          <a:lstStyle/>
          <a:p>
            <a:pPr marL="0" indent="0">
              <a:buNone/>
            </a:pPr>
            <a:r>
              <a:rPr lang="en-US" sz="860" dirty="0">
                <a:solidFill>
                  <a:srgbClr val="B8C6DB"/>
                </a:solidFill>
                <a:latin typeface="Aptos" pitchFamily="34" charset="0"/>
                <a:ea typeface="Aptos" pitchFamily="34" charset="-122"/>
                <a:cs typeface="Aptos" pitchFamily="34" charset="-120"/>
              </a:rPr>
              <a:t>Responsible for paper writing, literature review, bibliography, and academic research framing.</a:t>
            </a:r>
            <a:endParaRPr lang="en-US" sz="860" dirty="0"/>
          </a:p>
        </p:txBody>
      </p:sp>
      <p:sp>
        <p:nvSpPr>
          <p:cNvPr id="21" name="Shape 19"/>
          <p:cNvSpPr/>
          <p:nvPr/>
        </p:nvSpPr>
        <p:spPr>
          <a:xfrm>
            <a:off x="8229600" y="3822192"/>
            <a:ext cx="2971800" cy="1207008"/>
          </a:xfrm>
          <a:prstGeom prst="roundRect">
            <a:avLst>
              <a:gd name="adj" fmla="val 13636"/>
            </a:avLst>
          </a:prstGeom>
          <a:solidFill>
            <a:srgbClr val="0B1220"/>
          </a:solidFill>
          <a:ln w="12700">
            <a:solidFill>
              <a:srgbClr val="29405E"/>
            </a:solidFill>
            <a:prstDash val="solid"/>
          </a:ln>
        </p:spPr>
        <p:txBody>
          <a:bodyPr/>
          <a:lstStyle/>
          <a:p>
            <a:endParaRPr lang="en-GB"/>
          </a:p>
        </p:txBody>
      </p:sp>
      <p:sp>
        <p:nvSpPr>
          <p:cNvPr id="22" name="Text 20"/>
          <p:cNvSpPr/>
          <p:nvPr/>
        </p:nvSpPr>
        <p:spPr>
          <a:xfrm>
            <a:off x="8458200" y="4041648"/>
            <a:ext cx="2560320" cy="164592"/>
          </a:xfrm>
          <a:prstGeom prst="rect">
            <a:avLst/>
          </a:prstGeom>
          <a:noFill/>
          <a:ln/>
        </p:spPr>
        <p:txBody>
          <a:bodyPr wrap="square" lIns="0" tIns="0" rIns="0" bIns="0" rtlCol="0" anchor="ctr"/>
          <a:lstStyle/>
          <a:p>
            <a:pPr marL="0" indent="0">
              <a:buNone/>
            </a:pPr>
            <a:r>
              <a:rPr lang="en-US" sz="850" b="1" dirty="0">
                <a:solidFill>
                  <a:srgbClr val="22A6F2"/>
                </a:solidFill>
                <a:latin typeface="Aptos" pitchFamily="34" charset="0"/>
                <a:ea typeface="Aptos" pitchFamily="34" charset="-122"/>
                <a:cs typeface="Aptos" pitchFamily="34" charset="-120"/>
              </a:rPr>
              <a:t>Final branch</a:t>
            </a:r>
            <a:endParaRPr lang="en-US" sz="850" dirty="0"/>
          </a:p>
        </p:txBody>
      </p:sp>
      <p:sp>
        <p:nvSpPr>
          <p:cNvPr id="23" name="Text 21"/>
          <p:cNvSpPr/>
          <p:nvPr/>
        </p:nvSpPr>
        <p:spPr>
          <a:xfrm>
            <a:off x="8458200" y="4315968"/>
            <a:ext cx="2377440" cy="292608"/>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GitHub V3.0</a:t>
            </a:r>
            <a:endParaRPr lang="en-US" sz="2000" dirty="0"/>
          </a:p>
        </p:txBody>
      </p:sp>
      <p:sp>
        <p:nvSpPr>
          <p:cNvPr id="24" name="Text 22"/>
          <p:cNvSpPr/>
          <p:nvPr/>
        </p:nvSpPr>
        <p:spPr>
          <a:xfrm>
            <a:off x="8458200" y="4645152"/>
            <a:ext cx="2359152" cy="228600"/>
          </a:xfrm>
          <a:prstGeom prst="rect">
            <a:avLst/>
          </a:prstGeom>
          <a:noFill/>
          <a:ln/>
        </p:spPr>
        <p:txBody>
          <a:bodyPr wrap="square" lIns="0" tIns="0" rIns="0" bIns="0" rtlCol="0" anchor="ctr">
            <a:normAutofit/>
          </a:bodyPr>
          <a:lstStyle/>
          <a:p>
            <a:pPr marL="0" indent="0">
              <a:buNone/>
            </a:pPr>
            <a:r>
              <a:rPr lang="en-US" sz="840" dirty="0">
                <a:solidFill>
                  <a:srgbClr val="B8C6DB"/>
                </a:solidFill>
                <a:latin typeface="Aptos" pitchFamily="34" charset="0"/>
                <a:ea typeface="Aptos" pitchFamily="34" charset="-122"/>
                <a:cs typeface="Aptos" pitchFamily="34" charset="-120"/>
              </a:rPr>
              <a:t>Local-first system; future_cloud kept isolated for later work.</a:t>
            </a:r>
            <a:endParaRPr lang="en-US" sz="840" dirty="0"/>
          </a:p>
        </p:txBody>
      </p:sp>
      <p:sp>
        <p:nvSpPr>
          <p:cNvPr id="25" name="Shape 23"/>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26" name="Text 24"/>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CareAgent AI • Topic and team introduction</a:t>
            </a:r>
            <a:endParaRPr lang="en-US" sz="680" dirty="0"/>
          </a:p>
        </p:txBody>
      </p:sp>
      <p:sp>
        <p:nvSpPr>
          <p:cNvPr id="27" name="Text 25"/>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BACKGROUND / HISTORY</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Background: why an elder-care monitor is useful</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A caregiver monitor is valuable because falls, sudden collapse, and stroke-like warning signs need fast awareness when an elder is alone.</a:t>
            </a:r>
            <a:endParaRPr lang="en-US" sz="1240" dirty="0"/>
          </a:p>
        </p:txBody>
      </p:sp>
      <p:sp>
        <p:nvSpPr>
          <p:cNvPr id="5" name="Shape 3"/>
          <p:cNvSpPr/>
          <p:nvPr/>
        </p:nvSpPr>
        <p:spPr>
          <a:xfrm>
            <a:off x="658368" y="1920240"/>
            <a:ext cx="3337560" cy="1298448"/>
          </a:xfrm>
          <a:prstGeom prst="roundRect">
            <a:avLst>
              <a:gd name="adj" fmla="val 12676"/>
            </a:avLst>
          </a:prstGeom>
          <a:solidFill>
            <a:srgbClr val="FFFFFF"/>
          </a:solidFill>
          <a:ln w="12700">
            <a:solidFill>
              <a:srgbClr val="DDE6F2"/>
            </a:solidFill>
            <a:prstDash val="solid"/>
          </a:ln>
        </p:spPr>
        <p:txBody>
          <a:bodyPr/>
          <a:lstStyle/>
          <a:p>
            <a:endParaRPr lang="en-GB"/>
          </a:p>
        </p:txBody>
      </p:sp>
      <p:sp>
        <p:nvSpPr>
          <p:cNvPr id="6" name="Shape 4"/>
          <p:cNvSpPr/>
          <p:nvPr/>
        </p:nvSpPr>
        <p:spPr>
          <a:xfrm>
            <a:off x="658368" y="1920240"/>
            <a:ext cx="73152" cy="1298448"/>
          </a:xfrm>
          <a:prstGeom prst="rect">
            <a:avLst/>
          </a:prstGeom>
          <a:solidFill>
            <a:srgbClr val="E6395A"/>
          </a:solidFill>
          <a:ln w="12700">
            <a:solidFill>
              <a:srgbClr val="E6395A"/>
            </a:solidFill>
            <a:prstDash val="solid"/>
          </a:ln>
        </p:spPr>
        <p:txBody>
          <a:bodyPr/>
          <a:lstStyle/>
          <a:p>
            <a:endParaRPr lang="en-GB"/>
          </a:p>
        </p:txBody>
      </p:sp>
      <p:sp>
        <p:nvSpPr>
          <p:cNvPr id="7" name="Text 5"/>
          <p:cNvSpPr/>
          <p:nvPr/>
        </p:nvSpPr>
        <p:spPr>
          <a:xfrm>
            <a:off x="859536" y="2084832"/>
            <a:ext cx="2971800" cy="219456"/>
          </a:xfrm>
          <a:prstGeom prst="rect">
            <a:avLst/>
          </a:prstGeom>
          <a:noFill/>
          <a:ln/>
        </p:spPr>
        <p:txBody>
          <a:bodyPr wrap="square" lIns="0" tIns="0" rIns="0" bIns="0" rtlCol="0" anchor="ctr"/>
          <a:lstStyle/>
          <a:p>
            <a:pPr marL="0" indent="0">
              <a:buNone/>
            </a:pPr>
            <a:r>
              <a:rPr lang="en-US" sz="1100" b="1" dirty="0">
                <a:solidFill>
                  <a:srgbClr val="111827"/>
                </a:solidFill>
                <a:latin typeface="Aptos" pitchFamily="34" charset="0"/>
                <a:ea typeface="Aptos" pitchFamily="34" charset="-122"/>
                <a:cs typeface="Aptos" pitchFamily="34" charset="-120"/>
              </a:rPr>
              <a:t>Falls are a major elder-safety problem</a:t>
            </a:r>
            <a:endParaRPr lang="en-US" sz="1100" dirty="0"/>
          </a:p>
        </p:txBody>
      </p:sp>
      <p:sp>
        <p:nvSpPr>
          <p:cNvPr id="8" name="Text 6"/>
          <p:cNvSpPr/>
          <p:nvPr/>
        </p:nvSpPr>
        <p:spPr>
          <a:xfrm>
            <a:off x="859536" y="2395728"/>
            <a:ext cx="2971800" cy="7315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Aptos" pitchFamily="34" charset="0"/>
                <a:ea typeface="Aptos" pitchFamily="34" charset="-122"/>
                <a:cs typeface="Aptos" pitchFamily="34" charset="-120"/>
              </a:rPr>
              <a:t>WHO describes falls as the second leading cause of unintentional injury deaths worldwide; adults older than 60 have the greatest number of fatal falls. A fall can leave the person unable to call for help.</a:t>
            </a:r>
            <a:endParaRPr lang="en-US" sz="950" dirty="0"/>
          </a:p>
        </p:txBody>
      </p:sp>
      <p:sp>
        <p:nvSpPr>
          <p:cNvPr id="9" name="Shape 7"/>
          <p:cNvSpPr/>
          <p:nvPr/>
        </p:nvSpPr>
        <p:spPr>
          <a:xfrm>
            <a:off x="658368" y="3502152"/>
            <a:ext cx="3337560" cy="1417320"/>
          </a:xfrm>
          <a:prstGeom prst="roundRect">
            <a:avLst>
              <a:gd name="adj" fmla="val 11613"/>
            </a:avLst>
          </a:prstGeom>
          <a:solidFill>
            <a:srgbClr val="FFFFFF"/>
          </a:solidFill>
          <a:ln w="12700">
            <a:solidFill>
              <a:srgbClr val="DDE6F2"/>
            </a:solidFill>
            <a:prstDash val="solid"/>
          </a:ln>
        </p:spPr>
        <p:txBody>
          <a:bodyPr/>
          <a:lstStyle/>
          <a:p>
            <a:endParaRPr lang="en-GB"/>
          </a:p>
        </p:txBody>
      </p:sp>
      <p:sp>
        <p:nvSpPr>
          <p:cNvPr id="10" name="Shape 8"/>
          <p:cNvSpPr/>
          <p:nvPr/>
        </p:nvSpPr>
        <p:spPr>
          <a:xfrm>
            <a:off x="658368" y="3502152"/>
            <a:ext cx="73152" cy="1417320"/>
          </a:xfrm>
          <a:prstGeom prst="rect">
            <a:avLst/>
          </a:prstGeom>
          <a:solidFill>
            <a:srgbClr val="F59E0B"/>
          </a:solidFill>
          <a:ln w="12700">
            <a:solidFill>
              <a:srgbClr val="F59E0B"/>
            </a:solidFill>
            <a:prstDash val="solid"/>
          </a:ln>
        </p:spPr>
        <p:txBody>
          <a:bodyPr/>
          <a:lstStyle/>
          <a:p>
            <a:endParaRPr lang="en-GB"/>
          </a:p>
        </p:txBody>
      </p:sp>
      <p:sp>
        <p:nvSpPr>
          <p:cNvPr id="11" name="Text 9"/>
          <p:cNvSpPr/>
          <p:nvPr/>
        </p:nvSpPr>
        <p:spPr>
          <a:xfrm>
            <a:off x="859536" y="3666744"/>
            <a:ext cx="2971800" cy="219456"/>
          </a:xfrm>
          <a:prstGeom prst="rect">
            <a:avLst/>
          </a:prstGeom>
          <a:noFill/>
          <a:ln/>
        </p:spPr>
        <p:txBody>
          <a:bodyPr wrap="square" lIns="0" tIns="0" rIns="0" bIns="0" rtlCol="0" anchor="ctr"/>
          <a:lstStyle/>
          <a:p>
            <a:pPr marL="0" indent="0">
              <a:buNone/>
            </a:pPr>
            <a:r>
              <a:rPr lang="en-US" sz="1100" b="1" dirty="0">
                <a:solidFill>
                  <a:srgbClr val="111827"/>
                </a:solidFill>
                <a:latin typeface="Aptos" pitchFamily="34" charset="0"/>
                <a:ea typeface="Aptos" pitchFamily="34" charset="-122"/>
                <a:cs typeface="Aptos" pitchFamily="34" charset="-120"/>
              </a:rPr>
              <a:t>Stroke warning signs are time-sensitive</a:t>
            </a:r>
            <a:endParaRPr lang="en-US" sz="1100" dirty="0"/>
          </a:p>
        </p:txBody>
      </p:sp>
      <p:sp>
        <p:nvSpPr>
          <p:cNvPr id="12" name="Text 10"/>
          <p:cNvSpPr/>
          <p:nvPr/>
        </p:nvSpPr>
        <p:spPr>
          <a:xfrm>
            <a:off x="859536" y="3977640"/>
            <a:ext cx="2971800" cy="850392"/>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Aptos" pitchFamily="34" charset="0"/>
                <a:ea typeface="Aptos" pitchFamily="34" charset="-122"/>
                <a:cs typeface="Aptos" pitchFamily="34" charset="-120"/>
              </a:rPr>
              <a:t>CDC stroke guidance highlights B.E.F.A.S.T.: balance, eyes, face, arms, speech, and time. A camera cannot measure all of these, but it can support visual cues such as posture, arm asymmetry, and collapse.</a:t>
            </a:r>
            <a:endParaRPr lang="en-US" sz="950" dirty="0"/>
          </a:p>
        </p:txBody>
      </p:sp>
      <p:sp>
        <p:nvSpPr>
          <p:cNvPr id="13" name="Shape 11"/>
          <p:cNvSpPr/>
          <p:nvPr/>
        </p:nvSpPr>
        <p:spPr>
          <a:xfrm>
            <a:off x="658368" y="5212080"/>
            <a:ext cx="3337560" cy="841248"/>
          </a:xfrm>
          <a:prstGeom prst="roundRect">
            <a:avLst>
              <a:gd name="adj" fmla="val 19565"/>
            </a:avLst>
          </a:prstGeom>
          <a:solidFill>
            <a:srgbClr val="FFFFFF"/>
          </a:solidFill>
          <a:ln w="12700">
            <a:solidFill>
              <a:srgbClr val="DDE6F2"/>
            </a:solidFill>
            <a:prstDash val="solid"/>
          </a:ln>
        </p:spPr>
        <p:txBody>
          <a:bodyPr/>
          <a:lstStyle/>
          <a:p>
            <a:endParaRPr lang="en-GB"/>
          </a:p>
        </p:txBody>
      </p:sp>
      <p:sp>
        <p:nvSpPr>
          <p:cNvPr id="14" name="Shape 12"/>
          <p:cNvSpPr/>
          <p:nvPr/>
        </p:nvSpPr>
        <p:spPr>
          <a:xfrm>
            <a:off x="658368" y="5212080"/>
            <a:ext cx="73152" cy="841248"/>
          </a:xfrm>
          <a:prstGeom prst="rect">
            <a:avLst/>
          </a:prstGeom>
          <a:solidFill>
            <a:srgbClr val="2563EB"/>
          </a:solidFill>
          <a:ln w="12700">
            <a:solidFill>
              <a:srgbClr val="2563EB"/>
            </a:solidFill>
            <a:prstDash val="solid"/>
          </a:ln>
        </p:spPr>
        <p:txBody>
          <a:bodyPr/>
          <a:lstStyle/>
          <a:p>
            <a:endParaRPr lang="en-GB"/>
          </a:p>
        </p:txBody>
      </p:sp>
      <p:sp>
        <p:nvSpPr>
          <p:cNvPr id="15" name="Text 13"/>
          <p:cNvSpPr/>
          <p:nvPr/>
        </p:nvSpPr>
        <p:spPr>
          <a:xfrm>
            <a:off x="859536" y="5376672"/>
            <a:ext cx="2971800" cy="219456"/>
          </a:xfrm>
          <a:prstGeom prst="rect">
            <a:avLst/>
          </a:prstGeom>
          <a:noFill/>
          <a:ln/>
        </p:spPr>
        <p:txBody>
          <a:bodyPr wrap="square" lIns="0" tIns="0" rIns="0" bIns="0" rtlCol="0" anchor="ctr"/>
          <a:lstStyle/>
          <a:p>
            <a:pPr marL="0" indent="0">
              <a:buNone/>
            </a:pPr>
            <a:r>
              <a:rPr lang="en-US" sz="1100" b="1" dirty="0">
                <a:solidFill>
                  <a:srgbClr val="111827"/>
                </a:solidFill>
                <a:latin typeface="Aptos" pitchFamily="34" charset="0"/>
                <a:ea typeface="Aptos" pitchFamily="34" charset="-122"/>
                <a:cs typeface="Aptos" pitchFamily="34" charset="-120"/>
              </a:rPr>
              <a:t>Caregiver gap at home</a:t>
            </a:r>
            <a:endParaRPr lang="en-US" sz="1100" dirty="0"/>
          </a:p>
        </p:txBody>
      </p:sp>
      <p:sp>
        <p:nvSpPr>
          <p:cNvPr id="16" name="Text 14"/>
          <p:cNvSpPr/>
          <p:nvPr/>
        </p:nvSpPr>
        <p:spPr>
          <a:xfrm>
            <a:off x="859536" y="5687568"/>
            <a:ext cx="2971800" cy="2743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Aptos" pitchFamily="34" charset="0"/>
                <a:ea typeface="Aptos" pitchFamily="34" charset="-122"/>
                <a:cs typeface="Aptos" pitchFamily="34" charset="-120"/>
              </a:rPr>
              <a:t>Many older adults spend hours alone. A local monitor can provide passive, continuous observation without requiring the person to press a button during distress.</a:t>
            </a:r>
            <a:endParaRPr lang="en-US" sz="950" dirty="0"/>
          </a:p>
        </p:txBody>
      </p:sp>
      <p:sp>
        <p:nvSpPr>
          <p:cNvPr id="17" name="Shape 15"/>
          <p:cNvSpPr/>
          <p:nvPr/>
        </p:nvSpPr>
        <p:spPr>
          <a:xfrm>
            <a:off x="4315968" y="1874520"/>
            <a:ext cx="7132320" cy="4224528"/>
          </a:xfrm>
          <a:prstGeom prst="roundRect">
            <a:avLst>
              <a:gd name="adj" fmla="val 3896"/>
            </a:avLst>
          </a:prstGeom>
          <a:solidFill>
            <a:srgbClr val="FFFFFF"/>
          </a:solidFill>
          <a:ln w="12700">
            <a:solidFill>
              <a:srgbClr val="DDE6F2"/>
            </a:solidFill>
            <a:prstDash val="solid"/>
          </a:ln>
        </p:spPr>
        <p:txBody>
          <a:bodyPr/>
          <a:lstStyle/>
          <a:p>
            <a:endParaRPr lang="en-GB"/>
          </a:p>
        </p:txBody>
      </p:sp>
      <p:sp>
        <p:nvSpPr>
          <p:cNvPr id="18" name="Text 16"/>
          <p:cNvSpPr/>
          <p:nvPr/>
        </p:nvSpPr>
        <p:spPr>
          <a:xfrm>
            <a:off x="4572000" y="2103120"/>
            <a:ext cx="3657600" cy="25603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Conceptual evolution</a:t>
            </a:r>
            <a:endParaRPr lang="en-US" sz="2000" dirty="0"/>
          </a:p>
        </p:txBody>
      </p:sp>
      <p:sp>
        <p:nvSpPr>
          <p:cNvPr id="19" name="Shape 17"/>
          <p:cNvSpPr/>
          <p:nvPr/>
        </p:nvSpPr>
        <p:spPr>
          <a:xfrm>
            <a:off x="4709160" y="2834640"/>
            <a:ext cx="457200" cy="457200"/>
          </a:xfrm>
          <a:prstGeom prst="ellipse">
            <a:avLst/>
          </a:prstGeom>
          <a:solidFill>
            <a:srgbClr val="2563EB"/>
          </a:solidFill>
          <a:ln w="12700">
            <a:solidFill>
              <a:srgbClr val="2563EB"/>
            </a:solidFill>
            <a:prstDash val="solid"/>
          </a:ln>
        </p:spPr>
        <p:txBody>
          <a:bodyPr/>
          <a:lstStyle/>
          <a:p>
            <a:endParaRPr lang="en-GB"/>
          </a:p>
        </p:txBody>
      </p:sp>
      <p:sp>
        <p:nvSpPr>
          <p:cNvPr id="20" name="Text 18"/>
          <p:cNvSpPr/>
          <p:nvPr/>
        </p:nvSpPr>
        <p:spPr>
          <a:xfrm>
            <a:off x="4855464" y="2962656"/>
            <a:ext cx="164592" cy="8229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21" name="Shape 19"/>
          <p:cNvSpPr/>
          <p:nvPr/>
        </p:nvSpPr>
        <p:spPr>
          <a:xfrm>
            <a:off x="5166360" y="3063240"/>
            <a:ext cx="1207008" cy="0"/>
          </a:xfrm>
          <a:prstGeom prst="line">
            <a:avLst/>
          </a:prstGeom>
          <a:noFill/>
          <a:ln w="25400">
            <a:solidFill>
              <a:srgbClr val="C7D2E6"/>
            </a:solidFill>
            <a:prstDash val="solid"/>
            <a:headEnd type="none"/>
            <a:tailEnd type="triangle"/>
          </a:ln>
        </p:spPr>
        <p:txBody>
          <a:bodyPr/>
          <a:lstStyle/>
          <a:p>
            <a:endParaRPr lang="en-GB"/>
          </a:p>
        </p:txBody>
      </p:sp>
      <p:sp>
        <p:nvSpPr>
          <p:cNvPr id="22" name="Text 20"/>
          <p:cNvSpPr/>
          <p:nvPr/>
        </p:nvSpPr>
        <p:spPr>
          <a:xfrm>
            <a:off x="4434840" y="3493008"/>
            <a:ext cx="1188720" cy="274320"/>
          </a:xfrm>
          <a:prstGeom prst="rect">
            <a:avLst/>
          </a:prstGeom>
          <a:noFill/>
          <a:ln/>
        </p:spPr>
        <p:txBody>
          <a:bodyPr wrap="square" lIns="0" tIns="0" rIns="0" bIns="0" rtlCol="0" anchor="ctr">
            <a:normAutofit/>
          </a:bodyPr>
          <a:lstStyle/>
          <a:p>
            <a:pPr marL="0" indent="0" algn="ctr">
              <a:buNone/>
            </a:pPr>
            <a:r>
              <a:rPr lang="en-US" sz="1000" b="1" dirty="0">
                <a:solidFill>
                  <a:srgbClr val="111827"/>
                </a:solidFill>
                <a:latin typeface="Aptos" pitchFamily="34" charset="0"/>
                <a:ea typeface="Aptos" pitchFamily="34" charset="-122"/>
                <a:cs typeface="Aptos" pitchFamily="34" charset="-120"/>
              </a:rPr>
              <a:t>Traditional caregiving</a:t>
            </a:r>
            <a:endParaRPr lang="en-US" sz="1000" dirty="0"/>
          </a:p>
        </p:txBody>
      </p:sp>
      <p:sp>
        <p:nvSpPr>
          <p:cNvPr id="23" name="Text 21"/>
          <p:cNvSpPr/>
          <p:nvPr/>
        </p:nvSpPr>
        <p:spPr>
          <a:xfrm>
            <a:off x="4325112" y="3904488"/>
            <a:ext cx="1417320" cy="512064"/>
          </a:xfrm>
          <a:prstGeom prst="rect">
            <a:avLst/>
          </a:prstGeom>
          <a:noFill/>
          <a:ln/>
        </p:spPr>
        <p:txBody>
          <a:bodyPr wrap="square" lIns="254" tIns="254" rIns="254" bIns="254" rtlCol="0" anchor="ctr">
            <a:normAutofit/>
          </a:bodyPr>
          <a:lstStyle/>
          <a:p>
            <a:pPr marL="0" indent="0" algn="ctr">
              <a:buNone/>
            </a:pPr>
            <a:r>
              <a:rPr lang="en-US" sz="770" dirty="0">
                <a:solidFill>
                  <a:srgbClr val="6B7280"/>
                </a:solidFill>
                <a:latin typeface="Aptos" pitchFamily="34" charset="0"/>
                <a:ea typeface="Aptos" pitchFamily="34" charset="-122"/>
                <a:cs typeface="Aptos" pitchFamily="34" charset="-120"/>
              </a:rPr>
              <a:t>Human checks, phone calls, and manual alarms.</a:t>
            </a:r>
            <a:endParaRPr lang="en-US" sz="770" dirty="0"/>
          </a:p>
        </p:txBody>
      </p:sp>
      <p:sp>
        <p:nvSpPr>
          <p:cNvPr id="24" name="Shape 22"/>
          <p:cNvSpPr/>
          <p:nvPr/>
        </p:nvSpPr>
        <p:spPr>
          <a:xfrm>
            <a:off x="6373368" y="2834640"/>
            <a:ext cx="457200" cy="457200"/>
          </a:xfrm>
          <a:prstGeom prst="ellipse">
            <a:avLst/>
          </a:prstGeom>
          <a:solidFill>
            <a:srgbClr val="2563EB"/>
          </a:solidFill>
          <a:ln w="12700">
            <a:solidFill>
              <a:srgbClr val="2563EB"/>
            </a:solidFill>
            <a:prstDash val="solid"/>
          </a:ln>
        </p:spPr>
        <p:txBody>
          <a:bodyPr/>
          <a:lstStyle/>
          <a:p>
            <a:endParaRPr lang="en-GB"/>
          </a:p>
        </p:txBody>
      </p:sp>
      <p:sp>
        <p:nvSpPr>
          <p:cNvPr id="25" name="Text 23"/>
          <p:cNvSpPr/>
          <p:nvPr/>
        </p:nvSpPr>
        <p:spPr>
          <a:xfrm>
            <a:off x="6519672" y="2962656"/>
            <a:ext cx="164592" cy="8229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26" name="Shape 24"/>
          <p:cNvSpPr/>
          <p:nvPr/>
        </p:nvSpPr>
        <p:spPr>
          <a:xfrm>
            <a:off x="6830568" y="3063240"/>
            <a:ext cx="1207008" cy="0"/>
          </a:xfrm>
          <a:prstGeom prst="line">
            <a:avLst/>
          </a:prstGeom>
          <a:noFill/>
          <a:ln w="25400">
            <a:solidFill>
              <a:srgbClr val="C7D2E6"/>
            </a:solidFill>
            <a:prstDash val="solid"/>
            <a:headEnd type="none"/>
            <a:tailEnd type="triangle"/>
          </a:ln>
        </p:spPr>
        <p:txBody>
          <a:bodyPr/>
          <a:lstStyle/>
          <a:p>
            <a:endParaRPr lang="en-GB"/>
          </a:p>
        </p:txBody>
      </p:sp>
      <p:sp>
        <p:nvSpPr>
          <p:cNvPr id="27" name="Text 25"/>
          <p:cNvSpPr/>
          <p:nvPr/>
        </p:nvSpPr>
        <p:spPr>
          <a:xfrm>
            <a:off x="6099048" y="3493008"/>
            <a:ext cx="1188720" cy="274320"/>
          </a:xfrm>
          <a:prstGeom prst="rect">
            <a:avLst/>
          </a:prstGeom>
          <a:noFill/>
          <a:ln/>
        </p:spPr>
        <p:txBody>
          <a:bodyPr wrap="square" lIns="0" tIns="0" rIns="0" bIns="0" rtlCol="0" anchor="ctr">
            <a:normAutofit/>
          </a:bodyPr>
          <a:lstStyle/>
          <a:p>
            <a:pPr marL="0" indent="0" algn="ctr">
              <a:buNone/>
            </a:pPr>
            <a:r>
              <a:rPr lang="en-US" sz="1000" b="1" dirty="0">
                <a:solidFill>
                  <a:srgbClr val="111827"/>
                </a:solidFill>
                <a:latin typeface="Aptos" pitchFamily="34" charset="0"/>
                <a:ea typeface="Aptos" pitchFamily="34" charset="-122"/>
                <a:cs typeface="Aptos" pitchFamily="34" charset="-120"/>
              </a:rPr>
              <a:t>IoT room sensing</a:t>
            </a:r>
            <a:endParaRPr lang="en-US" sz="1000" dirty="0"/>
          </a:p>
        </p:txBody>
      </p:sp>
      <p:sp>
        <p:nvSpPr>
          <p:cNvPr id="28" name="Text 26"/>
          <p:cNvSpPr/>
          <p:nvPr/>
        </p:nvSpPr>
        <p:spPr>
          <a:xfrm>
            <a:off x="5989320" y="3904488"/>
            <a:ext cx="1417320" cy="512064"/>
          </a:xfrm>
          <a:prstGeom prst="rect">
            <a:avLst/>
          </a:prstGeom>
          <a:noFill/>
          <a:ln/>
        </p:spPr>
        <p:txBody>
          <a:bodyPr wrap="square" lIns="254" tIns="254" rIns="254" bIns="254" rtlCol="0" anchor="ctr">
            <a:normAutofit/>
          </a:bodyPr>
          <a:lstStyle/>
          <a:p>
            <a:pPr marL="0" indent="0" algn="ctr">
              <a:buNone/>
            </a:pPr>
            <a:r>
              <a:rPr lang="en-US" sz="770" dirty="0">
                <a:solidFill>
                  <a:srgbClr val="6B7280"/>
                </a:solidFill>
                <a:latin typeface="Aptos" pitchFamily="34" charset="0"/>
                <a:ea typeface="Aptos" pitchFamily="34" charset="-122"/>
                <a:cs typeface="Aptos" pitchFamily="34" charset="-120"/>
              </a:rPr>
              <a:t>Temperature, humidity, PIR motion, and local telemetry.</a:t>
            </a:r>
            <a:endParaRPr lang="en-US" sz="770" dirty="0"/>
          </a:p>
        </p:txBody>
      </p:sp>
      <p:sp>
        <p:nvSpPr>
          <p:cNvPr id="29" name="Shape 27"/>
          <p:cNvSpPr/>
          <p:nvPr/>
        </p:nvSpPr>
        <p:spPr>
          <a:xfrm>
            <a:off x="8037576" y="2834640"/>
            <a:ext cx="457200" cy="457200"/>
          </a:xfrm>
          <a:prstGeom prst="ellipse">
            <a:avLst/>
          </a:prstGeom>
          <a:solidFill>
            <a:srgbClr val="10B981"/>
          </a:solidFill>
          <a:ln w="12700">
            <a:solidFill>
              <a:srgbClr val="10B981"/>
            </a:solidFill>
            <a:prstDash val="solid"/>
          </a:ln>
        </p:spPr>
        <p:txBody>
          <a:bodyPr/>
          <a:lstStyle/>
          <a:p>
            <a:endParaRPr lang="en-GB"/>
          </a:p>
        </p:txBody>
      </p:sp>
      <p:sp>
        <p:nvSpPr>
          <p:cNvPr id="30" name="Text 28"/>
          <p:cNvSpPr/>
          <p:nvPr/>
        </p:nvSpPr>
        <p:spPr>
          <a:xfrm>
            <a:off x="8183880" y="2962656"/>
            <a:ext cx="164592" cy="8229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31" name="Shape 29"/>
          <p:cNvSpPr/>
          <p:nvPr/>
        </p:nvSpPr>
        <p:spPr>
          <a:xfrm>
            <a:off x="8494776" y="3063240"/>
            <a:ext cx="1207008" cy="0"/>
          </a:xfrm>
          <a:prstGeom prst="line">
            <a:avLst/>
          </a:prstGeom>
          <a:noFill/>
          <a:ln w="25400">
            <a:solidFill>
              <a:srgbClr val="C7D2E6"/>
            </a:solidFill>
            <a:prstDash val="solid"/>
            <a:headEnd type="none"/>
            <a:tailEnd type="triangle"/>
          </a:ln>
        </p:spPr>
        <p:txBody>
          <a:bodyPr/>
          <a:lstStyle/>
          <a:p>
            <a:endParaRPr lang="en-GB"/>
          </a:p>
        </p:txBody>
      </p:sp>
      <p:sp>
        <p:nvSpPr>
          <p:cNvPr id="32" name="Text 30"/>
          <p:cNvSpPr/>
          <p:nvPr/>
        </p:nvSpPr>
        <p:spPr>
          <a:xfrm>
            <a:off x="7763256" y="3493008"/>
            <a:ext cx="1188720" cy="274320"/>
          </a:xfrm>
          <a:prstGeom prst="rect">
            <a:avLst/>
          </a:prstGeom>
          <a:noFill/>
          <a:ln/>
        </p:spPr>
        <p:txBody>
          <a:bodyPr wrap="square" lIns="0" tIns="0" rIns="0" bIns="0" rtlCol="0" anchor="ctr">
            <a:normAutofit/>
          </a:bodyPr>
          <a:lstStyle/>
          <a:p>
            <a:pPr marL="0" indent="0" algn="ctr">
              <a:buNone/>
            </a:pPr>
            <a:r>
              <a:rPr lang="en-US" sz="1000" b="1" dirty="0">
                <a:solidFill>
                  <a:srgbClr val="111827"/>
                </a:solidFill>
                <a:latin typeface="Aptos" pitchFamily="34" charset="0"/>
                <a:ea typeface="Aptos" pitchFamily="34" charset="-122"/>
                <a:cs typeface="Aptos" pitchFamily="34" charset="-120"/>
              </a:rPr>
              <a:t>Computer vision assistance</a:t>
            </a:r>
            <a:endParaRPr lang="en-US" sz="1000" dirty="0"/>
          </a:p>
        </p:txBody>
      </p:sp>
      <p:sp>
        <p:nvSpPr>
          <p:cNvPr id="33" name="Text 31"/>
          <p:cNvSpPr/>
          <p:nvPr/>
        </p:nvSpPr>
        <p:spPr>
          <a:xfrm>
            <a:off x="7653528" y="3904488"/>
            <a:ext cx="1417320" cy="512064"/>
          </a:xfrm>
          <a:prstGeom prst="rect">
            <a:avLst/>
          </a:prstGeom>
          <a:noFill/>
          <a:ln/>
        </p:spPr>
        <p:txBody>
          <a:bodyPr wrap="square" lIns="254" tIns="254" rIns="254" bIns="254" rtlCol="0" anchor="ctr">
            <a:normAutofit/>
          </a:bodyPr>
          <a:lstStyle/>
          <a:p>
            <a:pPr marL="0" indent="0" algn="ctr">
              <a:buNone/>
            </a:pPr>
            <a:r>
              <a:rPr lang="en-US" sz="770" dirty="0">
                <a:solidFill>
                  <a:srgbClr val="6B7280"/>
                </a:solidFill>
                <a:latin typeface="Aptos" pitchFamily="34" charset="0"/>
                <a:ea typeface="Aptos" pitchFamily="34" charset="-122"/>
                <a:cs typeface="Aptos" pitchFamily="34" charset="-120"/>
              </a:rPr>
              <a:t>Camera pose landmarks turn images into measurable posture features.</a:t>
            </a:r>
            <a:endParaRPr lang="en-US" sz="770" dirty="0"/>
          </a:p>
        </p:txBody>
      </p:sp>
      <p:sp>
        <p:nvSpPr>
          <p:cNvPr id="34" name="Shape 32"/>
          <p:cNvSpPr/>
          <p:nvPr/>
        </p:nvSpPr>
        <p:spPr>
          <a:xfrm>
            <a:off x="9701784" y="2834640"/>
            <a:ext cx="457200" cy="457200"/>
          </a:xfrm>
          <a:prstGeom prst="ellipse">
            <a:avLst/>
          </a:prstGeom>
          <a:solidFill>
            <a:srgbClr val="10B981"/>
          </a:solidFill>
          <a:ln w="12700">
            <a:solidFill>
              <a:srgbClr val="10B981"/>
            </a:solidFill>
            <a:prstDash val="solid"/>
          </a:ln>
        </p:spPr>
        <p:txBody>
          <a:bodyPr/>
          <a:lstStyle/>
          <a:p>
            <a:endParaRPr lang="en-GB"/>
          </a:p>
        </p:txBody>
      </p:sp>
      <p:sp>
        <p:nvSpPr>
          <p:cNvPr id="35" name="Text 33"/>
          <p:cNvSpPr/>
          <p:nvPr/>
        </p:nvSpPr>
        <p:spPr>
          <a:xfrm>
            <a:off x="9848088" y="2962656"/>
            <a:ext cx="164592" cy="8229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36" name="Text 34"/>
          <p:cNvSpPr/>
          <p:nvPr/>
        </p:nvSpPr>
        <p:spPr>
          <a:xfrm>
            <a:off x="9427464" y="3493008"/>
            <a:ext cx="1188720" cy="274320"/>
          </a:xfrm>
          <a:prstGeom prst="rect">
            <a:avLst/>
          </a:prstGeom>
          <a:noFill/>
          <a:ln/>
        </p:spPr>
        <p:txBody>
          <a:bodyPr wrap="square" lIns="0" tIns="0" rIns="0" bIns="0" rtlCol="0" anchor="ctr">
            <a:normAutofit/>
          </a:bodyPr>
          <a:lstStyle/>
          <a:p>
            <a:pPr marL="0" indent="0" algn="ctr">
              <a:buNone/>
            </a:pPr>
            <a:r>
              <a:rPr lang="en-US" sz="1000" b="1" dirty="0">
                <a:solidFill>
                  <a:srgbClr val="111827"/>
                </a:solidFill>
                <a:latin typeface="Aptos" pitchFamily="34" charset="0"/>
                <a:ea typeface="Aptos" pitchFamily="34" charset="-122"/>
                <a:cs typeface="Aptos" pitchFamily="34" charset="-120"/>
              </a:rPr>
              <a:t>AI-supported summarization</a:t>
            </a:r>
            <a:endParaRPr lang="en-US" sz="1000" dirty="0"/>
          </a:p>
        </p:txBody>
      </p:sp>
      <p:sp>
        <p:nvSpPr>
          <p:cNvPr id="37" name="Text 35"/>
          <p:cNvSpPr/>
          <p:nvPr/>
        </p:nvSpPr>
        <p:spPr>
          <a:xfrm>
            <a:off x="9317736" y="3904488"/>
            <a:ext cx="1417320" cy="512064"/>
          </a:xfrm>
          <a:prstGeom prst="rect">
            <a:avLst/>
          </a:prstGeom>
          <a:noFill/>
          <a:ln/>
        </p:spPr>
        <p:txBody>
          <a:bodyPr wrap="square" lIns="254" tIns="254" rIns="254" bIns="254" rtlCol="0" anchor="ctr">
            <a:normAutofit/>
          </a:bodyPr>
          <a:lstStyle/>
          <a:p>
            <a:pPr marL="0" indent="0" algn="ctr">
              <a:buNone/>
            </a:pPr>
            <a:r>
              <a:rPr lang="en-US" sz="770" dirty="0">
                <a:solidFill>
                  <a:srgbClr val="6B7280"/>
                </a:solidFill>
                <a:latin typeface="Aptos" pitchFamily="34" charset="0"/>
                <a:ea typeface="Aptos" pitchFamily="34" charset="-122"/>
                <a:cs typeface="Aptos" pitchFamily="34" charset="-120"/>
              </a:rPr>
              <a:t>Local Llama/Ollama converts structured evidence into readable caregiver context.</a:t>
            </a:r>
            <a:endParaRPr lang="en-US" sz="770" dirty="0"/>
          </a:p>
        </p:txBody>
      </p:sp>
      <p:sp>
        <p:nvSpPr>
          <p:cNvPr id="38" name="Shape 36"/>
          <p:cNvSpPr/>
          <p:nvPr/>
        </p:nvSpPr>
        <p:spPr>
          <a:xfrm>
            <a:off x="4617720" y="5029200"/>
            <a:ext cx="6263640" cy="566928"/>
          </a:xfrm>
          <a:prstGeom prst="roundRect">
            <a:avLst>
              <a:gd name="adj" fmla="val 19355"/>
            </a:avLst>
          </a:prstGeom>
          <a:solidFill>
            <a:srgbClr val="FEF3C7"/>
          </a:solidFill>
          <a:ln w="12700">
            <a:solidFill>
              <a:srgbClr val="FCD34D"/>
            </a:solidFill>
            <a:prstDash val="solid"/>
          </a:ln>
        </p:spPr>
        <p:txBody>
          <a:bodyPr/>
          <a:lstStyle/>
          <a:p>
            <a:endParaRPr lang="en-GB"/>
          </a:p>
        </p:txBody>
      </p:sp>
      <p:sp>
        <p:nvSpPr>
          <p:cNvPr id="39" name="Text 37"/>
          <p:cNvSpPr/>
          <p:nvPr/>
        </p:nvSpPr>
        <p:spPr>
          <a:xfrm>
            <a:off x="4800600" y="5230368"/>
            <a:ext cx="5852160" cy="109728"/>
          </a:xfrm>
          <a:prstGeom prst="rect">
            <a:avLst/>
          </a:prstGeom>
          <a:noFill/>
          <a:ln/>
        </p:spPr>
        <p:txBody>
          <a:bodyPr wrap="square" lIns="0" tIns="0" rIns="0" bIns="0" rtlCol="0" anchor="ctr">
            <a:normAutofit/>
          </a:bodyPr>
          <a:lstStyle/>
          <a:p>
            <a:pPr marL="0" indent="0">
              <a:buNone/>
            </a:pPr>
            <a:r>
              <a:rPr lang="en-US" sz="950" b="1" dirty="0">
                <a:solidFill>
                  <a:srgbClr val="8A5B00"/>
                </a:solidFill>
                <a:latin typeface="Aptos" pitchFamily="34" charset="0"/>
                <a:ea typeface="Aptos" pitchFamily="34" charset="-122"/>
                <a:cs typeface="Aptos" pitchFamily="34" charset="-120"/>
              </a:rPr>
              <a:t>Case-study position: provide early warning and visual confirmation, then involve the caregiver quickly.</a:t>
            </a:r>
            <a:endParaRPr lang="en-US" sz="950" dirty="0"/>
          </a:p>
        </p:txBody>
      </p:sp>
      <p:sp>
        <p:nvSpPr>
          <p:cNvPr id="40" name="Text 38"/>
          <p:cNvSpPr/>
          <p:nvPr/>
        </p:nvSpPr>
        <p:spPr>
          <a:xfrm>
            <a:off x="658368" y="6217920"/>
            <a:ext cx="7132320" cy="128016"/>
          </a:xfrm>
          <a:prstGeom prst="rect">
            <a:avLst/>
          </a:prstGeom>
          <a:noFill/>
          <a:ln/>
        </p:spPr>
        <p:txBody>
          <a:bodyPr wrap="square" lIns="0" tIns="0" rIns="0" bIns="0" rtlCol="0" anchor="ctr"/>
          <a:lstStyle/>
          <a:p>
            <a:pPr marL="0" indent="0">
              <a:buNone/>
            </a:pPr>
            <a:r>
              <a:rPr lang="en-US" sz="640" dirty="0">
                <a:solidFill>
                  <a:srgbClr val="6B7280"/>
                </a:solidFill>
                <a:latin typeface="Aptos" pitchFamily="34" charset="0"/>
                <a:ea typeface="Aptos" pitchFamily="34" charset="-122"/>
                <a:cs typeface="Aptos" pitchFamily="34" charset="-120"/>
              </a:rPr>
              <a:t>Sources: WHO Falls fact sheet; CDC Signs and Symptoms of Stroke.</a:t>
            </a:r>
            <a:endParaRPr lang="en-US" sz="640" dirty="0"/>
          </a:p>
        </p:txBody>
      </p:sp>
      <p:sp>
        <p:nvSpPr>
          <p:cNvPr id="41" name="Shape 3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42" name="Text 4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Background / history</a:t>
            </a:r>
            <a:endParaRPr lang="en-US" sz="680" dirty="0"/>
          </a:p>
        </p:txBody>
      </p:sp>
      <p:sp>
        <p:nvSpPr>
          <p:cNvPr id="43" name="Text 4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CARE MONITOR CONCEPT</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Conceptual view: caregiver monitor, not a doctor</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system focuses on observation, evidence gathering, risk flagging, and caregiver notification.</a:t>
            </a:r>
            <a:endParaRPr lang="en-US" sz="1240" dirty="0"/>
          </a:p>
        </p:txBody>
      </p:sp>
      <p:sp>
        <p:nvSpPr>
          <p:cNvPr id="5" name="Shape 3"/>
          <p:cNvSpPr/>
          <p:nvPr/>
        </p:nvSpPr>
        <p:spPr>
          <a:xfrm>
            <a:off x="658368" y="2057400"/>
            <a:ext cx="3246120" cy="3154680"/>
          </a:xfrm>
          <a:prstGeom prst="roundRect">
            <a:avLst>
              <a:gd name="adj" fmla="val 5217"/>
            </a:avLst>
          </a:prstGeom>
          <a:solidFill>
            <a:srgbClr val="FFFFFF"/>
          </a:solidFill>
          <a:ln w="12700">
            <a:solidFill>
              <a:srgbClr val="DDE6F2"/>
            </a:solidFill>
            <a:prstDash val="solid"/>
          </a:ln>
        </p:spPr>
        <p:txBody>
          <a:bodyPr/>
          <a:lstStyle/>
          <a:p>
            <a:endParaRPr lang="en-GB"/>
          </a:p>
        </p:txBody>
      </p:sp>
      <p:sp>
        <p:nvSpPr>
          <p:cNvPr id="6" name="Shape 4"/>
          <p:cNvSpPr/>
          <p:nvPr/>
        </p:nvSpPr>
        <p:spPr>
          <a:xfrm>
            <a:off x="978408" y="2359152"/>
            <a:ext cx="676656" cy="676656"/>
          </a:xfrm>
          <a:prstGeom prst="ellipse">
            <a:avLst/>
          </a:prstGeom>
          <a:solidFill>
            <a:srgbClr val="2563EB"/>
          </a:solidFill>
          <a:ln w="12700">
            <a:solidFill>
              <a:srgbClr val="2563EB"/>
            </a:solidFill>
            <a:prstDash val="solid"/>
          </a:ln>
        </p:spPr>
        <p:txBody>
          <a:bodyPr/>
          <a:lstStyle/>
          <a:p>
            <a:endParaRPr lang="en-GB"/>
          </a:p>
        </p:txBody>
      </p:sp>
      <p:sp>
        <p:nvSpPr>
          <p:cNvPr id="7" name="Text 5"/>
          <p:cNvSpPr/>
          <p:nvPr/>
        </p:nvSpPr>
        <p:spPr>
          <a:xfrm>
            <a:off x="1088136" y="2551176"/>
            <a:ext cx="457200" cy="164592"/>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8" name="Text 6"/>
          <p:cNvSpPr/>
          <p:nvPr/>
        </p:nvSpPr>
        <p:spPr>
          <a:xfrm>
            <a:off x="978408" y="3246120"/>
            <a:ext cx="2468880" cy="292608"/>
          </a:xfrm>
          <a:prstGeom prst="rect">
            <a:avLst/>
          </a:prstGeom>
          <a:noFill/>
          <a:ln/>
        </p:spPr>
        <p:txBody>
          <a:bodyPr wrap="square" lIns="0" tIns="0" rIns="0" bIns="0" rtlCol="0" anchor="ctr"/>
          <a:lstStyle/>
          <a:p>
            <a:pPr marL="0" indent="0">
              <a:buNone/>
            </a:pPr>
            <a:r>
              <a:rPr lang="en-US" sz="2200" b="1" dirty="0">
                <a:solidFill>
                  <a:srgbClr val="111827"/>
                </a:solidFill>
                <a:latin typeface="Aptos Display" pitchFamily="34" charset="0"/>
                <a:ea typeface="Aptos Display" pitchFamily="34" charset="-122"/>
                <a:cs typeface="Aptos Display" pitchFamily="34" charset="-120"/>
              </a:rPr>
              <a:t>Observe</a:t>
            </a:r>
            <a:endParaRPr lang="en-US" sz="2200" dirty="0"/>
          </a:p>
        </p:txBody>
      </p:sp>
      <p:sp>
        <p:nvSpPr>
          <p:cNvPr id="9" name="Text 7"/>
          <p:cNvSpPr/>
          <p:nvPr/>
        </p:nvSpPr>
        <p:spPr>
          <a:xfrm>
            <a:off x="978408" y="3703320"/>
            <a:ext cx="2606040" cy="841248"/>
          </a:xfrm>
          <a:prstGeom prst="rect">
            <a:avLst/>
          </a:prstGeom>
          <a:noFill/>
          <a:ln/>
        </p:spPr>
        <p:txBody>
          <a:bodyPr wrap="square" lIns="254" tIns="254" rIns="254" bIns="254" rtlCol="0" anchor="ctr">
            <a:normAutofit/>
          </a:bodyPr>
          <a:lstStyle/>
          <a:p>
            <a:pPr marL="0" indent="0">
              <a:buNone/>
            </a:pPr>
            <a:r>
              <a:rPr lang="en-US" sz="1200" dirty="0">
                <a:solidFill>
                  <a:srgbClr val="6B7280"/>
                </a:solidFill>
                <a:latin typeface="Aptos" pitchFamily="34" charset="0"/>
                <a:ea typeface="Aptos" pitchFamily="34" charset="-122"/>
                <a:cs typeface="Aptos" pitchFamily="34" charset="-120"/>
              </a:rPr>
              <a:t>Camera frames, pose landmarks, room temperature, humidity, and PIR motion are collected locally.</a:t>
            </a:r>
            <a:endParaRPr lang="en-US" sz="1200" dirty="0"/>
          </a:p>
        </p:txBody>
      </p:sp>
      <p:sp>
        <p:nvSpPr>
          <p:cNvPr id="10" name="Shape 8"/>
          <p:cNvSpPr/>
          <p:nvPr/>
        </p:nvSpPr>
        <p:spPr>
          <a:xfrm>
            <a:off x="4453128" y="2057400"/>
            <a:ext cx="3246120" cy="3154680"/>
          </a:xfrm>
          <a:prstGeom prst="roundRect">
            <a:avLst>
              <a:gd name="adj" fmla="val 5217"/>
            </a:avLst>
          </a:prstGeom>
          <a:solidFill>
            <a:srgbClr val="FFFFFF"/>
          </a:solidFill>
          <a:ln w="12700">
            <a:solidFill>
              <a:srgbClr val="DDE6F2"/>
            </a:solidFill>
            <a:prstDash val="solid"/>
          </a:ln>
        </p:spPr>
        <p:txBody>
          <a:bodyPr/>
          <a:lstStyle/>
          <a:p>
            <a:endParaRPr lang="en-GB"/>
          </a:p>
        </p:txBody>
      </p:sp>
      <p:sp>
        <p:nvSpPr>
          <p:cNvPr id="11" name="Shape 9"/>
          <p:cNvSpPr/>
          <p:nvPr/>
        </p:nvSpPr>
        <p:spPr>
          <a:xfrm>
            <a:off x="4773168" y="2359152"/>
            <a:ext cx="676656" cy="676656"/>
          </a:xfrm>
          <a:prstGeom prst="ellipse">
            <a:avLst/>
          </a:prstGeom>
          <a:solidFill>
            <a:srgbClr val="10B981"/>
          </a:solidFill>
          <a:ln w="12700">
            <a:solidFill>
              <a:srgbClr val="10B981"/>
            </a:solidFill>
            <a:prstDash val="solid"/>
          </a:ln>
        </p:spPr>
        <p:txBody>
          <a:bodyPr/>
          <a:lstStyle/>
          <a:p>
            <a:endParaRPr lang="en-GB"/>
          </a:p>
        </p:txBody>
      </p:sp>
      <p:sp>
        <p:nvSpPr>
          <p:cNvPr id="12" name="Text 10"/>
          <p:cNvSpPr/>
          <p:nvPr/>
        </p:nvSpPr>
        <p:spPr>
          <a:xfrm>
            <a:off x="4882896" y="2551176"/>
            <a:ext cx="457200" cy="164592"/>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4773168" y="3246120"/>
            <a:ext cx="2468880" cy="292608"/>
          </a:xfrm>
          <a:prstGeom prst="rect">
            <a:avLst/>
          </a:prstGeom>
          <a:noFill/>
          <a:ln/>
        </p:spPr>
        <p:txBody>
          <a:bodyPr wrap="square" lIns="0" tIns="0" rIns="0" bIns="0" rtlCol="0" anchor="ctr"/>
          <a:lstStyle/>
          <a:p>
            <a:pPr marL="0" indent="0">
              <a:buNone/>
            </a:pPr>
            <a:r>
              <a:rPr lang="en-US" sz="2200" b="1" dirty="0">
                <a:solidFill>
                  <a:srgbClr val="111827"/>
                </a:solidFill>
                <a:latin typeface="Aptos Display" pitchFamily="34" charset="0"/>
                <a:ea typeface="Aptos Display" pitchFamily="34" charset="-122"/>
                <a:cs typeface="Aptos Display" pitchFamily="34" charset="-120"/>
              </a:rPr>
              <a:t>Interpret</a:t>
            </a:r>
            <a:endParaRPr lang="en-US" sz="2200" dirty="0"/>
          </a:p>
        </p:txBody>
      </p:sp>
      <p:sp>
        <p:nvSpPr>
          <p:cNvPr id="14" name="Text 12"/>
          <p:cNvSpPr/>
          <p:nvPr/>
        </p:nvSpPr>
        <p:spPr>
          <a:xfrm>
            <a:off x="4773168" y="3703320"/>
            <a:ext cx="2606040" cy="841248"/>
          </a:xfrm>
          <a:prstGeom prst="rect">
            <a:avLst/>
          </a:prstGeom>
          <a:noFill/>
          <a:ln/>
        </p:spPr>
        <p:txBody>
          <a:bodyPr wrap="square" lIns="254" tIns="254" rIns="254" bIns="254" rtlCol="0" anchor="ctr">
            <a:normAutofit/>
          </a:bodyPr>
          <a:lstStyle/>
          <a:p>
            <a:pPr marL="0" indent="0">
              <a:buNone/>
            </a:pPr>
            <a:r>
              <a:rPr lang="en-US" sz="1200" dirty="0">
                <a:solidFill>
                  <a:srgbClr val="6B7280"/>
                </a:solidFill>
                <a:latin typeface="Aptos" pitchFamily="34" charset="0"/>
                <a:ea typeface="Aptos" pitchFamily="34" charset="-122"/>
                <a:cs typeface="Aptos" pitchFamily="34" charset="-120"/>
              </a:rPr>
              <a:t>Math features normalize body scale, posture angle, motion velocity, drop distance, and visual asymmetry.</a:t>
            </a:r>
            <a:endParaRPr lang="en-US" sz="1200" dirty="0"/>
          </a:p>
        </p:txBody>
      </p:sp>
      <p:sp>
        <p:nvSpPr>
          <p:cNvPr id="15" name="Shape 13"/>
          <p:cNvSpPr/>
          <p:nvPr/>
        </p:nvSpPr>
        <p:spPr>
          <a:xfrm>
            <a:off x="8247888" y="2057400"/>
            <a:ext cx="3246120" cy="3154680"/>
          </a:xfrm>
          <a:prstGeom prst="roundRect">
            <a:avLst>
              <a:gd name="adj" fmla="val 5217"/>
            </a:avLst>
          </a:prstGeom>
          <a:solidFill>
            <a:srgbClr val="FFFFFF"/>
          </a:solidFill>
          <a:ln w="12700">
            <a:solidFill>
              <a:srgbClr val="DDE6F2"/>
            </a:solidFill>
            <a:prstDash val="solid"/>
          </a:ln>
        </p:spPr>
        <p:txBody>
          <a:bodyPr/>
          <a:lstStyle/>
          <a:p>
            <a:endParaRPr lang="en-GB"/>
          </a:p>
        </p:txBody>
      </p:sp>
      <p:sp>
        <p:nvSpPr>
          <p:cNvPr id="16" name="Shape 14"/>
          <p:cNvSpPr/>
          <p:nvPr/>
        </p:nvSpPr>
        <p:spPr>
          <a:xfrm>
            <a:off x="8567928" y="2359152"/>
            <a:ext cx="676656" cy="676656"/>
          </a:xfrm>
          <a:prstGeom prst="ellipse">
            <a:avLst/>
          </a:prstGeom>
          <a:solidFill>
            <a:srgbClr val="E6395A"/>
          </a:solidFill>
          <a:ln w="12700">
            <a:solidFill>
              <a:srgbClr val="E6395A"/>
            </a:solidFill>
            <a:prstDash val="solid"/>
          </a:ln>
        </p:spPr>
        <p:txBody>
          <a:bodyPr/>
          <a:lstStyle/>
          <a:p>
            <a:endParaRPr lang="en-GB"/>
          </a:p>
        </p:txBody>
      </p:sp>
      <p:sp>
        <p:nvSpPr>
          <p:cNvPr id="17" name="Text 15"/>
          <p:cNvSpPr/>
          <p:nvPr/>
        </p:nvSpPr>
        <p:spPr>
          <a:xfrm>
            <a:off x="8677656" y="2551176"/>
            <a:ext cx="457200"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SOS</a:t>
            </a:r>
            <a:endParaRPr lang="en-US" sz="1000" dirty="0"/>
          </a:p>
        </p:txBody>
      </p:sp>
      <p:sp>
        <p:nvSpPr>
          <p:cNvPr id="18" name="Text 16"/>
          <p:cNvSpPr/>
          <p:nvPr/>
        </p:nvSpPr>
        <p:spPr>
          <a:xfrm>
            <a:off x="8567928" y="3246120"/>
            <a:ext cx="2468880" cy="292608"/>
          </a:xfrm>
          <a:prstGeom prst="rect">
            <a:avLst/>
          </a:prstGeom>
          <a:noFill/>
          <a:ln/>
        </p:spPr>
        <p:txBody>
          <a:bodyPr wrap="square" lIns="0" tIns="0" rIns="0" bIns="0" rtlCol="0" anchor="ctr"/>
          <a:lstStyle/>
          <a:p>
            <a:pPr marL="0" indent="0">
              <a:buNone/>
            </a:pPr>
            <a:r>
              <a:rPr lang="en-US" sz="2200" b="1" dirty="0">
                <a:solidFill>
                  <a:srgbClr val="111827"/>
                </a:solidFill>
                <a:latin typeface="Aptos Display" pitchFamily="34" charset="0"/>
                <a:ea typeface="Aptos Display" pitchFamily="34" charset="-122"/>
                <a:cs typeface="Aptos Display" pitchFamily="34" charset="-120"/>
              </a:rPr>
              <a:t>Escalate</a:t>
            </a:r>
            <a:endParaRPr lang="en-US" sz="2200" dirty="0"/>
          </a:p>
        </p:txBody>
      </p:sp>
      <p:sp>
        <p:nvSpPr>
          <p:cNvPr id="19" name="Text 17"/>
          <p:cNvSpPr/>
          <p:nvPr/>
        </p:nvSpPr>
        <p:spPr>
          <a:xfrm>
            <a:off x="8567928" y="3703320"/>
            <a:ext cx="2606040" cy="841248"/>
          </a:xfrm>
          <a:prstGeom prst="rect">
            <a:avLst/>
          </a:prstGeom>
          <a:noFill/>
          <a:ln/>
        </p:spPr>
        <p:txBody>
          <a:bodyPr wrap="square" lIns="254" tIns="254" rIns="254" bIns="254" rtlCol="0" anchor="ctr">
            <a:normAutofit/>
          </a:bodyPr>
          <a:lstStyle/>
          <a:p>
            <a:pPr marL="0" indent="0">
              <a:buNone/>
            </a:pPr>
            <a:r>
              <a:rPr lang="en-US" sz="1200" dirty="0">
                <a:solidFill>
                  <a:srgbClr val="6B7280"/>
                </a:solidFill>
                <a:latin typeface="Aptos" pitchFamily="34" charset="0"/>
                <a:ea typeface="Aptos" pitchFamily="34" charset="-122"/>
                <a:cs typeface="Aptos" pitchFamily="34" charset="-120"/>
              </a:rPr>
              <a:t>The webapp shows the latest snapshot, risk reasons, history, and SOS/email action for caregiver response.</a:t>
            </a:r>
            <a:endParaRPr lang="en-US" sz="1200" dirty="0"/>
          </a:p>
        </p:txBody>
      </p:sp>
      <p:sp>
        <p:nvSpPr>
          <p:cNvPr id="20" name="Shape 18"/>
          <p:cNvSpPr/>
          <p:nvPr/>
        </p:nvSpPr>
        <p:spPr>
          <a:xfrm>
            <a:off x="658368" y="5532120"/>
            <a:ext cx="10863072" cy="566928"/>
          </a:xfrm>
          <a:prstGeom prst="roundRect">
            <a:avLst>
              <a:gd name="adj" fmla="val 24194"/>
            </a:avLst>
          </a:prstGeom>
          <a:solidFill>
            <a:srgbClr val="FFF7ED"/>
          </a:solidFill>
          <a:ln w="12700">
            <a:solidFill>
              <a:srgbClr val="FED7AA"/>
            </a:solidFill>
            <a:prstDash val="solid"/>
          </a:ln>
        </p:spPr>
        <p:txBody>
          <a:bodyPr/>
          <a:lstStyle/>
          <a:p>
            <a:endParaRPr lang="en-GB"/>
          </a:p>
        </p:txBody>
      </p:sp>
      <p:sp>
        <p:nvSpPr>
          <p:cNvPr id="21" name="Text 19"/>
          <p:cNvSpPr/>
          <p:nvPr/>
        </p:nvSpPr>
        <p:spPr>
          <a:xfrm>
            <a:off x="859536" y="5715000"/>
            <a:ext cx="10332720" cy="146304"/>
          </a:xfrm>
          <a:prstGeom prst="rect">
            <a:avLst/>
          </a:prstGeom>
          <a:noFill/>
          <a:ln/>
        </p:spPr>
        <p:txBody>
          <a:bodyPr wrap="square" lIns="0" tIns="0" rIns="0" bIns="0" rtlCol="0" anchor="ctr">
            <a:normAutofit/>
          </a:bodyPr>
          <a:lstStyle/>
          <a:p>
            <a:pPr marL="0" indent="0">
              <a:buNone/>
            </a:pPr>
            <a:r>
              <a:rPr lang="en-US" sz="980" b="1" dirty="0">
                <a:solidFill>
                  <a:srgbClr val="9A3412"/>
                </a:solidFill>
                <a:latin typeface="Aptos" pitchFamily="34" charset="0"/>
                <a:ea typeface="Aptos" pitchFamily="34" charset="-122"/>
                <a:cs typeface="Aptos" pitchFamily="34" charset="-120"/>
              </a:rPr>
              <a:t>Important boundary: it is a camera/sensor safety aid. It does not replace direct assessment, speech testing, clinical history, or emergency services.</a:t>
            </a:r>
            <a:endParaRPr lang="en-US" sz="980" dirty="0"/>
          </a:p>
        </p:txBody>
      </p:sp>
      <p:sp>
        <p:nvSpPr>
          <p:cNvPr id="22" name="Shape 20"/>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23" name="Text 21"/>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Conceptual caregiver monitor</a:t>
            </a:r>
            <a:endParaRPr lang="en-US" sz="680" dirty="0"/>
          </a:p>
        </p:txBody>
      </p:sp>
      <p:sp>
        <p:nvSpPr>
          <p:cNvPr id="24" name="Text 22"/>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PROJECT OVERVIEW</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General overview: local-first system architecture</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Raspberry Pi performs camera/sensor analysis and sends structured readings to a local Flask dashboard. Cloud is optional and isolated.</a:t>
            </a:r>
            <a:endParaRPr lang="en-US" sz="1240" dirty="0"/>
          </a:p>
        </p:txBody>
      </p:sp>
      <p:sp>
        <p:nvSpPr>
          <p:cNvPr id="5" name="Shape 3"/>
          <p:cNvSpPr/>
          <p:nvPr/>
        </p:nvSpPr>
        <p:spPr>
          <a:xfrm>
            <a:off x="658368" y="1828800"/>
            <a:ext cx="10881360" cy="4297680"/>
          </a:xfrm>
          <a:prstGeom prst="roundRect">
            <a:avLst>
              <a:gd name="adj" fmla="val 3830"/>
            </a:avLst>
          </a:prstGeom>
          <a:solidFill>
            <a:srgbClr val="FFFFFF"/>
          </a:solidFill>
          <a:ln w="12700">
            <a:solidFill>
              <a:srgbClr val="DDE6F2"/>
            </a:solidFill>
            <a:prstDash val="solid"/>
          </a:ln>
        </p:spPr>
        <p:txBody>
          <a:bodyPr/>
          <a:lstStyle/>
          <a:p>
            <a:endParaRPr lang="en-GB"/>
          </a:p>
        </p:txBody>
      </p:sp>
      <p:sp>
        <p:nvSpPr>
          <p:cNvPr id="6" name="Shape 4"/>
          <p:cNvSpPr/>
          <p:nvPr/>
        </p:nvSpPr>
        <p:spPr>
          <a:xfrm>
            <a:off x="1051560" y="2331720"/>
            <a:ext cx="1508760" cy="1965960"/>
          </a:xfrm>
          <a:prstGeom prst="roundRect">
            <a:avLst>
              <a:gd name="adj" fmla="val 10909"/>
            </a:avLst>
          </a:prstGeom>
          <a:solidFill>
            <a:srgbClr val="F8FAFC"/>
          </a:solidFill>
          <a:ln w="12700">
            <a:solidFill>
              <a:srgbClr val="E2E8F0"/>
            </a:solidFill>
            <a:prstDash val="solid"/>
          </a:ln>
        </p:spPr>
        <p:txBody>
          <a:bodyPr/>
          <a:lstStyle/>
          <a:p>
            <a:endParaRPr lang="en-GB"/>
          </a:p>
        </p:txBody>
      </p:sp>
      <p:sp>
        <p:nvSpPr>
          <p:cNvPr id="7" name="Shape 5"/>
          <p:cNvSpPr/>
          <p:nvPr/>
        </p:nvSpPr>
        <p:spPr>
          <a:xfrm>
            <a:off x="1527048" y="2532888"/>
            <a:ext cx="548640" cy="548640"/>
          </a:xfrm>
          <a:prstGeom prst="ellipse">
            <a:avLst/>
          </a:prstGeom>
          <a:solidFill>
            <a:srgbClr val="22A6F2"/>
          </a:solidFill>
          <a:ln w="12700">
            <a:solidFill>
              <a:srgbClr val="22A6F2"/>
            </a:solidFill>
            <a:prstDash val="solid"/>
          </a:ln>
        </p:spPr>
        <p:txBody>
          <a:bodyPr/>
          <a:lstStyle/>
          <a:p>
            <a:endParaRPr lang="en-GB"/>
          </a:p>
        </p:txBody>
      </p:sp>
      <p:sp>
        <p:nvSpPr>
          <p:cNvPr id="8" name="Text 6"/>
          <p:cNvSpPr/>
          <p:nvPr/>
        </p:nvSpPr>
        <p:spPr>
          <a:xfrm>
            <a:off x="1728216" y="2697480"/>
            <a:ext cx="164592" cy="91440"/>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9" name="Text 7"/>
          <p:cNvSpPr/>
          <p:nvPr/>
        </p:nvSpPr>
        <p:spPr>
          <a:xfrm>
            <a:off x="1197864" y="3227832"/>
            <a:ext cx="1225296" cy="219456"/>
          </a:xfrm>
          <a:prstGeom prst="rect">
            <a:avLst/>
          </a:prstGeom>
          <a:noFill/>
          <a:ln/>
        </p:spPr>
        <p:txBody>
          <a:bodyPr wrap="square" lIns="0" tIns="0" rIns="0" bIns="0" rtlCol="0" anchor="ctr">
            <a:normAutofit/>
          </a:bodyPr>
          <a:lstStyle/>
          <a:p>
            <a:pPr marL="0" indent="0" algn="ctr">
              <a:buNone/>
            </a:pPr>
            <a:r>
              <a:rPr lang="en-US" sz="1050" b="1" dirty="0">
                <a:solidFill>
                  <a:srgbClr val="111827"/>
                </a:solidFill>
                <a:latin typeface="Aptos" pitchFamily="34" charset="0"/>
                <a:ea typeface="Aptos" pitchFamily="34" charset="-122"/>
                <a:cs typeface="Aptos" pitchFamily="34" charset="-120"/>
              </a:rPr>
              <a:t>Camera + sensors</a:t>
            </a:r>
            <a:endParaRPr lang="en-US" sz="1050" dirty="0"/>
          </a:p>
        </p:txBody>
      </p:sp>
      <p:sp>
        <p:nvSpPr>
          <p:cNvPr id="10" name="Text 8"/>
          <p:cNvSpPr/>
          <p:nvPr/>
        </p:nvSpPr>
        <p:spPr>
          <a:xfrm>
            <a:off x="1216152" y="3566160"/>
            <a:ext cx="1188720" cy="585216"/>
          </a:xfrm>
          <a:prstGeom prst="rect">
            <a:avLst/>
          </a:prstGeom>
          <a:noFill/>
          <a:ln/>
        </p:spPr>
        <p:txBody>
          <a:bodyPr wrap="square" lIns="254" tIns="254" rIns="254" bIns="254" rtlCol="0" anchor="ctr">
            <a:normAutofit/>
          </a:bodyPr>
          <a:lstStyle/>
          <a:p>
            <a:pPr marL="0" indent="0" algn="ctr">
              <a:buNone/>
            </a:pPr>
            <a:r>
              <a:rPr lang="en-US" sz="730" dirty="0">
                <a:solidFill>
                  <a:srgbClr val="6B7280"/>
                </a:solidFill>
                <a:latin typeface="Aptos" pitchFamily="34" charset="0"/>
                <a:ea typeface="Aptos" pitchFamily="34" charset="-122"/>
                <a:cs typeface="Aptos" pitchFamily="34" charset="-120"/>
              </a:rPr>
              <a:t>Logitech camera</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DHT22 + PIR</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(simulated now)</a:t>
            </a:r>
            <a:endParaRPr lang="en-US" sz="730" dirty="0"/>
          </a:p>
        </p:txBody>
      </p:sp>
      <p:sp>
        <p:nvSpPr>
          <p:cNvPr id="11" name="Shape 9"/>
          <p:cNvSpPr/>
          <p:nvPr/>
        </p:nvSpPr>
        <p:spPr>
          <a:xfrm>
            <a:off x="2578608" y="3319272"/>
            <a:ext cx="384048" cy="0"/>
          </a:xfrm>
          <a:prstGeom prst="line">
            <a:avLst/>
          </a:prstGeom>
          <a:noFill/>
          <a:ln w="25400">
            <a:solidFill>
              <a:srgbClr val="94A3B8"/>
            </a:solidFill>
            <a:prstDash val="solid"/>
            <a:tailEnd type="triangle"/>
          </a:ln>
        </p:spPr>
        <p:txBody>
          <a:bodyPr/>
          <a:lstStyle/>
          <a:p>
            <a:endParaRPr lang="en-GB"/>
          </a:p>
        </p:txBody>
      </p:sp>
      <p:sp>
        <p:nvSpPr>
          <p:cNvPr id="12" name="Shape 10"/>
          <p:cNvSpPr/>
          <p:nvPr/>
        </p:nvSpPr>
        <p:spPr>
          <a:xfrm>
            <a:off x="2971800" y="2331720"/>
            <a:ext cx="1508760" cy="1965960"/>
          </a:xfrm>
          <a:prstGeom prst="roundRect">
            <a:avLst>
              <a:gd name="adj" fmla="val 10909"/>
            </a:avLst>
          </a:prstGeom>
          <a:solidFill>
            <a:srgbClr val="F8FAFC"/>
          </a:solidFill>
          <a:ln w="12700">
            <a:solidFill>
              <a:srgbClr val="E2E8F0"/>
            </a:solidFill>
            <a:prstDash val="solid"/>
          </a:ln>
        </p:spPr>
        <p:txBody>
          <a:bodyPr/>
          <a:lstStyle/>
          <a:p>
            <a:endParaRPr lang="en-GB"/>
          </a:p>
        </p:txBody>
      </p:sp>
      <p:sp>
        <p:nvSpPr>
          <p:cNvPr id="13" name="Shape 11"/>
          <p:cNvSpPr/>
          <p:nvPr/>
        </p:nvSpPr>
        <p:spPr>
          <a:xfrm>
            <a:off x="3447288" y="2532888"/>
            <a:ext cx="548640" cy="548640"/>
          </a:xfrm>
          <a:prstGeom prst="ellipse">
            <a:avLst/>
          </a:prstGeom>
          <a:solidFill>
            <a:srgbClr val="2563EB"/>
          </a:solidFill>
          <a:ln w="12700">
            <a:solidFill>
              <a:srgbClr val="2563EB"/>
            </a:solidFill>
            <a:prstDash val="solid"/>
          </a:ln>
        </p:spPr>
        <p:txBody>
          <a:bodyPr/>
          <a:lstStyle/>
          <a:p>
            <a:endParaRPr lang="en-GB"/>
          </a:p>
        </p:txBody>
      </p:sp>
      <p:sp>
        <p:nvSpPr>
          <p:cNvPr id="14" name="Text 12"/>
          <p:cNvSpPr/>
          <p:nvPr/>
        </p:nvSpPr>
        <p:spPr>
          <a:xfrm>
            <a:off x="3648456" y="2697480"/>
            <a:ext cx="164592" cy="91440"/>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15" name="Text 13"/>
          <p:cNvSpPr/>
          <p:nvPr/>
        </p:nvSpPr>
        <p:spPr>
          <a:xfrm>
            <a:off x="3118104" y="3227832"/>
            <a:ext cx="1225296" cy="219456"/>
          </a:xfrm>
          <a:prstGeom prst="rect">
            <a:avLst/>
          </a:prstGeom>
          <a:noFill/>
          <a:ln/>
        </p:spPr>
        <p:txBody>
          <a:bodyPr wrap="square" lIns="0" tIns="0" rIns="0" bIns="0" rtlCol="0" anchor="ctr">
            <a:normAutofit/>
          </a:bodyPr>
          <a:lstStyle/>
          <a:p>
            <a:pPr marL="0" indent="0" algn="ctr">
              <a:buNone/>
            </a:pPr>
            <a:r>
              <a:rPr lang="en-US" sz="1050" b="1" dirty="0">
                <a:solidFill>
                  <a:srgbClr val="111827"/>
                </a:solidFill>
                <a:latin typeface="Aptos" pitchFamily="34" charset="0"/>
                <a:ea typeface="Aptos" pitchFamily="34" charset="-122"/>
                <a:cs typeface="Aptos" pitchFamily="34" charset="-120"/>
              </a:rPr>
              <a:t>RPi 5 agent</a:t>
            </a:r>
            <a:endParaRPr lang="en-US" sz="1050" dirty="0"/>
          </a:p>
        </p:txBody>
      </p:sp>
      <p:sp>
        <p:nvSpPr>
          <p:cNvPr id="16" name="Text 14"/>
          <p:cNvSpPr/>
          <p:nvPr/>
        </p:nvSpPr>
        <p:spPr>
          <a:xfrm>
            <a:off x="3136392" y="3566160"/>
            <a:ext cx="1188720" cy="585216"/>
          </a:xfrm>
          <a:prstGeom prst="rect">
            <a:avLst/>
          </a:prstGeom>
          <a:noFill/>
          <a:ln/>
        </p:spPr>
        <p:txBody>
          <a:bodyPr wrap="square" lIns="254" tIns="254" rIns="254" bIns="254" rtlCol="0" anchor="ctr">
            <a:normAutofit/>
          </a:bodyPr>
          <a:lstStyle/>
          <a:p>
            <a:pPr marL="0" indent="0" algn="ctr">
              <a:buNone/>
            </a:pPr>
            <a:r>
              <a:rPr lang="en-US" sz="730" dirty="0">
                <a:solidFill>
                  <a:srgbClr val="6B7280"/>
                </a:solidFill>
                <a:latin typeface="Aptos" pitchFamily="34" charset="0"/>
                <a:ea typeface="Aptos" pitchFamily="34" charset="-122"/>
                <a:cs typeface="Aptos" pitchFamily="34" charset="-120"/>
              </a:rPr>
              <a:t>Python 3.11</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OpenCV capture</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MediaPipe landmarks</a:t>
            </a:r>
            <a:endParaRPr lang="en-US" sz="730" dirty="0"/>
          </a:p>
        </p:txBody>
      </p:sp>
      <p:sp>
        <p:nvSpPr>
          <p:cNvPr id="17" name="Shape 15"/>
          <p:cNvSpPr/>
          <p:nvPr/>
        </p:nvSpPr>
        <p:spPr>
          <a:xfrm>
            <a:off x="4498848" y="3319272"/>
            <a:ext cx="384048" cy="0"/>
          </a:xfrm>
          <a:prstGeom prst="line">
            <a:avLst/>
          </a:prstGeom>
          <a:noFill/>
          <a:ln w="25400">
            <a:solidFill>
              <a:srgbClr val="94A3B8"/>
            </a:solidFill>
            <a:prstDash val="solid"/>
            <a:tailEnd type="triangle"/>
          </a:ln>
        </p:spPr>
        <p:txBody>
          <a:bodyPr/>
          <a:lstStyle/>
          <a:p>
            <a:endParaRPr lang="en-GB"/>
          </a:p>
        </p:txBody>
      </p:sp>
      <p:sp>
        <p:nvSpPr>
          <p:cNvPr id="18" name="Shape 16"/>
          <p:cNvSpPr/>
          <p:nvPr/>
        </p:nvSpPr>
        <p:spPr>
          <a:xfrm>
            <a:off x="4892040" y="2331720"/>
            <a:ext cx="1508760" cy="1965960"/>
          </a:xfrm>
          <a:prstGeom prst="roundRect">
            <a:avLst>
              <a:gd name="adj" fmla="val 10909"/>
            </a:avLst>
          </a:prstGeom>
          <a:solidFill>
            <a:srgbClr val="F8FAFC"/>
          </a:solidFill>
          <a:ln w="12700">
            <a:solidFill>
              <a:srgbClr val="E2E8F0"/>
            </a:solidFill>
            <a:prstDash val="solid"/>
          </a:ln>
        </p:spPr>
        <p:txBody>
          <a:bodyPr/>
          <a:lstStyle/>
          <a:p>
            <a:endParaRPr lang="en-GB"/>
          </a:p>
        </p:txBody>
      </p:sp>
      <p:sp>
        <p:nvSpPr>
          <p:cNvPr id="19" name="Shape 17"/>
          <p:cNvSpPr/>
          <p:nvPr/>
        </p:nvSpPr>
        <p:spPr>
          <a:xfrm>
            <a:off x="5367528" y="2532888"/>
            <a:ext cx="548640" cy="548640"/>
          </a:xfrm>
          <a:prstGeom prst="ellipse">
            <a:avLst/>
          </a:prstGeom>
          <a:solidFill>
            <a:srgbClr val="10B981"/>
          </a:solidFill>
          <a:ln w="12700">
            <a:solidFill>
              <a:srgbClr val="10B981"/>
            </a:solidFill>
            <a:prstDash val="solid"/>
          </a:ln>
        </p:spPr>
        <p:txBody>
          <a:bodyPr/>
          <a:lstStyle/>
          <a:p>
            <a:endParaRPr lang="en-GB"/>
          </a:p>
        </p:txBody>
      </p:sp>
      <p:sp>
        <p:nvSpPr>
          <p:cNvPr id="20" name="Text 18"/>
          <p:cNvSpPr/>
          <p:nvPr/>
        </p:nvSpPr>
        <p:spPr>
          <a:xfrm>
            <a:off x="5568696" y="2697480"/>
            <a:ext cx="164592" cy="91440"/>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1" name="Text 19"/>
          <p:cNvSpPr/>
          <p:nvPr/>
        </p:nvSpPr>
        <p:spPr>
          <a:xfrm>
            <a:off x="5038344" y="3227832"/>
            <a:ext cx="1225296" cy="219456"/>
          </a:xfrm>
          <a:prstGeom prst="rect">
            <a:avLst/>
          </a:prstGeom>
          <a:noFill/>
          <a:ln/>
        </p:spPr>
        <p:txBody>
          <a:bodyPr wrap="square" lIns="0" tIns="0" rIns="0" bIns="0" rtlCol="0" anchor="ctr">
            <a:normAutofit/>
          </a:bodyPr>
          <a:lstStyle/>
          <a:p>
            <a:pPr marL="0" indent="0" algn="ctr">
              <a:buNone/>
            </a:pPr>
            <a:r>
              <a:rPr lang="en-US" sz="1050" b="1" dirty="0">
                <a:solidFill>
                  <a:srgbClr val="111827"/>
                </a:solidFill>
                <a:latin typeface="Aptos" pitchFamily="34" charset="0"/>
                <a:ea typeface="Aptos" pitchFamily="34" charset="-122"/>
                <a:cs typeface="Aptos" pitchFamily="34" charset="-120"/>
              </a:rPr>
              <a:t>Feature math</a:t>
            </a:r>
            <a:endParaRPr lang="en-US" sz="1050" dirty="0"/>
          </a:p>
        </p:txBody>
      </p:sp>
      <p:sp>
        <p:nvSpPr>
          <p:cNvPr id="22" name="Text 20"/>
          <p:cNvSpPr/>
          <p:nvPr/>
        </p:nvSpPr>
        <p:spPr>
          <a:xfrm>
            <a:off x="5056632" y="3566160"/>
            <a:ext cx="1188720" cy="585216"/>
          </a:xfrm>
          <a:prstGeom prst="rect">
            <a:avLst/>
          </a:prstGeom>
          <a:noFill/>
          <a:ln/>
        </p:spPr>
        <p:txBody>
          <a:bodyPr wrap="square" lIns="254" tIns="254" rIns="254" bIns="254" rtlCol="0" anchor="ctr">
            <a:normAutofit/>
          </a:bodyPr>
          <a:lstStyle/>
          <a:p>
            <a:pPr marL="0" indent="0" algn="ctr">
              <a:buNone/>
            </a:pPr>
            <a:r>
              <a:rPr lang="en-US" sz="730" dirty="0">
                <a:solidFill>
                  <a:srgbClr val="6B7280"/>
                </a:solidFill>
                <a:latin typeface="Aptos" pitchFamily="34" charset="0"/>
                <a:ea typeface="Aptos" pitchFamily="34" charset="-122"/>
                <a:cs typeface="Aptos" pitchFamily="34" charset="-120"/>
              </a:rPr>
              <a:t>Body scale</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Angles</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Velocity/drop</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visibility quality</a:t>
            </a:r>
            <a:endParaRPr lang="en-US" sz="730" dirty="0"/>
          </a:p>
        </p:txBody>
      </p:sp>
      <p:sp>
        <p:nvSpPr>
          <p:cNvPr id="23" name="Shape 21"/>
          <p:cNvSpPr/>
          <p:nvPr/>
        </p:nvSpPr>
        <p:spPr>
          <a:xfrm>
            <a:off x="6419088" y="3319272"/>
            <a:ext cx="384048" cy="0"/>
          </a:xfrm>
          <a:prstGeom prst="line">
            <a:avLst/>
          </a:prstGeom>
          <a:noFill/>
          <a:ln w="25400">
            <a:solidFill>
              <a:srgbClr val="94A3B8"/>
            </a:solidFill>
            <a:prstDash val="solid"/>
            <a:tailEnd type="triangle"/>
          </a:ln>
        </p:spPr>
        <p:txBody>
          <a:bodyPr/>
          <a:lstStyle/>
          <a:p>
            <a:endParaRPr lang="en-GB"/>
          </a:p>
        </p:txBody>
      </p:sp>
      <p:sp>
        <p:nvSpPr>
          <p:cNvPr id="24" name="Shape 22"/>
          <p:cNvSpPr/>
          <p:nvPr/>
        </p:nvSpPr>
        <p:spPr>
          <a:xfrm>
            <a:off x="6812280" y="2331720"/>
            <a:ext cx="1508760" cy="1965960"/>
          </a:xfrm>
          <a:prstGeom prst="roundRect">
            <a:avLst>
              <a:gd name="adj" fmla="val 10909"/>
            </a:avLst>
          </a:prstGeom>
          <a:solidFill>
            <a:srgbClr val="F8FAFC"/>
          </a:solidFill>
          <a:ln w="12700">
            <a:solidFill>
              <a:srgbClr val="E2E8F0"/>
            </a:solidFill>
            <a:prstDash val="solid"/>
          </a:ln>
        </p:spPr>
        <p:txBody>
          <a:bodyPr/>
          <a:lstStyle/>
          <a:p>
            <a:endParaRPr lang="en-GB"/>
          </a:p>
        </p:txBody>
      </p:sp>
      <p:sp>
        <p:nvSpPr>
          <p:cNvPr id="25" name="Shape 23"/>
          <p:cNvSpPr/>
          <p:nvPr/>
        </p:nvSpPr>
        <p:spPr>
          <a:xfrm>
            <a:off x="7287768" y="2532888"/>
            <a:ext cx="548640" cy="548640"/>
          </a:xfrm>
          <a:prstGeom prst="ellipse">
            <a:avLst/>
          </a:prstGeom>
          <a:solidFill>
            <a:srgbClr val="F59E0B"/>
          </a:solidFill>
          <a:ln w="12700">
            <a:solidFill>
              <a:srgbClr val="F59E0B"/>
            </a:solidFill>
            <a:prstDash val="solid"/>
          </a:ln>
        </p:spPr>
        <p:txBody>
          <a:bodyPr/>
          <a:lstStyle/>
          <a:p>
            <a:endParaRPr lang="en-GB"/>
          </a:p>
        </p:txBody>
      </p:sp>
      <p:sp>
        <p:nvSpPr>
          <p:cNvPr id="26" name="Text 24"/>
          <p:cNvSpPr/>
          <p:nvPr/>
        </p:nvSpPr>
        <p:spPr>
          <a:xfrm>
            <a:off x="7488936" y="2697480"/>
            <a:ext cx="164592" cy="91440"/>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27" name="Text 25"/>
          <p:cNvSpPr/>
          <p:nvPr/>
        </p:nvSpPr>
        <p:spPr>
          <a:xfrm>
            <a:off x="6958584" y="3227832"/>
            <a:ext cx="1225296" cy="219456"/>
          </a:xfrm>
          <a:prstGeom prst="rect">
            <a:avLst/>
          </a:prstGeom>
          <a:noFill/>
          <a:ln/>
        </p:spPr>
        <p:txBody>
          <a:bodyPr wrap="square" lIns="0" tIns="0" rIns="0" bIns="0" rtlCol="0" anchor="ctr">
            <a:normAutofit/>
          </a:bodyPr>
          <a:lstStyle/>
          <a:p>
            <a:pPr marL="0" indent="0" algn="ctr">
              <a:buNone/>
            </a:pPr>
            <a:r>
              <a:rPr lang="en-US" sz="1050" b="1" dirty="0">
                <a:solidFill>
                  <a:srgbClr val="111827"/>
                </a:solidFill>
                <a:latin typeface="Aptos" pitchFamily="34" charset="0"/>
                <a:ea typeface="Aptos" pitchFamily="34" charset="-122"/>
                <a:cs typeface="Aptos" pitchFamily="34" charset="-120"/>
              </a:rPr>
              <a:t>Decision layer</a:t>
            </a:r>
            <a:endParaRPr lang="en-US" sz="1050" dirty="0"/>
          </a:p>
        </p:txBody>
      </p:sp>
      <p:sp>
        <p:nvSpPr>
          <p:cNvPr id="28" name="Text 26"/>
          <p:cNvSpPr/>
          <p:nvPr/>
        </p:nvSpPr>
        <p:spPr>
          <a:xfrm>
            <a:off x="6976872" y="3566160"/>
            <a:ext cx="1188720" cy="585216"/>
          </a:xfrm>
          <a:prstGeom prst="rect">
            <a:avLst/>
          </a:prstGeom>
          <a:noFill/>
          <a:ln/>
        </p:spPr>
        <p:txBody>
          <a:bodyPr wrap="square" lIns="254" tIns="254" rIns="254" bIns="254" rtlCol="0" anchor="ctr">
            <a:normAutofit/>
          </a:bodyPr>
          <a:lstStyle/>
          <a:p>
            <a:pPr marL="0" indent="0" algn="ctr">
              <a:buNone/>
            </a:pPr>
            <a:r>
              <a:rPr lang="en-US" sz="730" dirty="0">
                <a:solidFill>
                  <a:srgbClr val="6B7280"/>
                </a:solidFill>
                <a:latin typeface="Aptos" pitchFamily="34" charset="0"/>
                <a:ea typeface="Aptos" pitchFamily="34" charset="-122"/>
                <a:cs typeface="Aptos" pitchFamily="34" charset="-120"/>
              </a:rPr>
              <a:t>pose classifier</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stroke warning</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emergency engine</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Llama summary</a:t>
            </a:r>
            <a:endParaRPr lang="en-US" sz="730" dirty="0"/>
          </a:p>
        </p:txBody>
      </p:sp>
      <p:sp>
        <p:nvSpPr>
          <p:cNvPr id="29" name="Shape 27"/>
          <p:cNvSpPr/>
          <p:nvPr/>
        </p:nvSpPr>
        <p:spPr>
          <a:xfrm>
            <a:off x="8339328" y="3319272"/>
            <a:ext cx="384048" cy="0"/>
          </a:xfrm>
          <a:prstGeom prst="line">
            <a:avLst/>
          </a:prstGeom>
          <a:noFill/>
          <a:ln w="25400">
            <a:solidFill>
              <a:srgbClr val="94A3B8"/>
            </a:solidFill>
            <a:prstDash val="solid"/>
            <a:tailEnd type="triangle"/>
          </a:ln>
        </p:spPr>
        <p:txBody>
          <a:bodyPr/>
          <a:lstStyle/>
          <a:p>
            <a:endParaRPr lang="en-GB"/>
          </a:p>
        </p:txBody>
      </p:sp>
      <p:sp>
        <p:nvSpPr>
          <p:cNvPr id="30" name="Shape 28"/>
          <p:cNvSpPr/>
          <p:nvPr/>
        </p:nvSpPr>
        <p:spPr>
          <a:xfrm>
            <a:off x="8732520" y="2331720"/>
            <a:ext cx="1508760" cy="1965960"/>
          </a:xfrm>
          <a:prstGeom prst="roundRect">
            <a:avLst>
              <a:gd name="adj" fmla="val 10909"/>
            </a:avLst>
          </a:prstGeom>
          <a:solidFill>
            <a:srgbClr val="F8FAFC"/>
          </a:solidFill>
          <a:ln w="12700">
            <a:solidFill>
              <a:srgbClr val="E2E8F0"/>
            </a:solidFill>
            <a:prstDash val="solid"/>
          </a:ln>
        </p:spPr>
        <p:txBody>
          <a:bodyPr/>
          <a:lstStyle/>
          <a:p>
            <a:endParaRPr lang="en-GB"/>
          </a:p>
        </p:txBody>
      </p:sp>
      <p:sp>
        <p:nvSpPr>
          <p:cNvPr id="31" name="Shape 29"/>
          <p:cNvSpPr/>
          <p:nvPr/>
        </p:nvSpPr>
        <p:spPr>
          <a:xfrm>
            <a:off x="9208008" y="2532888"/>
            <a:ext cx="548640" cy="548640"/>
          </a:xfrm>
          <a:prstGeom prst="ellipse">
            <a:avLst/>
          </a:prstGeom>
          <a:solidFill>
            <a:srgbClr val="E6395A"/>
          </a:solidFill>
          <a:ln w="12700">
            <a:solidFill>
              <a:srgbClr val="E6395A"/>
            </a:solidFill>
            <a:prstDash val="solid"/>
          </a:ln>
        </p:spPr>
        <p:txBody>
          <a:bodyPr/>
          <a:lstStyle/>
          <a:p>
            <a:endParaRPr lang="en-GB"/>
          </a:p>
        </p:txBody>
      </p:sp>
      <p:sp>
        <p:nvSpPr>
          <p:cNvPr id="32" name="Text 30"/>
          <p:cNvSpPr/>
          <p:nvPr/>
        </p:nvSpPr>
        <p:spPr>
          <a:xfrm>
            <a:off x="9409176" y="2697480"/>
            <a:ext cx="164592" cy="91440"/>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33" name="Text 31"/>
          <p:cNvSpPr/>
          <p:nvPr/>
        </p:nvSpPr>
        <p:spPr>
          <a:xfrm>
            <a:off x="8878824" y="3227832"/>
            <a:ext cx="1225296" cy="219456"/>
          </a:xfrm>
          <a:prstGeom prst="rect">
            <a:avLst/>
          </a:prstGeom>
          <a:noFill/>
          <a:ln/>
        </p:spPr>
        <p:txBody>
          <a:bodyPr wrap="square" lIns="0" tIns="0" rIns="0" bIns="0" rtlCol="0" anchor="ctr">
            <a:normAutofit/>
          </a:bodyPr>
          <a:lstStyle/>
          <a:p>
            <a:pPr marL="0" indent="0" algn="ctr">
              <a:buNone/>
            </a:pPr>
            <a:r>
              <a:rPr lang="en-US" sz="1050" b="1" dirty="0">
                <a:solidFill>
                  <a:srgbClr val="111827"/>
                </a:solidFill>
                <a:latin typeface="Aptos" pitchFamily="34" charset="0"/>
                <a:ea typeface="Aptos" pitchFamily="34" charset="-122"/>
                <a:cs typeface="Aptos" pitchFamily="34" charset="-120"/>
              </a:rPr>
              <a:t>Local webapp</a:t>
            </a:r>
            <a:endParaRPr lang="en-US" sz="1050" dirty="0"/>
          </a:p>
        </p:txBody>
      </p:sp>
      <p:sp>
        <p:nvSpPr>
          <p:cNvPr id="34" name="Text 32"/>
          <p:cNvSpPr/>
          <p:nvPr/>
        </p:nvSpPr>
        <p:spPr>
          <a:xfrm>
            <a:off x="8897112" y="3566160"/>
            <a:ext cx="1188720" cy="585216"/>
          </a:xfrm>
          <a:prstGeom prst="rect">
            <a:avLst/>
          </a:prstGeom>
          <a:noFill/>
          <a:ln/>
        </p:spPr>
        <p:txBody>
          <a:bodyPr wrap="square" lIns="254" tIns="254" rIns="254" bIns="254" rtlCol="0" anchor="ctr">
            <a:normAutofit/>
          </a:bodyPr>
          <a:lstStyle/>
          <a:p>
            <a:pPr marL="0" indent="0" algn="ctr">
              <a:buNone/>
            </a:pPr>
            <a:r>
              <a:rPr lang="en-US" sz="730" dirty="0">
                <a:solidFill>
                  <a:srgbClr val="6B7280"/>
                </a:solidFill>
                <a:latin typeface="Aptos" pitchFamily="34" charset="0"/>
                <a:ea typeface="Aptos" pitchFamily="34" charset="-122"/>
                <a:cs typeface="Aptos" pitchFamily="34" charset="-120"/>
              </a:rPr>
              <a:t>Flask API</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SQLite</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dashboard</a:t>
            </a:r>
            <a:endParaRPr lang="en-US" sz="730" dirty="0"/>
          </a:p>
          <a:p>
            <a:pPr marL="0" indent="0" algn="ctr">
              <a:buNone/>
            </a:pPr>
            <a:r>
              <a:rPr lang="en-US" sz="730" dirty="0">
                <a:solidFill>
                  <a:srgbClr val="6B7280"/>
                </a:solidFill>
                <a:latin typeface="Aptos" pitchFamily="34" charset="0"/>
                <a:ea typeface="Aptos" pitchFamily="34" charset="-122"/>
                <a:cs typeface="Aptos" pitchFamily="34" charset="-120"/>
              </a:rPr>
              <a:t>SOS/email audit</a:t>
            </a:r>
            <a:endParaRPr lang="en-US" sz="730" dirty="0"/>
          </a:p>
        </p:txBody>
      </p:sp>
      <p:sp>
        <p:nvSpPr>
          <p:cNvPr id="35" name="Shape 33"/>
          <p:cNvSpPr/>
          <p:nvPr/>
        </p:nvSpPr>
        <p:spPr>
          <a:xfrm>
            <a:off x="4023360" y="4892040"/>
            <a:ext cx="4297680" cy="548640"/>
          </a:xfrm>
          <a:prstGeom prst="roundRect">
            <a:avLst>
              <a:gd name="adj" fmla="val 23333"/>
            </a:avLst>
          </a:prstGeom>
          <a:solidFill>
            <a:srgbClr val="EEF2FF"/>
          </a:solidFill>
          <a:ln w="12700">
            <a:solidFill>
              <a:srgbClr val="C7D2FE"/>
            </a:solidFill>
            <a:prstDash val="solid"/>
          </a:ln>
        </p:spPr>
        <p:txBody>
          <a:bodyPr/>
          <a:lstStyle/>
          <a:p>
            <a:endParaRPr lang="en-GB"/>
          </a:p>
        </p:txBody>
      </p:sp>
      <p:sp>
        <p:nvSpPr>
          <p:cNvPr id="36" name="Text 34"/>
          <p:cNvSpPr/>
          <p:nvPr/>
        </p:nvSpPr>
        <p:spPr>
          <a:xfrm>
            <a:off x="4315968" y="5093208"/>
            <a:ext cx="1188720" cy="91440"/>
          </a:xfrm>
          <a:prstGeom prst="rect">
            <a:avLst/>
          </a:prstGeom>
          <a:noFill/>
          <a:ln/>
        </p:spPr>
        <p:txBody>
          <a:bodyPr wrap="square" lIns="0" tIns="0" rIns="0" bIns="0" rtlCol="0" anchor="ctr"/>
          <a:lstStyle/>
          <a:p>
            <a:pPr marL="0" indent="0">
              <a:buNone/>
            </a:pPr>
            <a:r>
              <a:rPr lang="en-US" sz="850" b="1" dirty="0">
                <a:solidFill>
                  <a:srgbClr val="3730A3"/>
                </a:solidFill>
                <a:latin typeface="Aptos" pitchFamily="34" charset="0"/>
                <a:ea typeface="Aptos" pitchFamily="34" charset="-122"/>
                <a:cs typeface="Aptos" pitchFamily="34" charset="-120"/>
              </a:rPr>
              <a:t>future_cloud/</a:t>
            </a:r>
            <a:endParaRPr lang="en-US" sz="850" dirty="0"/>
          </a:p>
        </p:txBody>
      </p:sp>
      <p:sp>
        <p:nvSpPr>
          <p:cNvPr id="37" name="Text 35"/>
          <p:cNvSpPr/>
          <p:nvPr/>
        </p:nvSpPr>
        <p:spPr>
          <a:xfrm>
            <a:off x="5715000" y="5093208"/>
            <a:ext cx="2194560" cy="91440"/>
          </a:xfrm>
          <a:prstGeom prst="rect">
            <a:avLst/>
          </a:prstGeom>
          <a:noFill/>
          <a:ln/>
        </p:spPr>
        <p:txBody>
          <a:bodyPr wrap="square" lIns="0" tIns="0" rIns="0" bIns="0" rtlCol="0" anchor="ctr"/>
          <a:lstStyle/>
          <a:p>
            <a:pPr marL="0" indent="0">
              <a:buNone/>
            </a:pPr>
            <a:r>
              <a:rPr lang="en-US" sz="830" dirty="0">
                <a:solidFill>
                  <a:srgbClr val="475569"/>
                </a:solidFill>
                <a:latin typeface="Aptos" pitchFamily="34" charset="0"/>
                <a:ea typeface="Aptos" pitchFamily="34" charset="-122"/>
                <a:cs typeface="Aptos" pitchFamily="34" charset="-120"/>
              </a:rPr>
              <a:t>kept separate for later Azure / IoT Hub experiments</a:t>
            </a:r>
            <a:endParaRPr lang="en-US" sz="830" dirty="0"/>
          </a:p>
        </p:txBody>
      </p:sp>
      <p:sp>
        <p:nvSpPr>
          <p:cNvPr id="38" name="Shape 36"/>
          <p:cNvSpPr/>
          <p:nvPr/>
        </p:nvSpPr>
        <p:spPr>
          <a:xfrm>
            <a:off x="868680" y="5074920"/>
            <a:ext cx="141732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39" name="Text 37"/>
          <p:cNvSpPr/>
          <p:nvPr/>
        </p:nvSpPr>
        <p:spPr>
          <a:xfrm>
            <a:off x="1069848" y="5221224"/>
            <a:ext cx="101498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Runtime target</a:t>
            </a:r>
            <a:endParaRPr lang="en-US" sz="730" dirty="0"/>
          </a:p>
        </p:txBody>
      </p:sp>
      <p:sp>
        <p:nvSpPr>
          <p:cNvPr id="40" name="Text 38"/>
          <p:cNvSpPr/>
          <p:nvPr/>
        </p:nvSpPr>
        <p:spPr>
          <a:xfrm>
            <a:off x="1069848" y="5422392"/>
            <a:ext cx="1014984" cy="292608"/>
          </a:xfrm>
          <a:prstGeom prst="rect">
            <a:avLst/>
          </a:prstGeom>
          <a:noFill/>
          <a:ln/>
        </p:spPr>
        <p:txBody>
          <a:bodyPr wrap="square" lIns="0" tIns="0" rIns="0" bIns="0" rtlCol="0" anchor="ctr">
            <a:normAutofit/>
          </a:bodyPr>
          <a:lstStyle/>
          <a:p>
            <a:pPr marL="0" indent="0">
              <a:buNone/>
            </a:pPr>
            <a:r>
              <a:rPr lang="en-US" sz="1900" b="1" dirty="0">
                <a:solidFill>
                  <a:srgbClr val="2563EB"/>
                </a:solidFill>
                <a:latin typeface="Aptos Display" pitchFamily="34" charset="0"/>
                <a:ea typeface="Aptos Display" pitchFamily="34" charset="-122"/>
                <a:cs typeface="Aptos Display" pitchFamily="34" charset="-120"/>
              </a:rPr>
              <a:t>Local</a:t>
            </a:r>
            <a:endParaRPr lang="en-US" sz="1900" dirty="0"/>
          </a:p>
        </p:txBody>
      </p:sp>
      <p:sp>
        <p:nvSpPr>
          <p:cNvPr id="41" name="Text 39"/>
          <p:cNvSpPr/>
          <p:nvPr/>
        </p:nvSpPr>
        <p:spPr>
          <a:xfrm>
            <a:off x="1069848" y="5751576"/>
            <a:ext cx="101498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no public cloud needed</a:t>
            </a:r>
            <a:endParaRPr lang="en-US" sz="660" dirty="0"/>
          </a:p>
        </p:txBody>
      </p:sp>
      <p:sp>
        <p:nvSpPr>
          <p:cNvPr id="42" name="Shape 40"/>
          <p:cNvSpPr/>
          <p:nvPr/>
        </p:nvSpPr>
        <p:spPr>
          <a:xfrm>
            <a:off x="2468880" y="5074920"/>
            <a:ext cx="141732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43" name="Text 41"/>
          <p:cNvSpPr/>
          <p:nvPr/>
        </p:nvSpPr>
        <p:spPr>
          <a:xfrm>
            <a:off x="2670048" y="5221224"/>
            <a:ext cx="101498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AI model</a:t>
            </a:r>
            <a:endParaRPr lang="en-US" sz="730" dirty="0"/>
          </a:p>
        </p:txBody>
      </p:sp>
      <p:sp>
        <p:nvSpPr>
          <p:cNvPr id="44" name="Text 42"/>
          <p:cNvSpPr/>
          <p:nvPr/>
        </p:nvSpPr>
        <p:spPr>
          <a:xfrm>
            <a:off x="2670048" y="5422392"/>
            <a:ext cx="1014984" cy="292608"/>
          </a:xfrm>
          <a:prstGeom prst="rect">
            <a:avLst/>
          </a:prstGeom>
          <a:noFill/>
          <a:ln/>
        </p:spPr>
        <p:txBody>
          <a:bodyPr wrap="square" lIns="0" tIns="0" rIns="0" bIns="0" rtlCol="0" anchor="ctr">
            <a:normAutofit/>
          </a:bodyPr>
          <a:lstStyle/>
          <a:p>
            <a:pPr marL="0" indent="0">
              <a:buNone/>
            </a:pPr>
            <a:r>
              <a:rPr lang="en-US" sz="1900" b="1" dirty="0">
                <a:solidFill>
                  <a:srgbClr val="10B981"/>
                </a:solidFill>
                <a:latin typeface="Aptos Display" pitchFamily="34" charset="0"/>
                <a:ea typeface="Aptos Display" pitchFamily="34" charset="-122"/>
                <a:cs typeface="Aptos Display" pitchFamily="34" charset="-120"/>
              </a:rPr>
              <a:t>Llama</a:t>
            </a:r>
            <a:endParaRPr lang="en-US" sz="1900" dirty="0"/>
          </a:p>
        </p:txBody>
      </p:sp>
      <p:sp>
        <p:nvSpPr>
          <p:cNvPr id="45" name="Text 43"/>
          <p:cNvSpPr/>
          <p:nvPr/>
        </p:nvSpPr>
        <p:spPr>
          <a:xfrm>
            <a:off x="2670048" y="5751576"/>
            <a:ext cx="101498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local summary only</a:t>
            </a:r>
            <a:endParaRPr lang="en-US" sz="660" dirty="0"/>
          </a:p>
        </p:txBody>
      </p:sp>
      <p:sp>
        <p:nvSpPr>
          <p:cNvPr id="46" name="Shape 44"/>
          <p:cNvSpPr/>
          <p:nvPr/>
        </p:nvSpPr>
        <p:spPr>
          <a:xfrm>
            <a:off x="8915400" y="5074920"/>
            <a:ext cx="146304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47" name="Text 45"/>
          <p:cNvSpPr/>
          <p:nvPr/>
        </p:nvSpPr>
        <p:spPr>
          <a:xfrm>
            <a:off x="9116568" y="5221224"/>
            <a:ext cx="106070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Dashboard</a:t>
            </a:r>
            <a:endParaRPr lang="en-US" sz="730" dirty="0"/>
          </a:p>
        </p:txBody>
      </p:sp>
      <p:sp>
        <p:nvSpPr>
          <p:cNvPr id="48" name="Text 46"/>
          <p:cNvSpPr/>
          <p:nvPr/>
        </p:nvSpPr>
        <p:spPr>
          <a:xfrm>
            <a:off x="9116568" y="5422392"/>
            <a:ext cx="1060704" cy="292608"/>
          </a:xfrm>
          <a:prstGeom prst="rect">
            <a:avLst/>
          </a:prstGeom>
          <a:noFill/>
          <a:ln/>
        </p:spPr>
        <p:txBody>
          <a:bodyPr wrap="square" lIns="0" tIns="0" rIns="0" bIns="0" rtlCol="0" anchor="ctr">
            <a:normAutofit/>
          </a:bodyPr>
          <a:lstStyle/>
          <a:p>
            <a:pPr marL="0" indent="0">
              <a:buNone/>
            </a:pPr>
            <a:r>
              <a:rPr lang="en-US" sz="1900" b="1" dirty="0">
                <a:solidFill>
                  <a:srgbClr val="E6395A"/>
                </a:solidFill>
                <a:latin typeface="Aptos Display" pitchFamily="34" charset="0"/>
                <a:ea typeface="Aptos Display" pitchFamily="34" charset="-122"/>
                <a:cs typeface="Aptos Display" pitchFamily="34" charset="-120"/>
              </a:rPr>
              <a:t>Flask</a:t>
            </a:r>
            <a:endParaRPr lang="en-US" sz="1900" dirty="0"/>
          </a:p>
        </p:txBody>
      </p:sp>
      <p:sp>
        <p:nvSpPr>
          <p:cNvPr id="49" name="Text 47"/>
          <p:cNvSpPr/>
          <p:nvPr/>
        </p:nvSpPr>
        <p:spPr>
          <a:xfrm>
            <a:off x="9116568" y="5751576"/>
            <a:ext cx="106070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same Wi‑Fi / port 5000</a:t>
            </a:r>
            <a:endParaRPr lang="en-US" sz="660" dirty="0"/>
          </a:p>
        </p:txBody>
      </p:sp>
      <p:sp>
        <p:nvSpPr>
          <p:cNvPr id="50" name="Text 48"/>
          <p:cNvSpPr/>
          <p:nvPr/>
        </p:nvSpPr>
        <p:spPr>
          <a:xfrm>
            <a:off x="658368" y="6236208"/>
            <a:ext cx="10698480" cy="128016"/>
          </a:xfrm>
          <a:prstGeom prst="rect">
            <a:avLst/>
          </a:prstGeom>
          <a:noFill/>
          <a:ln/>
        </p:spPr>
        <p:txBody>
          <a:bodyPr wrap="square" lIns="0" tIns="0" rIns="0" bIns="0" rtlCol="0" anchor="ctr">
            <a:normAutofit/>
          </a:bodyPr>
          <a:lstStyle/>
          <a:p>
            <a:pPr marL="0" indent="0">
              <a:buNone/>
            </a:pPr>
            <a:r>
              <a:rPr lang="en-US" sz="620" dirty="0">
                <a:solidFill>
                  <a:srgbClr val="6B7280"/>
                </a:solidFill>
                <a:latin typeface="Aptos" pitchFamily="34" charset="0"/>
                <a:ea typeface="Aptos" pitchFamily="34" charset="-122"/>
                <a:cs typeface="Aptos" pitchFamily="34" charset="-120"/>
              </a:rPr>
              <a:t>Source: final GitHub V3.0 README describes the Flask webapp, Raspberry Pi 5 agent, telemetry forwarding, MediaPipe pipeline, emergency engine, training workflow, and isolated future_cloud module.</a:t>
            </a:r>
            <a:endParaRPr lang="en-US" sz="620" dirty="0"/>
          </a:p>
        </p:txBody>
      </p:sp>
      <p:sp>
        <p:nvSpPr>
          <p:cNvPr id="51" name="Shape 4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52" name="Text 5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General overview / architecture</a:t>
            </a:r>
            <a:endParaRPr lang="en-US" sz="680" dirty="0"/>
          </a:p>
        </p:txBody>
      </p:sp>
      <p:sp>
        <p:nvSpPr>
          <p:cNvPr id="53" name="Text 5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DEVELOPMENT PROCESS</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Development process: from prototype branches to V3.0</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work evolved through GitHub branches and modular refactoring until the final V3.0 branch became the case-study version.</a:t>
            </a:r>
            <a:endParaRPr lang="en-US" sz="1240" dirty="0"/>
          </a:p>
        </p:txBody>
      </p:sp>
      <p:sp>
        <p:nvSpPr>
          <p:cNvPr id="5" name="Shape 3"/>
          <p:cNvSpPr/>
          <p:nvPr/>
        </p:nvSpPr>
        <p:spPr>
          <a:xfrm>
            <a:off x="658368" y="1874520"/>
            <a:ext cx="6492240" cy="4434840"/>
          </a:xfrm>
          <a:prstGeom prst="roundRect">
            <a:avLst>
              <a:gd name="adj" fmla="val 3711"/>
            </a:avLst>
          </a:prstGeom>
          <a:solidFill>
            <a:srgbClr val="FFFFFF"/>
          </a:solidFill>
          <a:ln w="12700">
            <a:solidFill>
              <a:srgbClr val="DDE6F2"/>
            </a:solidFill>
            <a:prstDash val="solid"/>
          </a:ln>
        </p:spPr>
        <p:txBody>
          <a:bodyPr/>
          <a:lstStyle/>
          <a:p>
            <a:endParaRPr lang="en-GB"/>
          </a:p>
        </p:txBody>
      </p:sp>
      <p:sp>
        <p:nvSpPr>
          <p:cNvPr id="6" name="Text 4"/>
          <p:cNvSpPr/>
          <p:nvPr/>
        </p:nvSpPr>
        <p:spPr>
          <a:xfrm>
            <a:off x="960120" y="2148840"/>
            <a:ext cx="3840480" cy="292608"/>
          </a:xfrm>
          <a:prstGeom prst="rect">
            <a:avLst/>
          </a:prstGeom>
          <a:noFill/>
          <a:ln/>
        </p:spPr>
        <p:txBody>
          <a:bodyPr wrap="square" lIns="0" tIns="0" rIns="0" bIns="0" rtlCol="0" anchor="ctr"/>
          <a:lstStyle/>
          <a:p>
            <a:pPr marL="0" indent="0">
              <a:buNone/>
            </a:pPr>
            <a:r>
              <a:rPr lang="en-US" sz="2100" b="1" dirty="0">
                <a:solidFill>
                  <a:srgbClr val="111827"/>
                </a:solidFill>
                <a:latin typeface="Aptos Display" pitchFamily="34" charset="0"/>
                <a:ea typeface="Aptos Display" pitchFamily="34" charset="-122"/>
                <a:cs typeface="Aptos Display" pitchFamily="34" charset="-120"/>
              </a:rPr>
              <a:t>GitHub branch progression</a:t>
            </a:r>
            <a:endParaRPr lang="en-US" sz="2100" dirty="0"/>
          </a:p>
        </p:txBody>
      </p:sp>
      <p:sp>
        <p:nvSpPr>
          <p:cNvPr id="7" name="Shape 5"/>
          <p:cNvSpPr/>
          <p:nvPr/>
        </p:nvSpPr>
        <p:spPr>
          <a:xfrm>
            <a:off x="987552" y="2788920"/>
            <a:ext cx="402336" cy="402336"/>
          </a:xfrm>
          <a:prstGeom prst="ellipse">
            <a:avLst/>
          </a:prstGeom>
          <a:solidFill>
            <a:srgbClr val="2563EB"/>
          </a:solidFill>
          <a:ln w="12700">
            <a:solidFill>
              <a:srgbClr val="2563EB"/>
            </a:solidFill>
            <a:prstDash val="solid"/>
          </a:ln>
        </p:spPr>
        <p:txBody>
          <a:bodyPr/>
          <a:lstStyle/>
          <a:p>
            <a:endParaRPr lang="en-GB"/>
          </a:p>
        </p:txBody>
      </p:sp>
      <p:sp>
        <p:nvSpPr>
          <p:cNvPr id="8" name="Shape 6"/>
          <p:cNvSpPr/>
          <p:nvPr/>
        </p:nvSpPr>
        <p:spPr>
          <a:xfrm>
            <a:off x="1188720" y="3200400"/>
            <a:ext cx="0" cy="548640"/>
          </a:xfrm>
          <a:prstGeom prst="line">
            <a:avLst/>
          </a:prstGeom>
          <a:noFill/>
          <a:ln w="25400">
            <a:solidFill>
              <a:srgbClr val="CBD5E1"/>
            </a:solidFill>
            <a:prstDash val="solid"/>
          </a:ln>
        </p:spPr>
        <p:txBody>
          <a:bodyPr/>
          <a:lstStyle/>
          <a:p>
            <a:endParaRPr lang="en-GB"/>
          </a:p>
        </p:txBody>
      </p:sp>
      <p:sp>
        <p:nvSpPr>
          <p:cNvPr id="9" name="Text 7"/>
          <p:cNvSpPr/>
          <p:nvPr/>
        </p:nvSpPr>
        <p:spPr>
          <a:xfrm>
            <a:off x="1600200" y="2724912"/>
            <a:ext cx="731520" cy="228600"/>
          </a:xfrm>
          <a:prstGeom prst="rect">
            <a:avLst/>
          </a:prstGeom>
          <a:noFill/>
          <a:ln/>
        </p:spPr>
        <p:txBody>
          <a:bodyPr wrap="square" lIns="0" tIns="0" rIns="0" bIns="0" rtlCol="0" anchor="ctr"/>
          <a:lstStyle/>
          <a:p>
            <a:pPr marL="0" indent="0">
              <a:buNone/>
            </a:pPr>
            <a:r>
              <a:rPr lang="en-US" sz="1800" b="1" dirty="0">
                <a:solidFill>
                  <a:srgbClr val="2563EB"/>
                </a:solidFill>
                <a:latin typeface="Aptos Display" pitchFamily="34" charset="0"/>
                <a:ea typeface="Aptos Display" pitchFamily="34" charset="-122"/>
                <a:cs typeface="Aptos Display" pitchFamily="34" charset="-120"/>
              </a:rPr>
              <a:t>V1.0</a:t>
            </a:r>
            <a:endParaRPr lang="en-US" sz="1800" dirty="0"/>
          </a:p>
        </p:txBody>
      </p:sp>
      <p:sp>
        <p:nvSpPr>
          <p:cNvPr id="10" name="Text 8"/>
          <p:cNvSpPr/>
          <p:nvPr/>
        </p:nvSpPr>
        <p:spPr>
          <a:xfrm>
            <a:off x="2377440" y="2752344"/>
            <a:ext cx="2743200" cy="164592"/>
          </a:xfrm>
          <a:prstGeom prst="rect">
            <a:avLst/>
          </a:prstGeom>
          <a:noFill/>
          <a:ln/>
        </p:spPr>
        <p:txBody>
          <a:bodyPr wrap="square" lIns="0" tIns="0" rIns="0" bIns="0" rtlCol="0" anchor="ctr"/>
          <a:lstStyle/>
          <a:p>
            <a:pPr marL="0" indent="0">
              <a:buNone/>
            </a:pPr>
            <a:r>
              <a:rPr lang="en-US" sz="1020" b="1" dirty="0">
                <a:solidFill>
                  <a:srgbClr val="111827"/>
                </a:solidFill>
                <a:latin typeface="Aptos" pitchFamily="34" charset="0"/>
                <a:ea typeface="Aptos" pitchFamily="34" charset="-122"/>
                <a:cs typeface="Aptos" pitchFamily="34" charset="-120"/>
              </a:rPr>
              <a:t>Initial assistive IoT concept</a:t>
            </a:r>
            <a:endParaRPr lang="en-US" sz="1020" dirty="0"/>
          </a:p>
        </p:txBody>
      </p:sp>
      <p:sp>
        <p:nvSpPr>
          <p:cNvPr id="11" name="Text 9"/>
          <p:cNvSpPr/>
          <p:nvPr/>
        </p:nvSpPr>
        <p:spPr>
          <a:xfrm>
            <a:off x="2377440" y="3063240"/>
            <a:ext cx="4114800" cy="22860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Basic sensor/camera simulation and early control flow.</a:t>
            </a:r>
            <a:endParaRPr lang="en-US" sz="840" dirty="0"/>
          </a:p>
        </p:txBody>
      </p:sp>
      <p:sp>
        <p:nvSpPr>
          <p:cNvPr id="12" name="Shape 10"/>
          <p:cNvSpPr/>
          <p:nvPr/>
        </p:nvSpPr>
        <p:spPr>
          <a:xfrm>
            <a:off x="987552" y="3794760"/>
            <a:ext cx="402336" cy="402336"/>
          </a:xfrm>
          <a:prstGeom prst="ellipse">
            <a:avLst/>
          </a:prstGeom>
          <a:solidFill>
            <a:srgbClr val="F59E0B"/>
          </a:solidFill>
          <a:ln w="12700">
            <a:solidFill>
              <a:srgbClr val="F59E0B"/>
            </a:solidFill>
            <a:prstDash val="solid"/>
          </a:ln>
        </p:spPr>
        <p:txBody>
          <a:bodyPr/>
          <a:lstStyle/>
          <a:p>
            <a:endParaRPr lang="en-GB"/>
          </a:p>
        </p:txBody>
      </p:sp>
      <p:sp>
        <p:nvSpPr>
          <p:cNvPr id="13" name="Shape 11"/>
          <p:cNvSpPr/>
          <p:nvPr/>
        </p:nvSpPr>
        <p:spPr>
          <a:xfrm>
            <a:off x="1188720" y="4206240"/>
            <a:ext cx="0" cy="548640"/>
          </a:xfrm>
          <a:prstGeom prst="line">
            <a:avLst/>
          </a:prstGeom>
          <a:noFill/>
          <a:ln w="25400">
            <a:solidFill>
              <a:srgbClr val="CBD5E1"/>
            </a:solidFill>
            <a:prstDash val="solid"/>
          </a:ln>
        </p:spPr>
        <p:txBody>
          <a:bodyPr/>
          <a:lstStyle/>
          <a:p>
            <a:endParaRPr lang="en-GB"/>
          </a:p>
        </p:txBody>
      </p:sp>
      <p:sp>
        <p:nvSpPr>
          <p:cNvPr id="14" name="Text 12"/>
          <p:cNvSpPr/>
          <p:nvPr/>
        </p:nvSpPr>
        <p:spPr>
          <a:xfrm>
            <a:off x="1600200" y="3730752"/>
            <a:ext cx="731520" cy="228600"/>
          </a:xfrm>
          <a:prstGeom prst="rect">
            <a:avLst/>
          </a:prstGeom>
          <a:noFill/>
          <a:ln/>
        </p:spPr>
        <p:txBody>
          <a:bodyPr wrap="square" lIns="0" tIns="0" rIns="0" bIns="0" rtlCol="0" anchor="ctr"/>
          <a:lstStyle/>
          <a:p>
            <a:pPr marL="0" indent="0">
              <a:buNone/>
            </a:pPr>
            <a:r>
              <a:rPr lang="en-US" sz="1800" b="1" dirty="0">
                <a:solidFill>
                  <a:srgbClr val="F59E0B"/>
                </a:solidFill>
                <a:latin typeface="Aptos Display" pitchFamily="34" charset="0"/>
                <a:ea typeface="Aptos Display" pitchFamily="34" charset="-122"/>
                <a:cs typeface="Aptos Display" pitchFamily="34" charset="-120"/>
              </a:rPr>
              <a:t>V2.0</a:t>
            </a:r>
            <a:endParaRPr lang="en-US" sz="1800" dirty="0"/>
          </a:p>
        </p:txBody>
      </p:sp>
      <p:sp>
        <p:nvSpPr>
          <p:cNvPr id="15" name="Text 13"/>
          <p:cNvSpPr/>
          <p:nvPr/>
        </p:nvSpPr>
        <p:spPr>
          <a:xfrm>
            <a:off x="2377440" y="3758184"/>
            <a:ext cx="2743200" cy="164592"/>
          </a:xfrm>
          <a:prstGeom prst="rect">
            <a:avLst/>
          </a:prstGeom>
          <a:noFill/>
          <a:ln/>
        </p:spPr>
        <p:txBody>
          <a:bodyPr wrap="square" lIns="0" tIns="0" rIns="0" bIns="0" rtlCol="0" anchor="ctr"/>
          <a:lstStyle/>
          <a:p>
            <a:pPr marL="0" indent="0">
              <a:buNone/>
            </a:pPr>
            <a:r>
              <a:rPr lang="en-US" sz="1020" b="1" dirty="0">
                <a:solidFill>
                  <a:srgbClr val="111827"/>
                </a:solidFill>
                <a:latin typeface="Aptos" pitchFamily="34" charset="0"/>
                <a:ea typeface="Aptos" pitchFamily="34" charset="-122"/>
                <a:cs typeface="Aptos" pitchFamily="34" charset="-120"/>
              </a:rPr>
              <a:t>Dashboard + cloud experiment</a:t>
            </a:r>
            <a:endParaRPr lang="en-US" sz="1020" dirty="0"/>
          </a:p>
        </p:txBody>
      </p:sp>
      <p:sp>
        <p:nvSpPr>
          <p:cNvPr id="16" name="Text 14"/>
          <p:cNvSpPr/>
          <p:nvPr/>
        </p:nvSpPr>
        <p:spPr>
          <a:xfrm>
            <a:off x="2377440" y="4069080"/>
            <a:ext cx="4114800" cy="22860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Web display, telemetry concepts, and Azure proof-of-concept.</a:t>
            </a:r>
            <a:endParaRPr lang="en-US" sz="840" dirty="0"/>
          </a:p>
        </p:txBody>
      </p:sp>
      <p:sp>
        <p:nvSpPr>
          <p:cNvPr id="17" name="Shape 15"/>
          <p:cNvSpPr/>
          <p:nvPr/>
        </p:nvSpPr>
        <p:spPr>
          <a:xfrm>
            <a:off x="987552" y="4800600"/>
            <a:ext cx="402336" cy="402336"/>
          </a:xfrm>
          <a:prstGeom prst="ellipse">
            <a:avLst/>
          </a:prstGeom>
          <a:solidFill>
            <a:srgbClr val="10B981"/>
          </a:solidFill>
          <a:ln w="12700">
            <a:solidFill>
              <a:srgbClr val="10B981"/>
            </a:solidFill>
            <a:prstDash val="solid"/>
          </a:ln>
        </p:spPr>
        <p:txBody>
          <a:bodyPr/>
          <a:lstStyle/>
          <a:p>
            <a:endParaRPr lang="en-GB"/>
          </a:p>
        </p:txBody>
      </p:sp>
      <p:sp>
        <p:nvSpPr>
          <p:cNvPr id="18" name="Text 16"/>
          <p:cNvSpPr/>
          <p:nvPr/>
        </p:nvSpPr>
        <p:spPr>
          <a:xfrm>
            <a:off x="1600200" y="4736592"/>
            <a:ext cx="731520" cy="228600"/>
          </a:xfrm>
          <a:prstGeom prst="rect">
            <a:avLst/>
          </a:prstGeom>
          <a:noFill/>
          <a:ln/>
        </p:spPr>
        <p:txBody>
          <a:bodyPr wrap="square" lIns="0" tIns="0" rIns="0" bIns="0" rtlCol="0" anchor="ctr"/>
          <a:lstStyle/>
          <a:p>
            <a:pPr marL="0" indent="0">
              <a:buNone/>
            </a:pPr>
            <a:r>
              <a:rPr lang="en-US" sz="1800" b="1" dirty="0">
                <a:solidFill>
                  <a:srgbClr val="10B981"/>
                </a:solidFill>
                <a:latin typeface="Aptos Display" pitchFamily="34" charset="0"/>
                <a:ea typeface="Aptos Display" pitchFamily="34" charset="-122"/>
                <a:cs typeface="Aptos Display" pitchFamily="34" charset="-120"/>
              </a:rPr>
              <a:t>V3.0</a:t>
            </a:r>
            <a:endParaRPr lang="en-US" sz="1800" dirty="0"/>
          </a:p>
        </p:txBody>
      </p:sp>
      <p:sp>
        <p:nvSpPr>
          <p:cNvPr id="19" name="Text 17"/>
          <p:cNvSpPr/>
          <p:nvPr/>
        </p:nvSpPr>
        <p:spPr>
          <a:xfrm>
            <a:off x="2377440" y="4764024"/>
            <a:ext cx="2743200" cy="164592"/>
          </a:xfrm>
          <a:prstGeom prst="rect">
            <a:avLst/>
          </a:prstGeom>
          <a:noFill/>
          <a:ln/>
        </p:spPr>
        <p:txBody>
          <a:bodyPr wrap="square" lIns="0" tIns="0" rIns="0" bIns="0" rtlCol="0" anchor="ctr"/>
          <a:lstStyle/>
          <a:p>
            <a:pPr marL="0" indent="0">
              <a:buNone/>
            </a:pPr>
            <a:r>
              <a:rPr lang="en-US" sz="1020" b="1" dirty="0">
                <a:solidFill>
                  <a:srgbClr val="111827"/>
                </a:solidFill>
                <a:latin typeface="Aptos" pitchFamily="34" charset="0"/>
                <a:ea typeface="Aptos" pitchFamily="34" charset="-122"/>
                <a:cs typeface="Aptos" pitchFamily="34" charset="-120"/>
              </a:rPr>
              <a:t>Final local-first release</a:t>
            </a:r>
            <a:endParaRPr lang="en-US" sz="1020" dirty="0"/>
          </a:p>
        </p:txBody>
      </p:sp>
      <p:sp>
        <p:nvSpPr>
          <p:cNvPr id="20" name="Text 18"/>
          <p:cNvSpPr/>
          <p:nvPr/>
        </p:nvSpPr>
        <p:spPr>
          <a:xfrm>
            <a:off x="2377440" y="5074920"/>
            <a:ext cx="4114800" cy="22860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Stable module split, pose fixes, training samples, local dashboard, and isolated future_cloud.</a:t>
            </a:r>
            <a:endParaRPr lang="en-US" sz="840" dirty="0"/>
          </a:p>
        </p:txBody>
      </p:sp>
      <p:sp>
        <p:nvSpPr>
          <p:cNvPr id="21" name="Shape 19"/>
          <p:cNvSpPr/>
          <p:nvPr/>
        </p:nvSpPr>
        <p:spPr>
          <a:xfrm>
            <a:off x="914400" y="5669280"/>
            <a:ext cx="2148840" cy="292608"/>
          </a:xfrm>
          <a:prstGeom prst="roundRect">
            <a:avLst>
              <a:gd name="adj" fmla="val 50000"/>
            </a:avLst>
          </a:prstGeom>
          <a:solidFill>
            <a:srgbClr val="D1FAE5"/>
          </a:solidFill>
          <a:ln w="12700">
            <a:solidFill>
              <a:srgbClr val="D1FAE5"/>
            </a:solidFill>
            <a:prstDash val="solid"/>
          </a:ln>
        </p:spPr>
        <p:txBody>
          <a:bodyPr/>
          <a:lstStyle/>
          <a:p>
            <a:endParaRPr lang="en-GB"/>
          </a:p>
        </p:txBody>
      </p:sp>
      <p:sp>
        <p:nvSpPr>
          <p:cNvPr id="22" name="Text 20"/>
          <p:cNvSpPr/>
          <p:nvPr/>
        </p:nvSpPr>
        <p:spPr>
          <a:xfrm>
            <a:off x="987552" y="5733288"/>
            <a:ext cx="2002536" cy="137160"/>
          </a:xfrm>
          <a:prstGeom prst="rect">
            <a:avLst/>
          </a:prstGeom>
          <a:noFill/>
          <a:ln/>
        </p:spPr>
        <p:txBody>
          <a:bodyPr wrap="square" lIns="0" tIns="0" rIns="0" bIns="0" rtlCol="0" anchor="ctr">
            <a:normAutofit/>
          </a:bodyPr>
          <a:lstStyle/>
          <a:p>
            <a:pPr marL="0" indent="0" algn="ctr">
              <a:buNone/>
            </a:pPr>
            <a:r>
              <a:rPr lang="en-US" sz="730" b="1" dirty="0">
                <a:solidFill>
                  <a:srgbClr val="10B981"/>
                </a:solidFill>
                <a:latin typeface="Aptos" pitchFamily="34" charset="0"/>
                <a:ea typeface="Aptos" pitchFamily="34" charset="-122"/>
                <a:cs typeface="Aptos" pitchFamily="34" charset="-120"/>
              </a:rPr>
              <a:t>Active final branch: V3.0</a:t>
            </a:r>
            <a:endParaRPr lang="en-US" sz="730" dirty="0"/>
          </a:p>
        </p:txBody>
      </p:sp>
      <p:sp>
        <p:nvSpPr>
          <p:cNvPr id="23" name="Shape 21"/>
          <p:cNvSpPr/>
          <p:nvPr/>
        </p:nvSpPr>
        <p:spPr>
          <a:xfrm>
            <a:off x="3273552" y="5669280"/>
            <a:ext cx="2057400" cy="292608"/>
          </a:xfrm>
          <a:prstGeom prst="roundRect">
            <a:avLst>
              <a:gd name="adj" fmla="val 50000"/>
            </a:avLst>
          </a:prstGeom>
          <a:solidFill>
            <a:srgbClr val="DBEAFE"/>
          </a:solidFill>
          <a:ln w="12700">
            <a:solidFill>
              <a:srgbClr val="DBEAFE"/>
            </a:solidFill>
            <a:prstDash val="solid"/>
          </a:ln>
        </p:spPr>
        <p:txBody>
          <a:bodyPr/>
          <a:lstStyle/>
          <a:p>
            <a:endParaRPr lang="en-GB"/>
          </a:p>
        </p:txBody>
      </p:sp>
      <p:sp>
        <p:nvSpPr>
          <p:cNvPr id="24" name="Text 22"/>
          <p:cNvSpPr/>
          <p:nvPr/>
        </p:nvSpPr>
        <p:spPr>
          <a:xfrm>
            <a:off x="3346704" y="5733288"/>
            <a:ext cx="1911096" cy="137160"/>
          </a:xfrm>
          <a:prstGeom prst="rect">
            <a:avLst/>
          </a:prstGeom>
          <a:noFill/>
          <a:ln/>
        </p:spPr>
        <p:txBody>
          <a:bodyPr wrap="square" lIns="0" tIns="0" rIns="0" bIns="0" rtlCol="0" anchor="ctr">
            <a:normAutofit/>
          </a:bodyPr>
          <a:lstStyle/>
          <a:p>
            <a:pPr marL="0" indent="0" algn="ctr">
              <a:buNone/>
            </a:pPr>
            <a:r>
              <a:rPr lang="en-US" sz="730" b="1" dirty="0">
                <a:solidFill>
                  <a:srgbClr val="2563EB"/>
                </a:solidFill>
                <a:latin typeface="Aptos" pitchFamily="34" charset="0"/>
                <a:ea typeface="Aptos" pitchFamily="34" charset="-122"/>
                <a:cs typeface="Aptos" pitchFamily="34" charset="-120"/>
              </a:rPr>
              <a:t>Repository shows 18 commits</a:t>
            </a:r>
            <a:endParaRPr lang="en-US" sz="730" dirty="0"/>
          </a:p>
        </p:txBody>
      </p:sp>
      <p:sp>
        <p:nvSpPr>
          <p:cNvPr id="25" name="Shape 23"/>
          <p:cNvSpPr/>
          <p:nvPr/>
        </p:nvSpPr>
        <p:spPr>
          <a:xfrm>
            <a:off x="7498080" y="1874520"/>
            <a:ext cx="3794760" cy="4434840"/>
          </a:xfrm>
          <a:prstGeom prst="roundRect">
            <a:avLst>
              <a:gd name="adj" fmla="val 4337"/>
            </a:avLst>
          </a:prstGeom>
          <a:solidFill>
            <a:srgbClr val="0F172A"/>
          </a:solidFill>
          <a:ln w="12700">
            <a:solidFill>
              <a:srgbClr val="1E293B"/>
            </a:solidFill>
            <a:prstDash val="solid"/>
          </a:ln>
        </p:spPr>
        <p:txBody>
          <a:bodyPr/>
          <a:lstStyle/>
          <a:p>
            <a:endParaRPr lang="en-GB"/>
          </a:p>
        </p:txBody>
      </p:sp>
      <p:sp>
        <p:nvSpPr>
          <p:cNvPr id="26" name="Text 24"/>
          <p:cNvSpPr/>
          <p:nvPr/>
        </p:nvSpPr>
        <p:spPr>
          <a:xfrm>
            <a:off x="7790688" y="2139696"/>
            <a:ext cx="3108960" cy="237744"/>
          </a:xfrm>
          <a:prstGeom prst="rect">
            <a:avLst/>
          </a:prstGeom>
          <a:noFill/>
          <a:ln/>
        </p:spPr>
        <p:txBody>
          <a:bodyPr wrap="square" lIns="0" tIns="0" rIns="0" bIns="0" rtlCol="0" anchor="ct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Final branch file structure</a:t>
            </a:r>
            <a:endParaRPr lang="en-US" sz="1800" dirty="0"/>
          </a:p>
        </p:txBody>
      </p:sp>
      <p:sp>
        <p:nvSpPr>
          <p:cNvPr id="27" name="Text 25"/>
          <p:cNvSpPr/>
          <p:nvPr/>
        </p:nvSpPr>
        <p:spPr>
          <a:xfrm>
            <a:off x="7818120" y="2697480"/>
            <a:ext cx="182880" cy="128016"/>
          </a:xfrm>
          <a:prstGeom prst="rect">
            <a:avLst/>
          </a:prstGeom>
          <a:noFill/>
          <a:ln/>
        </p:spPr>
        <p:txBody>
          <a:bodyPr wrap="square" lIns="0" tIns="0" rIns="0" bIns="0" rtlCol="0" anchor="ctr"/>
          <a:lstStyle/>
          <a:p>
            <a:pPr marL="0" indent="0">
              <a:buNone/>
            </a:pPr>
            <a:r>
              <a:rPr lang="en-US" sz="1000" dirty="0">
                <a:solidFill>
                  <a:srgbClr val="22A6F2"/>
                </a:solidFill>
                <a:latin typeface="Aptos" pitchFamily="34" charset="0"/>
                <a:ea typeface="Aptos" pitchFamily="34" charset="-122"/>
                <a:cs typeface="Aptos" pitchFamily="34" charset="-120"/>
              </a:rPr>
              <a:t>▸</a:t>
            </a:r>
            <a:endParaRPr lang="en-US" sz="1000" dirty="0"/>
          </a:p>
        </p:txBody>
      </p:sp>
      <p:sp>
        <p:nvSpPr>
          <p:cNvPr id="28" name="Text 26"/>
          <p:cNvSpPr/>
          <p:nvPr/>
        </p:nvSpPr>
        <p:spPr>
          <a:xfrm>
            <a:off x="8065008" y="2697480"/>
            <a:ext cx="960120" cy="146304"/>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rpi_agent/</a:t>
            </a:r>
            <a:endParaRPr lang="en-US" sz="950" dirty="0"/>
          </a:p>
        </p:txBody>
      </p:sp>
      <p:sp>
        <p:nvSpPr>
          <p:cNvPr id="29" name="Text 27"/>
          <p:cNvSpPr/>
          <p:nvPr/>
        </p:nvSpPr>
        <p:spPr>
          <a:xfrm>
            <a:off x="9281160" y="2697480"/>
            <a:ext cx="1737360" cy="146304"/>
          </a:xfrm>
          <a:prstGeom prst="rect">
            <a:avLst/>
          </a:prstGeom>
          <a:noFill/>
          <a:ln/>
        </p:spPr>
        <p:txBody>
          <a:bodyPr wrap="square" lIns="0" tIns="0" rIns="0" bIns="0" rtlCol="0" anchor="ctr">
            <a:normAutofit/>
          </a:bodyPr>
          <a:lstStyle/>
          <a:p>
            <a:pPr marL="0" indent="0">
              <a:buNone/>
            </a:pPr>
            <a:r>
              <a:rPr lang="en-US" sz="720" dirty="0">
                <a:solidFill>
                  <a:srgbClr val="B8C6DB"/>
                </a:solidFill>
                <a:latin typeface="Aptos" pitchFamily="34" charset="0"/>
                <a:ea typeface="Aptos" pitchFamily="34" charset="-122"/>
                <a:cs typeface="Aptos" pitchFamily="34" charset="-120"/>
              </a:rPr>
              <a:t>camera + pose + sensor + AI + upload</a:t>
            </a:r>
            <a:endParaRPr lang="en-US" sz="720" dirty="0"/>
          </a:p>
        </p:txBody>
      </p:sp>
      <p:sp>
        <p:nvSpPr>
          <p:cNvPr id="30" name="Text 28"/>
          <p:cNvSpPr/>
          <p:nvPr/>
        </p:nvSpPr>
        <p:spPr>
          <a:xfrm>
            <a:off x="7818120" y="3264408"/>
            <a:ext cx="182880" cy="128016"/>
          </a:xfrm>
          <a:prstGeom prst="rect">
            <a:avLst/>
          </a:prstGeom>
          <a:noFill/>
          <a:ln/>
        </p:spPr>
        <p:txBody>
          <a:bodyPr wrap="square" lIns="0" tIns="0" rIns="0" bIns="0" rtlCol="0" anchor="ctr"/>
          <a:lstStyle/>
          <a:p>
            <a:pPr marL="0" indent="0">
              <a:buNone/>
            </a:pPr>
            <a:r>
              <a:rPr lang="en-US" sz="1000" dirty="0">
                <a:solidFill>
                  <a:srgbClr val="22A6F2"/>
                </a:solidFill>
                <a:latin typeface="Aptos" pitchFamily="34" charset="0"/>
                <a:ea typeface="Aptos" pitchFamily="34" charset="-122"/>
                <a:cs typeface="Aptos" pitchFamily="34" charset="-120"/>
              </a:rPr>
              <a:t>▸</a:t>
            </a:r>
            <a:endParaRPr lang="en-US" sz="1000" dirty="0"/>
          </a:p>
        </p:txBody>
      </p:sp>
      <p:sp>
        <p:nvSpPr>
          <p:cNvPr id="31" name="Text 29"/>
          <p:cNvSpPr/>
          <p:nvPr/>
        </p:nvSpPr>
        <p:spPr>
          <a:xfrm>
            <a:off x="8065008" y="3264408"/>
            <a:ext cx="960120" cy="146304"/>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webapp/</a:t>
            </a:r>
            <a:endParaRPr lang="en-US" sz="950" dirty="0"/>
          </a:p>
        </p:txBody>
      </p:sp>
      <p:sp>
        <p:nvSpPr>
          <p:cNvPr id="32" name="Text 30"/>
          <p:cNvSpPr/>
          <p:nvPr/>
        </p:nvSpPr>
        <p:spPr>
          <a:xfrm>
            <a:off x="9281160" y="3264408"/>
            <a:ext cx="1737360" cy="146304"/>
          </a:xfrm>
          <a:prstGeom prst="rect">
            <a:avLst/>
          </a:prstGeom>
          <a:noFill/>
          <a:ln/>
        </p:spPr>
        <p:txBody>
          <a:bodyPr wrap="square" lIns="0" tIns="0" rIns="0" bIns="0" rtlCol="0" anchor="ctr">
            <a:normAutofit/>
          </a:bodyPr>
          <a:lstStyle/>
          <a:p>
            <a:pPr marL="0" indent="0">
              <a:buNone/>
            </a:pPr>
            <a:r>
              <a:rPr lang="en-US" sz="720" dirty="0">
                <a:solidFill>
                  <a:srgbClr val="B8C6DB"/>
                </a:solidFill>
                <a:latin typeface="Aptos" pitchFamily="34" charset="0"/>
                <a:ea typeface="Aptos" pitchFamily="34" charset="-122"/>
                <a:cs typeface="Aptos" pitchFamily="34" charset="-120"/>
              </a:rPr>
              <a:t>Flask dashboard, API, SQLite, alerts</a:t>
            </a:r>
            <a:endParaRPr lang="en-US" sz="720" dirty="0"/>
          </a:p>
        </p:txBody>
      </p:sp>
      <p:sp>
        <p:nvSpPr>
          <p:cNvPr id="33" name="Text 31"/>
          <p:cNvSpPr/>
          <p:nvPr/>
        </p:nvSpPr>
        <p:spPr>
          <a:xfrm>
            <a:off x="7818120" y="3831336"/>
            <a:ext cx="182880" cy="128016"/>
          </a:xfrm>
          <a:prstGeom prst="rect">
            <a:avLst/>
          </a:prstGeom>
          <a:noFill/>
          <a:ln/>
        </p:spPr>
        <p:txBody>
          <a:bodyPr wrap="square" lIns="0" tIns="0" rIns="0" bIns="0" rtlCol="0" anchor="ctr"/>
          <a:lstStyle/>
          <a:p>
            <a:pPr marL="0" indent="0">
              <a:buNone/>
            </a:pPr>
            <a:r>
              <a:rPr lang="en-US" sz="1000" dirty="0">
                <a:solidFill>
                  <a:srgbClr val="22A6F2"/>
                </a:solidFill>
                <a:latin typeface="Aptos" pitchFamily="34" charset="0"/>
                <a:ea typeface="Aptos" pitchFamily="34" charset="-122"/>
                <a:cs typeface="Aptos" pitchFamily="34" charset="-120"/>
              </a:rPr>
              <a:t>▸</a:t>
            </a:r>
            <a:endParaRPr lang="en-US" sz="1000" dirty="0"/>
          </a:p>
        </p:txBody>
      </p:sp>
      <p:sp>
        <p:nvSpPr>
          <p:cNvPr id="34" name="Text 32"/>
          <p:cNvSpPr/>
          <p:nvPr/>
        </p:nvSpPr>
        <p:spPr>
          <a:xfrm>
            <a:off x="8065008" y="3831336"/>
            <a:ext cx="960120" cy="146304"/>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future_cloud/</a:t>
            </a:r>
            <a:endParaRPr lang="en-US" sz="950" dirty="0"/>
          </a:p>
        </p:txBody>
      </p:sp>
      <p:sp>
        <p:nvSpPr>
          <p:cNvPr id="35" name="Text 33"/>
          <p:cNvSpPr/>
          <p:nvPr/>
        </p:nvSpPr>
        <p:spPr>
          <a:xfrm>
            <a:off x="9281160" y="3831336"/>
            <a:ext cx="1737360" cy="146304"/>
          </a:xfrm>
          <a:prstGeom prst="rect">
            <a:avLst/>
          </a:prstGeom>
          <a:noFill/>
          <a:ln/>
        </p:spPr>
        <p:txBody>
          <a:bodyPr wrap="square" lIns="0" tIns="0" rIns="0" bIns="0" rtlCol="0" anchor="ctr">
            <a:normAutofit/>
          </a:bodyPr>
          <a:lstStyle/>
          <a:p>
            <a:pPr marL="0" indent="0">
              <a:buNone/>
            </a:pPr>
            <a:r>
              <a:rPr lang="en-US" sz="720" dirty="0">
                <a:solidFill>
                  <a:srgbClr val="B8C6DB"/>
                </a:solidFill>
                <a:latin typeface="Aptos" pitchFamily="34" charset="0"/>
                <a:ea typeface="Aptos" pitchFamily="34" charset="-122"/>
                <a:cs typeface="Aptos" pitchFamily="34" charset="-120"/>
              </a:rPr>
              <a:t>placeholder only, isolated for later</a:t>
            </a:r>
            <a:endParaRPr lang="en-US" sz="720" dirty="0"/>
          </a:p>
        </p:txBody>
      </p:sp>
      <p:sp>
        <p:nvSpPr>
          <p:cNvPr id="36" name="Text 34"/>
          <p:cNvSpPr/>
          <p:nvPr/>
        </p:nvSpPr>
        <p:spPr>
          <a:xfrm>
            <a:off x="7818120" y="4398264"/>
            <a:ext cx="182880" cy="128016"/>
          </a:xfrm>
          <a:prstGeom prst="rect">
            <a:avLst/>
          </a:prstGeom>
          <a:noFill/>
          <a:ln/>
        </p:spPr>
        <p:txBody>
          <a:bodyPr wrap="square" lIns="0" tIns="0" rIns="0" bIns="0" rtlCol="0" anchor="ctr"/>
          <a:lstStyle/>
          <a:p>
            <a:pPr marL="0" indent="0">
              <a:buNone/>
            </a:pPr>
            <a:r>
              <a:rPr lang="en-US" sz="1000" dirty="0">
                <a:solidFill>
                  <a:srgbClr val="22A6F2"/>
                </a:solidFill>
                <a:latin typeface="Aptos" pitchFamily="34" charset="0"/>
                <a:ea typeface="Aptos" pitchFamily="34" charset="-122"/>
                <a:cs typeface="Aptos" pitchFamily="34" charset="-120"/>
              </a:rPr>
              <a:t>▸</a:t>
            </a:r>
            <a:endParaRPr lang="en-US" sz="1000" dirty="0"/>
          </a:p>
        </p:txBody>
      </p:sp>
      <p:sp>
        <p:nvSpPr>
          <p:cNvPr id="37" name="Text 35"/>
          <p:cNvSpPr/>
          <p:nvPr/>
        </p:nvSpPr>
        <p:spPr>
          <a:xfrm>
            <a:off x="8065008" y="4398264"/>
            <a:ext cx="960120" cy="146304"/>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CASE_STUDY/</a:t>
            </a:r>
            <a:endParaRPr lang="en-US" sz="950" dirty="0"/>
          </a:p>
        </p:txBody>
      </p:sp>
      <p:sp>
        <p:nvSpPr>
          <p:cNvPr id="38" name="Text 36"/>
          <p:cNvSpPr/>
          <p:nvPr/>
        </p:nvSpPr>
        <p:spPr>
          <a:xfrm>
            <a:off x="9281160" y="4398264"/>
            <a:ext cx="1737360" cy="146304"/>
          </a:xfrm>
          <a:prstGeom prst="rect">
            <a:avLst/>
          </a:prstGeom>
          <a:noFill/>
          <a:ln/>
        </p:spPr>
        <p:txBody>
          <a:bodyPr wrap="square" lIns="0" tIns="0" rIns="0" bIns="0" rtlCol="0" anchor="ctr">
            <a:normAutofit/>
          </a:bodyPr>
          <a:lstStyle/>
          <a:p>
            <a:pPr marL="0" indent="0">
              <a:buNone/>
            </a:pPr>
            <a:r>
              <a:rPr lang="en-US" sz="720" dirty="0">
                <a:solidFill>
                  <a:srgbClr val="B8C6DB"/>
                </a:solidFill>
                <a:latin typeface="Aptos" pitchFamily="34" charset="0"/>
                <a:ea typeface="Aptos" pitchFamily="34" charset="-122"/>
                <a:cs typeface="Aptos" pitchFamily="34" charset="-120"/>
              </a:rPr>
              <a:t>report material / final presentation</a:t>
            </a:r>
            <a:endParaRPr lang="en-US" sz="720" dirty="0"/>
          </a:p>
        </p:txBody>
      </p:sp>
      <p:sp>
        <p:nvSpPr>
          <p:cNvPr id="39" name="Text 37"/>
          <p:cNvSpPr/>
          <p:nvPr/>
        </p:nvSpPr>
        <p:spPr>
          <a:xfrm>
            <a:off x="7818120" y="4965192"/>
            <a:ext cx="182880" cy="128016"/>
          </a:xfrm>
          <a:prstGeom prst="rect">
            <a:avLst/>
          </a:prstGeom>
          <a:noFill/>
          <a:ln/>
        </p:spPr>
        <p:txBody>
          <a:bodyPr wrap="square" lIns="0" tIns="0" rIns="0" bIns="0" rtlCol="0" anchor="ctr"/>
          <a:lstStyle/>
          <a:p>
            <a:pPr marL="0" indent="0">
              <a:buNone/>
            </a:pPr>
            <a:r>
              <a:rPr lang="en-US" sz="1000" dirty="0">
                <a:solidFill>
                  <a:srgbClr val="22A6F2"/>
                </a:solidFill>
                <a:latin typeface="Aptos" pitchFamily="34" charset="0"/>
                <a:ea typeface="Aptos" pitchFamily="34" charset="-122"/>
                <a:cs typeface="Aptos" pitchFamily="34" charset="-120"/>
              </a:rPr>
              <a:t>▸</a:t>
            </a:r>
            <a:endParaRPr lang="en-US" sz="1000" dirty="0"/>
          </a:p>
        </p:txBody>
      </p:sp>
      <p:sp>
        <p:nvSpPr>
          <p:cNvPr id="40" name="Text 38"/>
          <p:cNvSpPr/>
          <p:nvPr/>
        </p:nvSpPr>
        <p:spPr>
          <a:xfrm>
            <a:off x="8065008" y="4965192"/>
            <a:ext cx="960120" cy="146304"/>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HighLevel_Design/</a:t>
            </a:r>
            <a:endParaRPr lang="en-US" sz="950" dirty="0"/>
          </a:p>
        </p:txBody>
      </p:sp>
      <p:sp>
        <p:nvSpPr>
          <p:cNvPr id="41" name="Text 39"/>
          <p:cNvSpPr/>
          <p:nvPr/>
        </p:nvSpPr>
        <p:spPr>
          <a:xfrm>
            <a:off x="9281160" y="4965192"/>
            <a:ext cx="1737360" cy="146304"/>
          </a:xfrm>
          <a:prstGeom prst="rect">
            <a:avLst/>
          </a:prstGeom>
          <a:noFill/>
          <a:ln/>
        </p:spPr>
        <p:txBody>
          <a:bodyPr wrap="square" lIns="0" tIns="0" rIns="0" bIns="0" rtlCol="0" anchor="ctr">
            <a:normAutofit/>
          </a:bodyPr>
          <a:lstStyle/>
          <a:p>
            <a:pPr marL="0" indent="0">
              <a:buNone/>
            </a:pPr>
            <a:r>
              <a:rPr lang="en-US" sz="720" dirty="0">
                <a:solidFill>
                  <a:srgbClr val="B8C6DB"/>
                </a:solidFill>
                <a:latin typeface="Aptos" pitchFamily="34" charset="0"/>
                <a:ea typeface="Aptos" pitchFamily="34" charset="-122"/>
                <a:cs typeface="Aptos" pitchFamily="34" charset="-120"/>
              </a:rPr>
              <a:t>system design artifacts</a:t>
            </a:r>
            <a:endParaRPr lang="en-US" sz="720" dirty="0"/>
          </a:p>
        </p:txBody>
      </p:sp>
      <p:sp>
        <p:nvSpPr>
          <p:cNvPr id="42" name="Shape 40"/>
          <p:cNvSpPr/>
          <p:nvPr/>
        </p:nvSpPr>
        <p:spPr>
          <a:xfrm>
            <a:off x="7818120" y="5596128"/>
            <a:ext cx="3154680" cy="347472"/>
          </a:xfrm>
          <a:prstGeom prst="roundRect">
            <a:avLst>
              <a:gd name="adj" fmla="val 26316"/>
            </a:avLst>
          </a:prstGeom>
          <a:solidFill>
            <a:srgbClr val="172554"/>
          </a:solidFill>
          <a:ln w="12700">
            <a:solidFill>
              <a:srgbClr val="1E40AF"/>
            </a:solidFill>
            <a:prstDash val="solid"/>
          </a:ln>
        </p:spPr>
        <p:txBody>
          <a:bodyPr/>
          <a:lstStyle/>
          <a:p>
            <a:endParaRPr lang="en-GB"/>
          </a:p>
        </p:txBody>
      </p:sp>
      <p:sp>
        <p:nvSpPr>
          <p:cNvPr id="43" name="Text 41"/>
          <p:cNvSpPr/>
          <p:nvPr/>
        </p:nvSpPr>
        <p:spPr>
          <a:xfrm>
            <a:off x="7991856" y="5724144"/>
            <a:ext cx="2834640" cy="73152"/>
          </a:xfrm>
          <a:prstGeom prst="rect">
            <a:avLst/>
          </a:prstGeom>
          <a:noFill/>
          <a:ln/>
        </p:spPr>
        <p:txBody>
          <a:bodyPr wrap="square" lIns="0" tIns="0" rIns="0" bIns="0" rtlCol="0" anchor="ctr">
            <a:normAutofit/>
          </a:bodyPr>
          <a:lstStyle/>
          <a:p>
            <a:pPr marL="0" indent="0">
              <a:buNone/>
            </a:pPr>
            <a:r>
              <a:rPr lang="en-US" sz="570" dirty="0">
                <a:solidFill>
                  <a:srgbClr val="BFDBFE"/>
                </a:solidFill>
                <a:latin typeface="Aptos" pitchFamily="34" charset="0"/>
                <a:ea typeface="Aptos" pitchFamily="34" charset="-122"/>
                <a:cs typeface="Aptos" pitchFamily="34" charset="-120"/>
              </a:rPr>
              <a:t>Repository: Mohyeldean11/Assistive_IOT_PROJ/tree/V3.0</a:t>
            </a:r>
            <a:endParaRPr lang="en-US" sz="570" dirty="0"/>
          </a:p>
        </p:txBody>
      </p:sp>
      <p:sp>
        <p:nvSpPr>
          <p:cNvPr id="44" name="Shape 42"/>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45" name="Text 43"/>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Development process / GitHub branches</a:t>
            </a:r>
            <a:endParaRPr lang="en-US" sz="680" dirty="0"/>
          </a:p>
        </p:txBody>
      </p:sp>
      <p:sp>
        <p:nvSpPr>
          <p:cNvPr id="46" name="Text 44"/>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MODULE DESIGN</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Development process: module responsibilities</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final code is organized around small modules so camera analysis, pose math, risk logic, upload, and UI are separable.</a:t>
            </a:r>
            <a:endParaRPr lang="en-US" sz="1240" dirty="0"/>
          </a:p>
        </p:txBody>
      </p:sp>
      <p:sp>
        <p:nvSpPr>
          <p:cNvPr id="5" name="Shape 3"/>
          <p:cNvSpPr/>
          <p:nvPr/>
        </p:nvSpPr>
        <p:spPr>
          <a:xfrm>
            <a:off x="658368" y="18745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6" name="Shape 4"/>
          <p:cNvSpPr/>
          <p:nvPr/>
        </p:nvSpPr>
        <p:spPr>
          <a:xfrm>
            <a:off x="658368" y="1874520"/>
            <a:ext cx="73152" cy="1444752"/>
          </a:xfrm>
          <a:prstGeom prst="rect">
            <a:avLst/>
          </a:prstGeom>
          <a:solidFill>
            <a:srgbClr val="22A6F2"/>
          </a:solidFill>
          <a:ln w="12700">
            <a:solidFill>
              <a:srgbClr val="22A6F2"/>
            </a:solidFill>
            <a:prstDash val="solid"/>
          </a:ln>
        </p:spPr>
        <p:txBody>
          <a:bodyPr/>
          <a:lstStyle/>
          <a:p>
            <a:endParaRPr lang="en-GB"/>
          </a:p>
        </p:txBody>
      </p:sp>
      <p:sp>
        <p:nvSpPr>
          <p:cNvPr id="7" name="Text 5"/>
          <p:cNvSpPr/>
          <p:nvPr/>
        </p:nvSpPr>
        <p:spPr>
          <a:xfrm>
            <a:off x="859536" y="20756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camera_pipeline.py</a:t>
            </a:r>
            <a:endParaRPr lang="en-US" sz="1020" dirty="0"/>
          </a:p>
        </p:txBody>
      </p:sp>
      <p:sp>
        <p:nvSpPr>
          <p:cNvPr id="8" name="Text 6"/>
          <p:cNvSpPr/>
          <p:nvPr/>
        </p:nvSpPr>
        <p:spPr>
          <a:xfrm>
            <a:off x="859536" y="24414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Keeps camera open, analyzes frames, returns landmarks + latest snapshot.</a:t>
            </a:r>
            <a:endParaRPr lang="en-US" sz="820" dirty="0"/>
          </a:p>
        </p:txBody>
      </p:sp>
      <p:sp>
        <p:nvSpPr>
          <p:cNvPr id="9" name="Shape 7"/>
          <p:cNvSpPr/>
          <p:nvPr/>
        </p:nvSpPr>
        <p:spPr>
          <a:xfrm>
            <a:off x="3493008" y="18745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3493008" y="1874520"/>
            <a:ext cx="73152" cy="1444752"/>
          </a:xfrm>
          <a:prstGeom prst="rect">
            <a:avLst/>
          </a:prstGeom>
          <a:solidFill>
            <a:srgbClr val="10B981"/>
          </a:solidFill>
          <a:ln w="12700">
            <a:solidFill>
              <a:srgbClr val="10B981"/>
            </a:solidFill>
            <a:prstDash val="solid"/>
          </a:ln>
        </p:spPr>
        <p:txBody>
          <a:bodyPr/>
          <a:lstStyle/>
          <a:p>
            <a:endParaRPr lang="en-GB"/>
          </a:p>
        </p:txBody>
      </p:sp>
      <p:sp>
        <p:nvSpPr>
          <p:cNvPr id="11" name="Text 9"/>
          <p:cNvSpPr/>
          <p:nvPr/>
        </p:nvSpPr>
        <p:spPr>
          <a:xfrm>
            <a:off x="3694176" y="20756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pose_features.py</a:t>
            </a:r>
            <a:endParaRPr lang="en-US" sz="1020" dirty="0"/>
          </a:p>
        </p:txBody>
      </p:sp>
      <p:sp>
        <p:nvSpPr>
          <p:cNvPr id="12" name="Text 10"/>
          <p:cNvSpPr/>
          <p:nvPr/>
        </p:nvSpPr>
        <p:spPr>
          <a:xfrm>
            <a:off x="3694176" y="24414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Computes normalized geometry: scale, angles, horizontal score, drop and velocity.</a:t>
            </a:r>
            <a:endParaRPr lang="en-US" sz="820" dirty="0"/>
          </a:p>
        </p:txBody>
      </p:sp>
      <p:sp>
        <p:nvSpPr>
          <p:cNvPr id="13" name="Shape 11"/>
          <p:cNvSpPr/>
          <p:nvPr/>
        </p:nvSpPr>
        <p:spPr>
          <a:xfrm>
            <a:off x="6327648" y="18745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14" name="Shape 12"/>
          <p:cNvSpPr/>
          <p:nvPr/>
        </p:nvSpPr>
        <p:spPr>
          <a:xfrm>
            <a:off x="6327648" y="1874520"/>
            <a:ext cx="73152" cy="1444752"/>
          </a:xfrm>
          <a:prstGeom prst="rect">
            <a:avLst/>
          </a:prstGeom>
          <a:solidFill>
            <a:srgbClr val="2563EB"/>
          </a:solidFill>
          <a:ln w="12700">
            <a:solidFill>
              <a:srgbClr val="2563EB"/>
            </a:solidFill>
            <a:prstDash val="solid"/>
          </a:ln>
        </p:spPr>
        <p:txBody>
          <a:bodyPr/>
          <a:lstStyle/>
          <a:p>
            <a:endParaRPr lang="en-GB"/>
          </a:p>
        </p:txBody>
      </p:sp>
      <p:sp>
        <p:nvSpPr>
          <p:cNvPr id="15" name="Text 13"/>
          <p:cNvSpPr/>
          <p:nvPr/>
        </p:nvSpPr>
        <p:spPr>
          <a:xfrm>
            <a:off x="6528816" y="20756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pose_classifier.py</a:t>
            </a:r>
            <a:endParaRPr lang="en-US" sz="1020" dirty="0"/>
          </a:p>
        </p:txBody>
      </p:sp>
      <p:sp>
        <p:nvSpPr>
          <p:cNvPr id="16" name="Text 14"/>
          <p:cNvSpPr/>
          <p:nvPr/>
        </p:nvSpPr>
        <p:spPr>
          <a:xfrm>
            <a:off x="6528816" y="24414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Combines deterministic rules and trained scikit model with hysteresis.</a:t>
            </a:r>
            <a:endParaRPr lang="en-US" sz="820" dirty="0"/>
          </a:p>
        </p:txBody>
      </p:sp>
      <p:sp>
        <p:nvSpPr>
          <p:cNvPr id="17" name="Shape 15"/>
          <p:cNvSpPr/>
          <p:nvPr/>
        </p:nvSpPr>
        <p:spPr>
          <a:xfrm>
            <a:off x="9162288" y="18745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18" name="Shape 16"/>
          <p:cNvSpPr/>
          <p:nvPr/>
        </p:nvSpPr>
        <p:spPr>
          <a:xfrm>
            <a:off x="9162288" y="1874520"/>
            <a:ext cx="73152" cy="1444752"/>
          </a:xfrm>
          <a:prstGeom prst="rect">
            <a:avLst/>
          </a:prstGeom>
          <a:solidFill>
            <a:srgbClr val="F59E0B"/>
          </a:solidFill>
          <a:ln w="12700">
            <a:solidFill>
              <a:srgbClr val="F59E0B"/>
            </a:solidFill>
            <a:prstDash val="solid"/>
          </a:ln>
        </p:spPr>
        <p:txBody>
          <a:bodyPr/>
          <a:lstStyle/>
          <a:p>
            <a:endParaRPr lang="en-GB"/>
          </a:p>
        </p:txBody>
      </p:sp>
      <p:sp>
        <p:nvSpPr>
          <p:cNvPr id="19" name="Text 17"/>
          <p:cNvSpPr/>
          <p:nvPr/>
        </p:nvSpPr>
        <p:spPr>
          <a:xfrm>
            <a:off x="9363456" y="20756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stroke_detector.py</a:t>
            </a:r>
            <a:endParaRPr lang="en-US" sz="1020" dirty="0"/>
          </a:p>
        </p:txBody>
      </p:sp>
      <p:sp>
        <p:nvSpPr>
          <p:cNvPr id="20" name="Text 18"/>
          <p:cNvSpPr/>
          <p:nvPr/>
        </p:nvSpPr>
        <p:spPr>
          <a:xfrm>
            <a:off x="9363456" y="24414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Detects persistent facial/arm asymmetry, collapse, freezing, deterioration.</a:t>
            </a:r>
            <a:endParaRPr lang="en-US" sz="820" dirty="0"/>
          </a:p>
        </p:txBody>
      </p:sp>
      <p:sp>
        <p:nvSpPr>
          <p:cNvPr id="21" name="Shape 19"/>
          <p:cNvSpPr/>
          <p:nvPr/>
        </p:nvSpPr>
        <p:spPr>
          <a:xfrm>
            <a:off x="658368" y="37033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22" name="Shape 20"/>
          <p:cNvSpPr/>
          <p:nvPr/>
        </p:nvSpPr>
        <p:spPr>
          <a:xfrm>
            <a:off x="658368" y="3703320"/>
            <a:ext cx="73152" cy="1444752"/>
          </a:xfrm>
          <a:prstGeom prst="rect">
            <a:avLst/>
          </a:prstGeom>
          <a:solidFill>
            <a:srgbClr val="E6395A"/>
          </a:solidFill>
          <a:ln w="12700">
            <a:solidFill>
              <a:srgbClr val="E6395A"/>
            </a:solidFill>
            <a:prstDash val="solid"/>
          </a:ln>
        </p:spPr>
        <p:txBody>
          <a:bodyPr/>
          <a:lstStyle/>
          <a:p>
            <a:endParaRPr lang="en-GB"/>
          </a:p>
        </p:txBody>
      </p:sp>
      <p:sp>
        <p:nvSpPr>
          <p:cNvPr id="23" name="Text 21"/>
          <p:cNvSpPr/>
          <p:nvPr/>
        </p:nvSpPr>
        <p:spPr>
          <a:xfrm>
            <a:off x="859536" y="39044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emergency_engine.py</a:t>
            </a:r>
            <a:endParaRPr lang="en-US" sz="1020" dirty="0"/>
          </a:p>
        </p:txBody>
      </p:sp>
      <p:sp>
        <p:nvSpPr>
          <p:cNvPr id="24" name="Text 22"/>
          <p:cNvSpPr/>
          <p:nvPr/>
        </p:nvSpPr>
        <p:spPr>
          <a:xfrm>
            <a:off x="859536" y="42702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Turns pose + risk + sensor state into conservative emergency reasons.</a:t>
            </a:r>
            <a:endParaRPr lang="en-US" sz="820" dirty="0"/>
          </a:p>
        </p:txBody>
      </p:sp>
      <p:sp>
        <p:nvSpPr>
          <p:cNvPr id="25" name="Shape 23"/>
          <p:cNvSpPr/>
          <p:nvPr/>
        </p:nvSpPr>
        <p:spPr>
          <a:xfrm>
            <a:off x="3493008" y="37033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26" name="Shape 24"/>
          <p:cNvSpPr/>
          <p:nvPr/>
        </p:nvSpPr>
        <p:spPr>
          <a:xfrm>
            <a:off x="3493008" y="3703320"/>
            <a:ext cx="73152" cy="1444752"/>
          </a:xfrm>
          <a:prstGeom prst="rect">
            <a:avLst/>
          </a:prstGeom>
          <a:solidFill>
            <a:srgbClr val="7C3AED"/>
          </a:solidFill>
          <a:ln w="12700">
            <a:solidFill>
              <a:srgbClr val="7C3AED"/>
            </a:solidFill>
            <a:prstDash val="solid"/>
          </a:ln>
        </p:spPr>
        <p:txBody>
          <a:bodyPr/>
          <a:lstStyle/>
          <a:p>
            <a:endParaRPr lang="en-GB"/>
          </a:p>
        </p:txBody>
      </p:sp>
      <p:sp>
        <p:nvSpPr>
          <p:cNvPr id="27" name="Text 25"/>
          <p:cNvSpPr/>
          <p:nvPr/>
        </p:nvSpPr>
        <p:spPr>
          <a:xfrm>
            <a:off x="3694176" y="39044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telemetry_client.py</a:t>
            </a:r>
            <a:endParaRPr lang="en-US" sz="1020" dirty="0"/>
          </a:p>
        </p:txBody>
      </p:sp>
      <p:sp>
        <p:nvSpPr>
          <p:cNvPr id="28" name="Text 26"/>
          <p:cNvSpPr/>
          <p:nvPr/>
        </p:nvSpPr>
        <p:spPr>
          <a:xfrm>
            <a:off x="3694176" y="42702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Uploads readings with X-API-Key and retry spool when webapp is offline.</a:t>
            </a:r>
            <a:endParaRPr lang="en-US" sz="820" dirty="0"/>
          </a:p>
        </p:txBody>
      </p:sp>
      <p:sp>
        <p:nvSpPr>
          <p:cNvPr id="29" name="Shape 27"/>
          <p:cNvSpPr/>
          <p:nvPr/>
        </p:nvSpPr>
        <p:spPr>
          <a:xfrm>
            <a:off x="6327648" y="37033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30" name="Shape 28"/>
          <p:cNvSpPr/>
          <p:nvPr/>
        </p:nvSpPr>
        <p:spPr>
          <a:xfrm>
            <a:off x="6327648" y="3703320"/>
            <a:ext cx="73152" cy="1444752"/>
          </a:xfrm>
          <a:prstGeom prst="rect">
            <a:avLst/>
          </a:prstGeom>
          <a:solidFill>
            <a:srgbClr val="0EA5E9"/>
          </a:solidFill>
          <a:ln w="12700">
            <a:solidFill>
              <a:srgbClr val="0EA5E9"/>
            </a:solidFill>
            <a:prstDash val="solid"/>
          </a:ln>
        </p:spPr>
        <p:txBody>
          <a:bodyPr/>
          <a:lstStyle/>
          <a:p>
            <a:endParaRPr lang="en-GB"/>
          </a:p>
        </p:txBody>
      </p:sp>
      <p:sp>
        <p:nvSpPr>
          <p:cNvPr id="31" name="Text 29"/>
          <p:cNvSpPr/>
          <p:nvPr/>
        </p:nvSpPr>
        <p:spPr>
          <a:xfrm>
            <a:off x="6528816" y="39044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ai_module.py</a:t>
            </a:r>
            <a:endParaRPr lang="en-US" sz="1020" dirty="0"/>
          </a:p>
        </p:txBody>
      </p:sp>
      <p:sp>
        <p:nvSpPr>
          <p:cNvPr id="32" name="Text 30"/>
          <p:cNvSpPr/>
          <p:nvPr/>
        </p:nvSpPr>
        <p:spPr>
          <a:xfrm>
            <a:off x="6528816" y="42702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Local Llama/Ollama summarizes evidence; it does not override decisions.</a:t>
            </a:r>
            <a:endParaRPr lang="en-US" sz="820" dirty="0"/>
          </a:p>
        </p:txBody>
      </p:sp>
      <p:sp>
        <p:nvSpPr>
          <p:cNvPr id="33" name="Shape 31"/>
          <p:cNvSpPr/>
          <p:nvPr/>
        </p:nvSpPr>
        <p:spPr>
          <a:xfrm>
            <a:off x="9162288" y="3703320"/>
            <a:ext cx="2514600" cy="1444752"/>
          </a:xfrm>
          <a:prstGeom prst="roundRect">
            <a:avLst>
              <a:gd name="adj" fmla="val 11392"/>
            </a:avLst>
          </a:prstGeom>
          <a:solidFill>
            <a:srgbClr val="FFFFFF"/>
          </a:solidFill>
          <a:ln w="12700">
            <a:solidFill>
              <a:srgbClr val="E2E8F0"/>
            </a:solidFill>
            <a:prstDash val="solid"/>
          </a:ln>
        </p:spPr>
        <p:txBody>
          <a:bodyPr/>
          <a:lstStyle/>
          <a:p>
            <a:endParaRPr lang="en-GB"/>
          </a:p>
        </p:txBody>
      </p:sp>
      <p:sp>
        <p:nvSpPr>
          <p:cNvPr id="34" name="Shape 32"/>
          <p:cNvSpPr/>
          <p:nvPr/>
        </p:nvSpPr>
        <p:spPr>
          <a:xfrm>
            <a:off x="9162288" y="3703320"/>
            <a:ext cx="73152" cy="1444752"/>
          </a:xfrm>
          <a:prstGeom prst="rect">
            <a:avLst/>
          </a:prstGeom>
          <a:solidFill>
            <a:srgbClr val="334155"/>
          </a:solidFill>
          <a:ln w="12700">
            <a:solidFill>
              <a:srgbClr val="334155"/>
            </a:solidFill>
            <a:prstDash val="solid"/>
          </a:ln>
        </p:spPr>
        <p:txBody>
          <a:bodyPr/>
          <a:lstStyle/>
          <a:p>
            <a:endParaRPr lang="en-GB"/>
          </a:p>
        </p:txBody>
      </p:sp>
      <p:sp>
        <p:nvSpPr>
          <p:cNvPr id="35" name="Text 33"/>
          <p:cNvSpPr/>
          <p:nvPr/>
        </p:nvSpPr>
        <p:spPr>
          <a:xfrm>
            <a:off x="9363456" y="3904488"/>
            <a:ext cx="2084832" cy="201168"/>
          </a:xfrm>
          <a:prstGeom prst="rect">
            <a:avLst/>
          </a:prstGeom>
          <a:noFill/>
          <a:ln/>
        </p:spPr>
        <p:txBody>
          <a:bodyPr wrap="square" lIns="0" tIns="0" rIns="0" bIns="0" rtlCol="0" anchor="ctr">
            <a:normAutofit/>
          </a:bodyPr>
          <a:lstStyle/>
          <a:p>
            <a:pPr marL="0" indent="0">
              <a:buNone/>
            </a:pPr>
            <a:r>
              <a:rPr lang="en-US" sz="1020" b="1" dirty="0">
                <a:solidFill>
                  <a:srgbClr val="111827"/>
                </a:solidFill>
                <a:latin typeface="Aptos" pitchFamily="34" charset="0"/>
                <a:ea typeface="Aptos" pitchFamily="34" charset="-122"/>
                <a:cs typeface="Aptos" pitchFamily="34" charset="-120"/>
              </a:rPr>
              <a:t>webapp/app.py</a:t>
            </a:r>
            <a:endParaRPr lang="en-US" sz="1020" dirty="0"/>
          </a:p>
        </p:txBody>
      </p:sp>
      <p:sp>
        <p:nvSpPr>
          <p:cNvPr id="36" name="Text 34"/>
          <p:cNvSpPr/>
          <p:nvPr/>
        </p:nvSpPr>
        <p:spPr>
          <a:xfrm>
            <a:off x="9363456" y="4270248"/>
            <a:ext cx="2057400" cy="566928"/>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Aptos" pitchFamily="34" charset="0"/>
                <a:ea typeface="Aptos" pitchFamily="34" charset="-122"/>
                <a:cs typeface="Aptos" pitchFamily="34" charset="-120"/>
              </a:rPr>
              <a:t>Receives readings, stores SQLite records, shows dashboard, audit, SOS.</a:t>
            </a:r>
            <a:endParaRPr lang="en-US" sz="820" dirty="0"/>
          </a:p>
        </p:txBody>
      </p:sp>
      <p:sp>
        <p:nvSpPr>
          <p:cNvPr id="37" name="Shape 35"/>
          <p:cNvSpPr/>
          <p:nvPr/>
        </p:nvSpPr>
        <p:spPr>
          <a:xfrm>
            <a:off x="658368" y="5715000"/>
            <a:ext cx="10881360" cy="502920"/>
          </a:xfrm>
          <a:prstGeom prst="roundRect">
            <a:avLst>
              <a:gd name="adj" fmla="val 25455"/>
            </a:avLst>
          </a:prstGeom>
          <a:solidFill>
            <a:srgbClr val="E0F2FE"/>
          </a:solidFill>
          <a:ln w="12700">
            <a:solidFill>
              <a:srgbClr val="BAE6FD"/>
            </a:solidFill>
            <a:prstDash val="solid"/>
          </a:ln>
        </p:spPr>
        <p:txBody>
          <a:bodyPr/>
          <a:lstStyle/>
          <a:p>
            <a:endParaRPr lang="en-GB"/>
          </a:p>
        </p:txBody>
      </p:sp>
      <p:sp>
        <p:nvSpPr>
          <p:cNvPr id="38" name="Text 36"/>
          <p:cNvSpPr/>
          <p:nvPr/>
        </p:nvSpPr>
        <p:spPr>
          <a:xfrm>
            <a:off x="868680" y="5897880"/>
            <a:ext cx="10332720" cy="109728"/>
          </a:xfrm>
          <a:prstGeom prst="rect">
            <a:avLst/>
          </a:prstGeom>
          <a:noFill/>
          <a:ln/>
        </p:spPr>
        <p:txBody>
          <a:bodyPr wrap="square" lIns="0" tIns="0" rIns="0" bIns="0" rtlCol="0" anchor="ctr">
            <a:normAutofit/>
          </a:bodyPr>
          <a:lstStyle/>
          <a:p>
            <a:pPr marL="0" indent="0">
              <a:buNone/>
            </a:pPr>
            <a:r>
              <a:rPr lang="en-US" sz="940" b="1" dirty="0">
                <a:solidFill>
                  <a:srgbClr val="075985"/>
                </a:solidFill>
                <a:latin typeface="Aptos" pitchFamily="34" charset="0"/>
                <a:ea typeface="Aptos" pitchFamily="34" charset="-122"/>
                <a:cs typeface="Aptos" pitchFamily="34" charset="-120"/>
              </a:rPr>
              <a:t>Flow: capture → landmarks → normalized features → pose/risk engines → local JSON API → dashboard history + caregiver action.</a:t>
            </a:r>
            <a:endParaRPr lang="en-US" sz="940" dirty="0"/>
          </a:p>
        </p:txBody>
      </p:sp>
      <p:sp>
        <p:nvSpPr>
          <p:cNvPr id="39" name="Shape 37"/>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40" name="Text 38"/>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Development process / modules</a:t>
            </a:r>
            <a:endParaRPr lang="en-US" sz="680" dirty="0"/>
          </a:p>
        </p:txBody>
      </p:sp>
      <p:sp>
        <p:nvSpPr>
          <p:cNvPr id="41" name="Text 39"/>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MATHS + AI METHOD</a:t>
            </a:r>
            <a:endParaRPr lang="en-US" sz="850" dirty="0"/>
          </a:p>
        </p:txBody>
      </p:sp>
      <p:sp>
        <p:nvSpPr>
          <p:cNvPr id="3" name="Text 1"/>
          <p:cNvSpPr/>
          <p:nvPr/>
        </p:nvSpPr>
        <p:spPr>
          <a:xfrm>
            <a:off x="566928" y="658368"/>
            <a:ext cx="8641080" cy="594360"/>
          </a:xfrm>
          <a:prstGeom prst="rect">
            <a:avLst/>
          </a:prstGeom>
          <a:noFill/>
          <a:ln/>
        </p:spPr>
        <p:txBody>
          <a:bodyPr wrap="square" lIns="0" tIns="0" rIns="0" bIns="0" rtlCol="0" anchor="ctr">
            <a:normAutofit fontScale="77500" lnSpcReduction="20000"/>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Enhanced maths: body-normalized pose and movement evidence</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Raw image coordinates are unreliable across camera distance, height, and body size; the final branch uses normalized geometry and persistence.</a:t>
            </a:r>
            <a:endParaRPr lang="en-US" sz="1240" dirty="0"/>
          </a:p>
        </p:txBody>
      </p:sp>
      <p:sp>
        <p:nvSpPr>
          <p:cNvPr id="5" name="Shape 3"/>
          <p:cNvSpPr/>
          <p:nvPr/>
        </p:nvSpPr>
        <p:spPr>
          <a:xfrm>
            <a:off x="658368" y="1783080"/>
            <a:ext cx="5623560" cy="3931920"/>
          </a:xfrm>
          <a:prstGeom prst="roundRect">
            <a:avLst>
              <a:gd name="adj" fmla="val 4186"/>
            </a:avLst>
          </a:prstGeom>
          <a:solidFill>
            <a:srgbClr val="FFFFFF"/>
          </a:solidFill>
          <a:ln w="12700">
            <a:solidFill>
              <a:srgbClr val="DDE6F2"/>
            </a:solidFill>
            <a:prstDash val="solid"/>
          </a:ln>
        </p:spPr>
        <p:txBody>
          <a:bodyPr/>
          <a:lstStyle/>
          <a:p>
            <a:endParaRPr lang="en-GB"/>
          </a:p>
        </p:txBody>
      </p:sp>
      <p:pic>
        <p:nvPicPr>
          <p:cNvPr id="6" name="Image 0" descr="/mnt/data/careagent_assets/pose_math_code.png"/>
          <p:cNvPicPr>
            <a:picLocks noChangeAspect="1"/>
          </p:cNvPicPr>
          <p:nvPr/>
        </p:nvPicPr>
        <p:blipFill>
          <a:blip r:embed="rId3"/>
          <a:stretch>
            <a:fillRect/>
          </a:stretch>
        </p:blipFill>
        <p:spPr>
          <a:xfrm>
            <a:off x="1398042" y="2185416"/>
            <a:ext cx="4144213" cy="3447288"/>
          </a:xfrm>
          <a:prstGeom prst="rect">
            <a:avLst/>
          </a:prstGeom>
        </p:spPr>
      </p:pic>
      <p:sp>
        <p:nvSpPr>
          <p:cNvPr id="7" name="Text 4"/>
          <p:cNvSpPr/>
          <p:nvPr/>
        </p:nvSpPr>
        <p:spPr>
          <a:xfrm>
            <a:off x="804672" y="1883664"/>
            <a:ext cx="533095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Core feature extraction idea</a:t>
            </a:r>
            <a:endParaRPr lang="en-US" sz="820" dirty="0"/>
          </a:p>
        </p:txBody>
      </p:sp>
      <p:sp>
        <p:nvSpPr>
          <p:cNvPr id="8" name="Shape 5"/>
          <p:cNvSpPr/>
          <p:nvPr/>
        </p:nvSpPr>
        <p:spPr>
          <a:xfrm>
            <a:off x="6537960" y="1783080"/>
            <a:ext cx="4800600" cy="3931920"/>
          </a:xfrm>
          <a:prstGeom prst="roundRect">
            <a:avLst>
              <a:gd name="adj" fmla="val 4186"/>
            </a:avLst>
          </a:prstGeom>
          <a:solidFill>
            <a:srgbClr val="FFFFFF"/>
          </a:solidFill>
          <a:ln w="12700">
            <a:solidFill>
              <a:srgbClr val="DDE6F2"/>
            </a:solidFill>
            <a:prstDash val="solid"/>
          </a:ln>
        </p:spPr>
        <p:txBody>
          <a:bodyPr/>
          <a:lstStyle/>
          <a:p>
            <a:endParaRPr lang="en-GB"/>
          </a:p>
        </p:txBody>
      </p:sp>
      <p:sp>
        <p:nvSpPr>
          <p:cNvPr id="9" name="Text 6"/>
          <p:cNvSpPr/>
          <p:nvPr/>
        </p:nvSpPr>
        <p:spPr>
          <a:xfrm>
            <a:off x="6812280" y="2057400"/>
            <a:ext cx="4023360" cy="274320"/>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Why the math was improved</a:t>
            </a:r>
            <a:endParaRPr lang="en-US" sz="2000" dirty="0"/>
          </a:p>
        </p:txBody>
      </p:sp>
      <p:sp>
        <p:nvSpPr>
          <p:cNvPr id="10" name="Shape 7"/>
          <p:cNvSpPr/>
          <p:nvPr/>
        </p:nvSpPr>
        <p:spPr>
          <a:xfrm>
            <a:off x="6839712" y="2724912"/>
            <a:ext cx="73152" cy="73152"/>
          </a:xfrm>
          <a:prstGeom prst="ellipse">
            <a:avLst/>
          </a:prstGeom>
          <a:solidFill>
            <a:srgbClr val="2563EB"/>
          </a:solidFill>
          <a:ln w="12700">
            <a:solidFill>
              <a:srgbClr val="2563EB"/>
            </a:solidFill>
            <a:prstDash val="solid"/>
          </a:ln>
        </p:spPr>
        <p:txBody>
          <a:bodyPr/>
          <a:lstStyle/>
          <a:p>
            <a:endParaRPr lang="en-GB"/>
          </a:p>
        </p:txBody>
      </p:sp>
      <p:sp>
        <p:nvSpPr>
          <p:cNvPr id="11" name="Text 8"/>
          <p:cNvSpPr/>
          <p:nvPr/>
        </p:nvSpPr>
        <p:spPr>
          <a:xfrm>
            <a:off x="7022592" y="2651760"/>
            <a:ext cx="4069080" cy="329184"/>
          </a:xfrm>
          <a:prstGeom prst="rect">
            <a:avLst/>
          </a:prstGeom>
          <a:noFill/>
          <a:ln/>
        </p:spPr>
        <p:txBody>
          <a:bodyPr wrap="square" lIns="0" tIns="0" rIns="0" bIns="0" rtlCol="0" anchor="ctr">
            <a:normAutofit/>
          </a:bodyPr>
          <a:lstStyle/>
          <a:p>
            <a:pPr marL="0" indent="0">
              <a:buNone/>
            </a:pPr>
            <a:r>
              <a:rPr lang="en-US" sz="1020" dirty="0">
                <a:solidFill>
                  <a:srgbClr val="111827"/>
                </a:solidFill>
                <a:latin typeface="Aptos" pitchFamily="34" charset="0"/>
                <a:ea typeface="Aptos" pitchFamily="34" charset="-122"/>
                <a:cs typeface="Aptos" pitchFamily="34" charset="-120"/>
              </a:rPr>
              <a:t>Body-scale normalization reduces false alarms when the person stands nearer or farther from the camera.</a:t>
            </a:r>
            <a:endParaRPr lang="en-US" sz="1020" dirty="0"/>
          </a:p>
        </p:txBody>
      </p:sp>
      <p:sp>
        <p:nvSpPr>
          <p:cNvPr id="12" name="Shape 9"/>
          <p:cNvSpPr/>
          <p:nvPr/>
        </p:nvSpPr>
        <p:spPr>
          <a:xfrm>
            <a:off x="6839712" y="3182112"/>
            <a:ext cx="73152" cy="73152"/>
          </a:xfrm>
          <a:prstGeom prst="ellipse">
            <a:avLst/>
          </a:prstGeom>
          <a:solidFill>
            <a:srgbClr val="2563EB"/>
          </a:solidFill>
          <a:ln w="12700">
            <a:solidFill>
              <a:srgbClr val="2563EB"/>
            </a:solidFill>
            <a:prstDash val="solid"/>
          </a:ln>
        </p:spPr>
        <p:txBody>
          <a:bodyPr/>
          <a:lstStyle/>
          <a:p>
            <a:endParaRPr lang="en-GB"/>
          </a:p>
        </p:txBody>
      </p:sp>
      <p:sp>
        <p:nvSpPr>
          <p:cNvPr id="13" name="Text 10"/>
          <p:cNvSpPr/>
          <p:nvPr/>
        </p:nvSpPr>
        <p:spPr>
          <a:xfrm>
            <a:off x="7022592" y="3108960"/>
            <a:ext cx="4069080" cy="329184"/>
          </a:xfrm>
          <a:prstGeom prst="rect">
            <a:avLst/>
          </a:prstGeom>
          <a:noFill/>
          <a:ln/>
        </p:spPr>
        <p:txBody>
          <a:bodyPr wrap="square" lIns="0" tIns="0" rIns="0" bIns="0" rtlCol="0" anchor="ctr">
            <a:normAutofit/>
          </a:bodyPr>
          <a:lstStyle/>
          <a:p>
            <a:pPr marL="0" indent="0">
              <a:buNone/>
            </a:pPr>
            <a:r>
              <a:rPr lang="en-US" sz="1020" dirty="0">
                <a:solidFill>
                  <a:srgbClr val="111827"/>
                </a:solidFill>
                <a:latin typeface="Aptos" pitchFamily="34" charset="0"/>
                <a:ea typeface="Aptos" pitchFamily="34" charset="-122"/>
                <a:cs typeface="Aptos" pitchFamily="34" charset="-120"/>
              </a:rPr>
              <a:t>Visibility and pose-quality checks reject weak frames instead of forcing a label.</a:t>
            </a:r>
            <a:endParaRPr lang="en-US" sz="1020" dirty="0"/>
          </a:p>
        </p:txBody>
      </p:sp>
      <p:sp>
        <p:nvSpPr>
          <p:cNvPr id="14" name="Shape 11"/>
          <p:cNvSpPr/>
          <p:nvPr/>
        </p:nvSpPr>
        <p:spPr>
          <a:xfrm>
            <a:off x="6839712" y="3639312"/>
            <a:ext cx="73152" cy="73152"/>
          </a:xfrm>
          <a:prstGeom prst="ellipse">
            <a:avLst/>
          </a:prstGeom>
          <a:solidFill>
            <a:srgbClr val="2563EB"/>
          </a:solidFill>
          <a:ln w="12700">
            <a:solidFill>
              <a:srgbClr val="2563EB"/>
            </a:solidFill>
            <a:prstDash val="solid"/>
          </a:ln>
        </p:spPr>
        <p:txBody>
          <a:bodyPr/>
          <a:lstStyle/>
          <a:p>
            <a:endParaRPr lang="en-GB"/>
          </a:p>
        </p:txBody>
      </p:sp>
      <p:sp>
        <p:nvSpPr>
          <p:cNvPr id="15" name="Text 12"/>
          <p:cNvSpPr/>
          <p:nvPr/>
        </p:nvSpPr>
        <p:spPr>
          <a:xfrm>
            <a:off x="7022592" y="3566160"/>
            <a:ext cx="4069080" cy="329184"/>
          </a:xfrm>
          <a:prstGeom prst="rect">
            <a:avLst/>
          </a:prstGeom>
          <a:noFill/>
          <a:ln/>
        </p:spPr>
        <p:txBody>
          <a:bodyPr wrap="square" lIns="0" tIns="0" rIns="0" bIns="0" rtlCol="0" anchor="ctr">
            <a:normAutofit/>
          </a:bodyPr>
          <a:lstStyle/>
          <a:p>
            <a:pPr marL="0" indent="0">
              <a:buNone/>
            </a:pPr>
            <a:r>
              <a:rPr lang="en-US" sz="1020" dirty="0">
                <a:solidFill>
                  <a:srgbClr val="111827"/>
                </a:solidFill>
                <a:latin typeface="Aptos" pitchFamily="34" charset="0"/>
                <a:ea typeface="Aptos" pitchFamily="34" charset="-122"/>
                <a:cs typeface="Aptos" pitchFamily="34" charset="-120"/>
              </a:rPr>
              <a:t>Temporal history measures a real drop or freeze rather than relying on a single frame.</a:t>
            </a:r>
            <a:endParaRPr lang="en-US" sz="1020" dirty="0"/>
          </a:p>
        </p:txBody>
      </p:sp>
      <p:sp>
        <p:nvSpPr>
          <p:cNvPr id="16" name="Shape 13"/>
          <p:cNvSpPr/>
          <p:nvPr/>
        </p:nvSpPr>
        <p:spPr>
          <a:xfrm>
            <a:off x="6839712" y="4096512"/>
            <a:ext cx="73152" cy="73152"/>
          </a:xfrm>
          <a:prstGeom prst="ellipse">
            <a:avLst/>
          </a:prstGeom>
          <a:solidFill>
            <a:srgbClr val="2563EB"/>
          </a:solidFill>
          <a:ln w="12700">
            <a:solidFill>
              <a:srgbClr val="2563EB"/>
            </a:solidFill>
            <a:prstDash val="solid"/>
          </a:ln>
        </p:spPr>
        <p:txBody>
          <a:bodyPr/>
          <a:lstStyle/>
          <a:p>
            <a:endParaRPr lang="en-GB"/>
          </a:p>
        </p:txBody>
      </p:sp>
      <p:sp>
        <p:nvSpPr>
          <p:cNvPr id="17" name="Text 14"/>
          <p:cNvSpPr/>
          <p:nvPr/>
        </p:nvSpPr>
        <p:spPr>
          <a:xfrm>
            <a:off x="7022592" y="4023360"/>
            <a:ext cx="4069080" cy="329184"/>
          </a:xfrm>
          <a:prstGeom prst="rect">
            <a:avLst/>
          </a:prstGeom>
          <a:noFill/>
          <a:ln/>
        </p:spPr>
        <p:txBody>
          <a:bodyPr wrap="square" lIns="0" tIns="0" rIns="0" bIns="0" rtlCol="0" anchor="ctr">
            <a:normAutofit/>
          </a:bodyPr>
          <a:lstStyle/>
          <a:p>
            <a:pPr marL="0" indent="0">
              <a:buNone/>
            </a:pPr>
            <a:r>
              <a:rPr lang="en-US" sz="1020" dirty="0">
                <a:solidFill>
                  <a:srgbClr val="111827"/>
                </a:solidFill>
                <a:latin typeface="Aptos" pitchFamily="34" charset="0"/>
                <a:ea typeface="Aptos" pitchFamily="34" charset="-122"/>
                <a:cs typeface="Aptos" pitchFamily="34" charset="-120"/>
              </a:rPr>
              <a:t>Face and arm asymmetry are made conservative by requiring visible landmarks and persistence.</a:t>
            </a:r>
            <a:endParaRPr lang="en-US" sz="1020" dirty="0"/>
          </a:p>
        </p:txBody>
      </p:sp>
      <p:sp>
        <p:nvSpPr>
          <p:cNvPr id="18" name="Shape 15"/>
          <p:cNvSpPr/>
          <p:nvPr/>
        </p:nvSpPr>
        <p:spPr>
          <a:xfrm>
            <a:off x="6839712" y="4553712"/>
            <a:ext cx="73152" cy="73152"/>
          </a:xfrm>
          <a:prstGeom prst="ellipse">
            <a:avLst/>
          </a:prstGeom>
          <a:solidFill>
            <a:srgbClr val="2563EB"/>
          </a:solidFill>
          <a:ln w="12700">
            <a:solidFill>
              <a:srgbClr val="2563EB"/>
            </a:solidFill>
            <a:prstDash val="solid"/>
          </a:ln>
        </p:spPr>
        <p:txBody>
          <a:bodyPr/>
          <a:lstStyle/>
          <a:p>
            <a:endParaRPr lang="en-GB"/>
          </a:p>
        </p:txBody>
      </p:sp>
      <p:sp>
        <p:nvSpPr>
          <p:cNvPr id="19" name="Text 16"/>
          <p:cNvSpPr/>
          <p:nvPr/>
        </p:nvSpPr>
        <p:spPr>
          <a:xfrm>
            <a:off x="7022592" y="4480560"/>
            <a:ext cx="4069080" cy="329184"/>
          </a:xfrm>
          <a:prstGeom prst="rect">
            <a:avLst/>
          </a:prstGeom>
          <a:noFill/>
          <a:ln/>
        </p:spPr>
        <p:txBody>
          <a:bodyPr wrap="square" lIns="0" tIns="0" rIns="0" bIns="0" rtlCol="0" anchor="ctr">
            <a:normAutofit/>
          </a:bodyPr>
          <a:lstStyle/>
          <a:p>
            <a:pPr marL="0" indent="0">
              <a:buNone/>
            </a:pPr>
            <a:r>
              <a:rPr lang="en-US" sz="1020" dirty="0">
                <a:solidFill>
                  <a:srgbClr val="111827"/>
                </a:solidFill>
                <a:latin typeface="Aptos" pitchFamily="34" charset="0"/>
                <a:ea typeface="Aptos" pitchFamily="34" charset="-122"/>
                <a:cs typeface="Aptos" pitchFamily="34" charset="-120"/>
              </a:rPr>
              <a:t>Final decision uses a rule/model ensemble; local Llama only summarizes evidence.</a:t>
            </a:r>
            <a:endParaRPr lang="en-US" sz="1020" dirty="0"/>
          </a:p>
        </p:txBody>
      </p:sp>
      <p:sp>
        <p:nvSpPr>
          <p:cNvPr id="20" name="Shape 17"/>
          <p:cNvSpPr/>
          <p:nvPr/>
        </p:nvSpPr>
        <p:spPr>
          <a:xfrm>
            <a:off x="6812280" y="5074920"/>
            <a:ext cx="1005840" cy="292608"/>
          </a:xfrm>
          <a:prstGeom prst="roundRect">
            <a:avLst>
              <a:gd name="adj" fmla="val 50000"/>
            </a:avLst>
          </a:prstGeom>
          <a:solidFill>
            <a:srgbClr val="DBEAFE"/>
          </a:solidFill>
          <a:ln w="12700">
            <a:solidFill>
              <a:srgbClr val="DBEAFE"/>
            </a:solidFill>
            <a:prstDash val="solid"/>
          </a:ln>
        </p:spPr>
        <p:txBody>
          <a:bodyPr/>
          <a:lstStyle/>
          <a:p>
            <a:endParaRPr lang="en-GB"/>
          </a:p>
        </p:txBody>
      </p:sp>
      <p:sp>
        <p:nvSpPr>
          <p:cNvPr id="21" name="Text 18"/>
          <p:cNvSpPr/>
          <p:nvPr/>
        </p:nvSpPr>
        <p:spPr>
          <a:xfrm>
            <a:off x="6885432" y="5138928"/>
            <a:ext cx="859536" cy="137160"/>
          </a:xfrm>
          <a:prstGeom prst="rect">
            <a:avLst/>
          </a:prstGeom>
          <a:noFill/>
          <a:ln/>
        </p:spPr>
        <p:txBody>
          <a:bodyPr wrap="square" lIns="0" tIns="0" rIns="0" bIns="0" rtlCol="0" anchor="ctr">
            <a:normAutofit/>
          </a:bodyPr>
          <a:lstStyle/>
          <a:p>
            <a:pPr marL="0" indent="0" algn="ctr">
              <a:buNone/>
            </a:pPr>
            <a:r>
              <a:rPr lang="en-US" sz="730" b="1" dirty="0">
                <a:solidFill>
                  <a:srgbClr val="2563EB"/>
                </a:solidFill>
                <a:latin typeface="Aptos" pitchFamily="34" charset="0"/>
                <a:ea typeface="Aptos" pitchFamily="34" charset="-122"/>
                <a:cs typeface="Aptos" pitchFamily="34" charset="-120"/>
              </a:rPr>
              <a:t>torso tilt</a:t>
            </a:r>
            <a:endParaRPr lang="en-US" sz="730" dirty="0"/>
          </a:p>
        </p:txBody>
      </p:sp>
      <p:sp>
        <p:nvSpPr>
          <p:cNvPr id="22" name="Shape 19"/>
          <p:cNvSpPr/>
          <p:nvPr/>
        </p:nvSpPr>
        <p:spPr>
          <a:xfrm>
            <a:off x="7973568" y="5074920"/>
            <a:ext cx="1234440" cy="292608"/>
          </a:xfrm>
          <a:prstGeom prst="roundRect">
            <a:avLst>
              <a:gd name="adj" fmla="val 50000"/>
            </a:avLst>
          </a:prstGeom>
          <a:solidFill>
            <a:srgbClr val="D1FAE5"/>
          </a:solidFill>
          <a:ln w="12700">
            <a:solidFill>
              <a:srgbClr val="D1FAE5"/>
            </a:solidFill>
            <a:prstDash val="solid"/>
          </a:ln>
        </p:spPr>
        <p:txBody>
          <a:bodyPr/>
          <a:lstStyle/>
          <a:p>
            <a:endParaRPr lang="en-GB"/>
          </a:p>
        </p:txBody>
      </p:sp>
      <p:sp>
        <p:nvSpPr>
          <p:cNvPr id="23" name="Text 20"/>
          <p:cNvSpPr/>
          <p:nvPr/>
        </p:nvSpPr>
        <p:spPr>
          <a:xfrm>
            <a:off x="8046720" y="5138928"/>
            <a:ext cx="1088136" cy="137160"/>
          </a:xfrm>
          <a:prstGeom prst="rect">
            <a:avLst/>
          </a:prstGeom>
          <a:noFill/>
          <a:ln/>
        </p:spPr>
        <p:txBody>
          <a:bodyPr wrap="square" lIns="0" tIns="0" rIns="0" bIns="0" rtlCol="0" anchor="ctr">
            <a:normAutofit/>
          </a:bodyPr>
          <a:lstStyle/>
          <a:p>
            <a:pPr marL="0" indent="0" algn="ctr">
              <a:buNone/>
            </a:pPr>
            <a:r>
              <a:rPr lang="en-US" sz="730" b="1" dirty="0">
                <a:solidFill>
                  <a:srgbClr val="10B981"/>
                </a:solidFill>
                <a:latin typeface="Aptos" pitchFamily="34" charset="0"/>
                <a:ea typeface="Aptos" pitchFamily="34" charset="-122"/>
                <a:cs typeface="Aptos" pitchFamily="34" charset="-120"/>
              </a:rPr>
              <a:t>horizontal score</a:t>
            </a:r>
            <a:endParaRPr lang="en-US" sz="730" dirty="0"/>
          </a:p>
        </p:txBody>
      </p:sp>
      <p:sp>
        <p:nvSpPr>
          <p:cNvPr id="24" name="Shape 21"/>
          <p:cNvSpPr/>
          <p:nvPr/>
        </p:nvSpPr>
        <p:spPr>
          <a:xfrm>
            <a:off x="9372600" y="5074920"/>
            <a:ext cx="1051560" cy="292608"/>
          </a:xfrm>
          <a:prstGeom prst="roundRect">
            <a:avLst>
              <a:gd name="adj" fmla="val 50000"/>
            </a:avLst>
          </a:prstGeom>
          <a:solidFill>
            <a:srgbClr val="FFE4EC"/>
          </a:solidFill>
          <a:ln w="12700">
            <a:solidFill>
              <a:srgbClr val="FFE4EC"/>
            </a:solidFill>
            <a:prstDash val="solid"/>
          </a:ln>
        </p:spPr>
        <p:txBody>
          <a:bodyPr/>
          <a:lstStyle/>
          <a:p>
            <a:endParaRPr lang="en-GB"/>
          </a:p>
        </p:txBody>
      </p:sp>
      <p:sp>
        <p:nvSpPr>
          <p:cNvPr id="25" name="Text 22"/>
          <p:cNvSpPr/>
          <p:nvPr/>
        </p:nvSpPr>
        <p:spPr>
          <a:xfrm>
            <a:off x="9445752" y="5138928"/>
            <a:ext cx="905256" cy="137160"/>
          </a:xfrm>
          <a:prstGeom prst="rect">
            <a:avLst/>
          </a:prstGeom>
          <a:noFill/>
          <a:ln/>
        </p:spPr>
        <p:txBody>
          <a:bodyPr wrap="square" lIns="0" tIns="0" rIns="0" bIns="0" rtlCol="0" anchor="ctr">
            <a:normAutofit/>
          </a:bodyPr>
          <a:lstStyle/>
          <a:p>
            <a:pPr marL="0" indent="0" algn="ctr">
              <a:buNone/>
            </a:pPr>
            <a:r>
              <a:rPr lang="en-US" sz="730" b="1" dirty="0">
                <a:solidFill>
                  <a:srgbClr val="E6395A"/>
                </a:solidFill>
                <a:latin typeface="Aptos" pitchFamily="34" charset="0"/>
                <a:ea typeface="Aptos" pitchFamily="34" charset="-122"/>
                <a:cs typeface="Aptos" pitchFamily="34" charset="-120"/>
              </a:rPr>
              <a:t>recent drop</a:t>
            </a:r>
            <a:endParaRPr lang="en-US" sz="730" dirty="0"/>
          </a:p>
        </p:txBody>
      </p:sp>
      <p:sp>
        <p:nvSpPr>
          <p:cNvPr id="26" name="Shape 23"/>
          <p:cNvSpPr/>
          <p:nvPr/>
        </p:nvSpPr>
        <p:spPr>
          <a:xfrm>
            <a:off x="10561320" y="5074920"/>
            <a:ext cx="914400" cy="292608"/>
          </a:xfrm>
          <a:prstGeom prst="roundRect">
            <a:avLst>
              <a:gd name="adj" fmla="val 50000"/>
            </a:avLst>
          </a:prstGeom>
          <a:solidFill>
            <a:srgbClr val="FEF3C7"/>
          </a:solidFill>
          <a:ln w="12700">
            <a:solidFill>
              <a:srgbClr val="FEF3C7"/>
            </a:solidFill>
            <a:prstDash val="solid"/>
          </a:ln>
        </p:spPr>
        <p:txBody>
          <a:bodyPr/>
          <a:lstStyle/>
          <a:p>
            <a:endParaRPr lang="en-GB"/>
          </a:p>
        </p:txBody>
      </p:sp>
      <p:sp>
        <p:nvSpPr>
          <p:cNvPr id="27" name="Text 24"/>
          <p:cNvSpPr/>
          <p:nvPr/>
        </p:nvSpPr>
        <p:spPr>
          <a:xfrm>
            <a:off x="10634472" y="5138928"/>
            <a:ext cx="768096" cy="137160"/>
          </a:xfrm>
          <a:prstGeom prst="rect">
            <a:avLst/>
          </a:prstGeom>
          <a:noFill/>
          <a:ln/>
        </p:spPr>
        <p:txBody>
          <a:bodyPr wrap="square" lIns="0" tIns="0" rIns="0" bIns="0" rtlCol="0" anchor="ctr">
            <a:normAutofit/>
          </a:bodyPr>
          <a:lstStyle/>
          <a:p>
            <a:pPr marL="0" indent="0" algn="ctr">
              <a:buNone/>
            </a:pPr>
            <a:r>
              <a:rPr lang="en-US" sz="730" b="1" dirty="0">
                <a:solidFill>
                  <a:srgbClr val="F59E0B"/>
                </a:solidFill>
                <a:latin typeface="Aptos" pitchFamily="34" charset="0"/>
                <a:ea typeface="Aptos" pitchFamily="34" charset="-122"/>
                <a:cs typeface="Aptos" pitchFamily="34" charset="-120"/>
              </a:rPr>
              <a:t>pose quality</a:t>
            </a:r>
            <a:endParaRPr lang="en-US" sz="730" dirty="0"/>
          </a:p>
        </p:txBody>
      </p:sp>
      <p:sp>
        <p:nvSpPr>
          <p:cNvPr id="28" name="Text 25"/>
          <p:cNvSpPr/>
          <p:nvPr/>
        </p:nvSpPr>
        <p:spPr>
          <a:xfrm>
            <a:off x="658368" y="6199632"/>
            <a:ext cx="10698480" cy="146304"/>
          </a:xfrm>
          <a:prstGeom prst="rect">
            <a:avLst/>
          </a:prstGeom>
          <a:noFill/>
          <a:ln/>
        </p:spPr>
        <p:txBody>
          <a:bodyPr wrap="square" lIns="0" tIns="0" rIns="0" bIns="0" rtlCol="0" anchor="ctr">
            <a:normAutofit/>
          </a:bodyPr>
          <a:lstStyle/>
          <a:p>
            <a:pPr marL="0" indent="0">
              <a:buNone/>
            </a:pPr>
            <a:r>
              <a:rPr lang="en-US" sz="630" dirty="0">
                <a:solidFill>
                  <a:srgbClr val="6B7280"/>
                </a:solidFill>
                <a:latin typeface="Aptos" pitchFamily="34" charset="0"/>
                <a:ea typeface="Aptos" pitchFamily="34" charset="-122"/>
                <a:cs typeface="Aptos" pitchFamily="34" charset="-120"/>
              </a:rPr>
              <a:t>Reference basis: MediaPipe returns 33 pose landmarks with normalized image coordinates and world coordinates; scikit-learn RandomForestClassifier is used for the trained bootstrap model.</a:t>
            </a:r>
            <a:endParaRPr lang="en-US" sz="630" dirty="0"/>
          </a:p>
        </p:txBody>
      </p:sp>
      <p:sp>
        <p:nvSpPr>
          <p:cNvPr id="29" name="Shape 26"/>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30" name="Text 27"/>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Maths and AI method</a:t>
            </a:r>
            <a:endParaRPr lang="en-US" sz="680" dirty="0"/>
          </a:p>
        </p:txBody>
      </p:sp>
      <p:sp>
        <p:nvSpPr>
          <p:cNvPr id="31" name="Text 28"/>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TRAINING MODULE</a:t>
            </a:r>
            <a:endParaRPr lang="en-US" sz="850" dirty="0"/>
          </a:p>
        </p:txBody>
      </p:sp>
      <p:sp>
        <p:nvSpPr>
          <p:cNvPr id="3" name="Text 1"/>
          <p:cNvSpPr/>
          <p:nvPr/>
        </p:nvSpPr>
        <p:spPr>
          <a:xfrm>
            <a:off x="566928" y="658368"/>
            <a:ext cx="9599756"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Training module: learning samples for the pose classifier</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V3.0 includes a synthetic bootstrap dataset and training workflow so the scikit model can be tested and replaced with real RPi captures later.</a:t>
            </a:r>
            <a:endParaRPr lang="en-US" sz="1240" dirty="0"/>
          </a:p>
        </p:txBody>
      </p:sp>
      <p:sp>
        <p:nvSpPr>
          <p:cNvPr id="5" name="Shape 3"/>
          <p:cNvSpPr/>
          <p:nvPr/>
        </p:nvSpPr>
        <p:spPr>
          <a:xfrm>
            <a:off x="658368" y="1737360"/>
            <a:ext cx="3886200" cy="2057400"/>
          </a:xfrm>
          <a:prstGeom prst="roundRect">
            <a:avLst>
              <a:gd name="adj" fmla="val 8000"/>
            </a:avLst>
          </a:prstGeom>
          <a:solidFill>
            <a:srgbClr val="FFFFFF"/>
          </a:solidFill>
          <a:ln w="12700">
            <a:solidFill>
              <a:srgbClr val="DDE6F2"/>
            </a:solidFill>
            <a:prstDash val="solid"/>
          </a:ln>
        </p:spPr>
        <p:txBody>
          <a:bodyPr/>
          <a:lstStyle/>
          <a:p>
            <a:endParaRPr lang="en-GB"/>
          </a:p>
        </p:txBody>
      </p:sp>
      <p:pic>
        <p:nvPicPr>
          <p:cNvPr id="6" name="Image 0" descr="/mnt/data/careagent_assets/dataset_counts.png"/>
          <p:cNvPicPr>
            <a:picLocks noChangeAspect="1"/>
          </p:cNvPicPr>
          <p:nvPr/>
        </p:nvPicPr>
        <p:blipFill>
          <a:blip r:embed="rId3"/>
          <a:srcRect t="7118" b="7118"/>
          <a:stretch/>
        </p:blipFill>
        <p:spPr>
          <a:xfrm>
            <a:off x="740664" y="2139696"/>
            <a:ext cx="3721608" cy="1572768"/>
          </a:xfrm>
          <a:prstGeom prst="rect">
            <a:avLst/>
          </a:prstGeom>
        </p:spPr>
      </p:pic>
      <p:sp>
        <p:nvSpPr>
          <p:cNvPr id="7" name="Text 4"/>
          <p:cNvSpPr/>
          <p:nvPr/>
        </p:nvSpPr>
        <p:spPr>
          <a:xfrm>
            <a:off x="804672" y="1837944"/>
            <a:ext cx="359359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Learning samples generated</a:t>
            </a:r>
            <a:endParaRPr lang="en-US" sz="820" dirty="0"/>
          </a:p>
        </p:txBody>
      </p:sp>
      <p:sp>
        <p:nvSpPr>
          <p:cNvPr id="8" name="Shape 5"/>
          <p:cNvSpPr/>
          <p:nvPr/>
        </p:nvSpPr>
        <p:spPr>
          <a:xfrm>
            <a:off x="4800600" y="1737360"/>
            <a:ext cx="3429000" cy="2057400"/>
          </a:xfrm>
          <a:prstGeom prst="roundRect">
            <a:avLst>
              <a:gd name="adj" fmla="val 8000"/>
            </a:avLst>
          </a:prstGeom>
          <a:solidFill>
            <a:srgbClr val="FFFFFF"/>
          </a:solidFill>
          <a:ln w="12700">
            <a:solidFill>
              <a:srgbClr val="DDE6F2"/>
            </a:solidFill>
            <a:prstDash val="solid"/>
          </a:ln>
        </p:spPr>
        <p:txBody>
          <a:bodyPr/>
          <a:lstStyle/>
          <a:p>
            <a:endParaRPr lang="en-GB"/>
          </a:p>
        </p:txBody>
      </p:sp>
      <p:pic>
        <p:nvPicPr>
          <p:cNvPr id="9" name="Image 1" descr="/mnt/data/careagent_assets/feature_importance.png"/>
          <p:cNvPicPr>
            <a:picLocks noChangeAspect="1"/>
          </p:cNvPicPr>
          <p:nvPr/>
        </p:nvPicPr>
        <p:blipFill>
          <a:blip r:embed="rId4"/>
          <a:srcRect t="1334" b="1334"/>
          <a:stretch/>
        </p:blipFill>
        <p:spPr>
          <a:xfrm>
            <a:off x="4882896" y="2139696"/>
            <a:ext cx="3264408" cy="1572768"/>
          </a:xfrm>
          <a:prstGeom prst="rect">
            <a:avLst/>
          </a:prstGeom>
        </p:spPr>
      </p:pic>
      <p:sp>
        <p:nvSpPr>
          <p:cNvPr id="10" name="Text 6"/>
          <p:cNvSpPr/>
          <p:nvPr/>
        </p:nvSpPr>
        <p:spPr>
          <a:xfrm>
            <a:off x="4946904" y="1837944"/>
            <a:ext cx="313639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Most useful features</a:t>
            </a:r>
            <a:endParaRPr lang="en-US" sz="820" dirty="0"/>
          </a:p>
        </p:txBody>
      </p:sp>
      <p:sp>
        <p:nvSpPr>
          <p:cNvPr id="11" name="Shape 7"/>
          <p:cNvSpPr/>
          <p:nvPr/>
        </p:nvSpPr>
        <p:spPr>
          <a:xfrm>
            <a:off x="8485632" y="1737360"/>
            <a:ext cx="2834640" cy="2057400"/>
          </a:xfrm>
          <a:prstGeom prst="roundRect">
            <a:avLst>
              <a:gd name="adj" fmla="val 8000"/>
            </a:avLst>
          </a:prstGeom>
          <a:solidFill>
            <a:srgbClr val="FFFFFF"/>
          </a:solidFill>
          <a:ln w="12700">
            <a:solidFill>
              <a:srgbClr val="DDE6F2"/>
            </a:solidFill>
            <a:prstDash val="solid"/>
          </a:ln>
        </p:spPr>
        <p:txBody>
          <a:bodyPr/>
          <a:lstStyle/>
          <a:p>
            <a:endParaRPr lang="en-GB"/>
          </a:p>
        </p:txBody>
      </p:sp>
      <p:pic>
        <p:nvPicPr>
          <p:cNvPr id="12" name="Image 2" descr="/mnt/data/careagent_assets/confusion_matrix.png"/>
          <p:cNvPicPr>
            <a:picLocks noChangeAspect="1"/>
          </p:cNvPicPr>
          <p:nvPr/>
        </p:nvPicPr>
        <p:blipFill>
          <a:blip r:embed="rId5"/>
          <a:srcRect t="22752" b="22752"/>
          <a:stretch/>
        </p:blipFill>
        <p:spPr>
          <a:xfrm>
            <a:off x="8567928" y="2139696"/>
            <a:ext cx="2670048" cy="1709928"/>
          </a:xfrm>
          <a:prstGeom prst="rect">
            <a:avLst/>
          </a:prstGeom>
        </p:spPr>
      </p:pic>
      <p:sp>
        <p:nvSpPr>
          <p:cNvPr id="13" name="Text 8"/>
          <p:cNvSpPr/>
          <p:nvPr/>
        </p:nvSpPr>
        <p:spPr>
          <a:xfrm>
            <a:off x="8631936" y="1837944"/>
            <a:ext cx="254203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Holdout result</a:t>
            </a:r>
            <a:endParaRPr lang="en-US" sz="820" dirty="0"/>
          </a:p>
        </p:txBody>
      </p:sp>
      <p:sp>
        <p:nvSpPr>
          <p:cNvPr id="14" name="Shape 9"/>
          <p:cNvSpPr/>
          <p:nvPr/>
        </p:nvSpPr>
        <p:spPr>
          <a:xfrm>
            <a:off x="658368" y="4224528"/>
            <a:ext cx="5349240" cy="1572768"/>
          </a:xfrm>
          <a:prstGeom prst="roundRect">
            <a:avLst>
              <a:gd name="adj" fmla="val 10465"/>
            </a:avLst>
          </a:prstGeom>
          <a:solidFill>
            <a:srgbClr val="FFFFFF"/>
          </a:solidFill>
          <a:ln w="12700">
            <a:solidFill>
              <a:srgbClr val="DDE6F2"/>
            </a:solidFill>
            <a:prstDash val="solid"/>
          </a:ln>
        </p:spPr>
        <p:txBody>
          <a:bodyPr/>
          <a:lstStyle/>
          <a:p>
            <a:endParaRPr lang="en-GB"/>
          </a:p>
        </p:txBody>
      </p:sp>
      <p:sp>
        <p:nvSpPr>
          <p:cNvPr id="15" name="Text 10"/>
          <p:cNvSpPr/>
          <p:nvPr/>
        </p:nvSpPr>
        <p:spPr>
          <a:xfrm>
            <a:off x="914400" y="4443984"/>
            <a:ext cx="2560320" cy="219456"/>
          </a:xfrm>
          <a:prstGeom prst="rect">
            <a:avLst/>
          </a:prstGeom>
          <a:noFill/>
          <a:ln/>
        </p:spPr>
        <p:txBody>
          <a:bodyPr wrap="square" lIns="0" tIns="0" rIns="0" bIns="0" rtlCol="0" anchor="ctr"/>
          <a:lstStyle/>
          <a:p>
            <a:pPr marL="0" indent="0">
              <a:buNone/>
            </a:pPr>
            <a:r>
              <a:rPr lang="en-US" sz="1800" b="1" dirty="0">
                <a:solidFill>
                  <a:srgbClr val="111827"/>
                </a:solidFill>
                <a:latin typeface="Aptos Display" pitchFamily="34" charset="0"/>
                <a:ea typeface="Aptos Display" pitchFamily="34" charset="-122"/>
                <a:cs typeface="Aptos Display" pitchFamily="34" charset="-120"/>
              </a:rPr>
              <a:t>Dataset content</a:t>
            </a:r>
            <a:endParaRPr lang="en-US" sz="1800" dirty="0"/>
          </a:p>
        </p:txBody>
      </p:sp>
      <p:sp>
        <p:nvSpPr>
          <p:cNvPr id="16" name="Shape 11"/>
          <p:cNvSpPr/>
          <p:nvPr/>
        </p:nvSpPr>
        <p:spPr>
          <a:xfrm>
            <a:off x="932688" y="4873752"/>
            <a:ext cx="73152" cy="73152"/>
          </a:xfrm>
          <a:prstGeom prst="ellipse">
            <a:avLst/>
          </a:prstGeom>
          <a:solidFill>
            <a:srgbClr val="2563EB"/>
          </a:solidFill>
          <a:ln w="12700">
            <a:solidFill>
              <a:srgbClr val="2563EB"/>
            </a:solidFill>
            <a:prstDash val="solid"/>
          </a:ln>
        </p:spPr>
        <p:txBody>
          <a:bodyPr/>
          <a:lstStyle/>
          <a:p>
            <a:endParaRPr lang="en-GB"/>
          </a:p>
        </p:txBody>
      </p:sp>
      <p:sp>
        <p:nvSpPr>
          <p:cNvPr id="17" name="Text 12"/>
          <p:cNvSpPr/>
          <p:nvPr/>
        </p:nvSpPr>
        <p:spPr>
          <a:xfrm>
            <a:off x="1115568" y="4800600"/>
            <a:ext cx="466344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800 synthetic rows: 160 per class for STANDING, SITTING, LYING, FALLING, COLLAPSING.</a:t>
            </a:r>
            <a:endParaRPr lang="en-US" sz="880" dirty="0"/>
          </a:p>
        </p:txBody>
      </p:sp>
      <p:sp>
        <p:nvSpPr>
          <p:cNvPr id="18" name="Shape 13"/>
          <p:cNvSpPr/>
          <p:nvPr/>
        </p:nvSpPr>
        <p:spPr>
          <a:xfrm>
            <a:off x="932688" y="5175504"/>
            <a:ext cx="73152" cy="73152"/>
          </a:xfrm>
          <a:prstGeom prst="ellipse">
            <a:avLst/>
          </a:prstGeom>
          <a:solidFill>
            <a:srgbClr val="2563EB"/>
          </a:solidFill>
          <a:ln w="12700">
            <a:solidFill>
              <a:srgbClr val="2563EB"/>
            </a:solidFill>
            <a:prstDash val="solid"/>
          </a:ln>
        </p:spPr>
        <p:txBody>
          <a:bodyPr/>
          <a:lstStyle/>
          <a:p>
            <a:endParaRPr lang="en-GB"/>
          </a:p>
        </p:txBody>
      </p:sp>
      <p:sp>
        <p:nvSpPr>
          <p:cNvPr id="19" name="Text 14"/>
          <p:cNvSpPr/>
          <p:nvPr/>
        </p:nvSpPr>
        <p:spPr>
          <a:xfrm>
            <a:off x="1115568" y="5102352"/>
            <a:ext cx="466344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Feature version 2.1; generated with session bias and session-stratified split.</a:t>
            </a:r>
            <a:endParaRPr lang="en-US" sz="880" dirty="0"/>
          </a:p>
        </p:txBody>
      </p:sp>
      <p:sp>
        <p:nvSpPr>
          <p:cNvPr id="20" name="Shape 15"/>
          <p:cNvSpPr/>
          <p:nvPr/>
        </p:nvSpPr>
        <p:spPr>
          <a:xfrm>
            <a:off x="932688" y="5477256"/>
            <a:ext cx="73152" cy="73152"/>
          </a:xfrm>
          <a:prstGeom prst="ellipse">
            <a:avLst/>
          </a:prstGeom>
          <a:solidFill>
            <a:srgbClr val="2563EB"/>
          </a:solidFill>
          <a:ln w="12700">
            <a:solidFill>
              <a:srgbClr val="2563EB"/>
            </a:solidFill>
            <a:prstDash val="solid"/>
          </a:ln>
        </p:spPr>
        <p:txBody>
          <a:bodyPr/>
          <a:lstStyle/>
          <a:p>
            <a:endParaRPr lang="en-GB"/>
          </a:p>
        </p:txBody>
      </p:sp>
      <p:sp>
        <p:nvSpPr>
          <p:cNvPr id="21" name="Text 16"/>
          <p:cNvSpPr/>
          <p:nvPr/>
        </p:nvSpPr>
        <p:spPr>
          <a:xfrm>
            <a:off x="1115568" y="5404104"/>
            <a:ext cx="466344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Starter model saved as pose_classifier.joblib and report JSON.</a:t>
            </a:r>
            <a:endParaRPr lang="en-US" sz="880" dirty="0"/>
          </a:p>
        </p:txBody>
      </p:sp>
      <p:sp>
        <p:nvSpPr>
          <p:cNvPr id="22" name="Shape 17"/>
          <p:cNvSpPr/>
          <p:nvPr/>
        </p:nvSpPr>
        <p:spPr>
          <a:xfrm>
            <a:off x="6291072" y="4224528"/>
            <a:ext cx="5029200" cy="1572768"/>
          </a:xfrm>
          <a:prstGeom prst="roundRect">
            <a:avLst>
              <a:gd name="adj" fmla="val 10465"/>
            </a:avLst>
          </a:prstGeom>
          <a:solidFill>
            <a:srgbClr val="FFFFFF"/>
          </a:solidFill>
          <a:ln w="12700">
            <a:solidFill>
              <a:srgbClr val="DDE6F2"/>
            </a:solidFill>
            <a:prstDash val="solid"/>
          </a:ln>
        </p:spPr>
        <p:txBody>
          <a:bodyPr/>
          <a:lstStyle/>
          <a:p>
            <a:endParaRPr lang="en-GB"/>
          </a:p>
        </p:txBody>
      </p:sp>
      <p:sp>
        <p:nvSpPr>
          <p:cNvPr id="23" name="Text 18"/>
          <p:cNvSpPr/>
          <p:nvPr/>
        </p:nvSpPr>
        <p:spPr>
          <a:xfrm>
            <a:off x="6537960" y="4443984"/>
            <a:ext cx="3291840" cy="219456"/>
          </a:xfrm>
          <a:prstGeom prst="rect">
            <a:avLst/>
          </a:prstGeom>
          <a:noFill/>
          <a:ln/>
        </p:spPr>
        <p:txBody>
          <a:bodyPr wrap="square" lIns="0" tIns="0" rIns="0" bIns="0" rtlCol="0" anchor="ctr"/>
          <a:lstStyle/>
          <a:p>
            <a:pPr marL="0" indent="0">
              <a:buNone/>
            </a:pPr>
            <a:r>
              <a:rPr lang="en-US" sz="1800" b="1" dirty="0">
                <a:solidFill>
                  <a:srgbClr val="E6395A"/>
                </a:solidFill>
                <a:latin typeface="Aptos Display" pitchFamily="34" charset="0"/>
                <a:ea typeface="Aptos Display" pitchFamily="34" charset="-122"/>
                <a:cs typeface="Aptos Display" pitchFamily="34" charset="-120"/>
              </a:rPr>
              <a:t>Important training warning</a:t>
            </a:r>
            <a:endParaRPr lang="en-US" sz="1800" dirty="0"/>
          </a:p>
        </p:txBody>
      </p:sp>
      <p:sp>
        <p:nvSpPr>
          <p:cNvPr id="24" name="Shape 19"/>
          <p:cNvSpPr/>
          <p:nvPr/>
        </p:nvSpPr>
        <p:spPr>
          <a:xfrm>
            <a:off x="6556248" y="4873752"/>
            <a:ext cx="73152" cy="73152"/>
          </a:xfrm>
          <a:prstGeom prst="ellipse">
            <a:avLst/>
          </a:prstGeom>
          <a:solidFill>
            <a:srgbClr val="2563EB"/>
          </a:solidFill>
          <a:ln w="12700">
            <a:solidFill>
              <a:srgbClr val="2563EB"/>
            </a:solidFill>
            <a:prstDash val="solid"/>
          </a:ln>
        </p:spPr>
        <p:txBody>
          <a:bodyPr/>
          <a:lstStyle/>
          <a:p>
            <a:endParaRPr lang="en-GB"/>
          </a:p>
        </p:txBody>
      </p:sp>
      <p:sp>
        <p:nvSpPr>
          <p:cNvPr id="25" name="Text 20"/>
          <p:cNvSpPr/>
          <p:nvPr/>
        </p:nvSpPr>
        <p:spPr>
          <a:xfrm>
            <a:off x="6739128" y="4800600"/>
            <a:ext cx="434340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Synthetic data is for pipeline demonstration and unit testing, not medical reliability.</a:t>
            </a:r>
            <a:endParaRPr lang="en-US" sz="880" dirty="0"/>
          </a:p>
        </p:txBody>
      </p:sp>
      <p:sp>
        <p:nvSpPr>
          <p:cNvPr id="26" name="Shape 21"/>
          <p:cNvSpPr/>
          <p:nvPr/>
        </p:nvSpPr>
        <p:spPr>
          <a:xfrm>
            <a:off x="6556248" y="5175504"/>
            <a:ext cx="73152" cy="73152"/>
          </a:xfrm>
          <a:prstGeom prst="ellipse">
            <a:avLst/>
          </a:prstGeom>
          <a:solidFill>
            <a:srgbClr val="2563EB"/>
          </a:solidFill>
          <a:ln w="12700">
            <a:solidFill>
              <a:srgbClr val="2563EB"/>
            </a:solidFill>
            <a:prstDash val="solid"/>
          </a:ln>
        </p:spPr>
        <p:txBody>
          <a:bodyPr/>
          <a:lstStyle/>
          <a:p>
            <a:endParaRPr lang="en-GB"/>
          </a:p>
        </p:txBody>
      </p:sp>
      <p:sp>
        <p:nvSpPr>
          <p:cNvPr id="27" name="Text 22"/>
          <p:cNvSpPr/>
          <p:nvPr/>
        </p:nvSpPr>
        <p:spPr>
          <a:xfrm>
            <a:off x="6739128" y="5102352"/>
            <a:ext cx="434340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Real data should include multiple people, clothes, lighting, camera positions, and sessions.</a:t>
            </a:r>
            <a:endParaRPr lang="en-US" sz="880" dirty="0"/>
          </a:p>
        </p:txBody>
      </p:sp>
      <p:sp>
        <p:nvSpPr>
          <p:cNvPr id="28" name="Shape 23"/>
          <p:cNvSpPr/>
          <p:nvPr/>
        </p:nvSpPr>
        <p:spPr>
          <a:xfrm>
            <a:off x="6556248" y="5477256"/>
            <a:ext cx="73152" cy="73152"/>
          </a:xfrm>
          <a:prstGeom prst="ellipse">
            <a:avLst/>
          </a:prstGeom>
          <a:solidFill>
            <a:srgbClr val="2563EB"/>
          </a:solidFill>
          <a:ln w="12700">
            <a:solidFill>
              <a:srgbClr val="2563EB"/>
            </a:solidFill>
            <a:prstDash val="solid"/>
          </a:ln>
        </p:spPr>
        <p:txBody>
          <a:bodyPr/>
          <a:lstStyle/>
          <a:p>
            <a:endParaRPr lang="en-GB"/>
          </a:p>
        </p:txBody>
      </p:sp>
      <p:sp>
        <p:nvSpPr>
          <p:cNvPr id="29" name="Text 24"/>
          <p:cNvSpPr/>
          <p:nvPr/>
        </p:nvSpPr>
        <p:spPr>
          <a:xfrm>
            <a:off x="6739128" y="5404104"/>
            <a:ext cx="4343400" cy="246888"/>
          </a:xfrm>
          <a:prstGeom prst="rect">
            <a:avLst/>
          </a:prstGeom>
          <a:noFill/>
          <a:ln/>
        </p:spPr>
        <p:txBody>
          <a:bodyPr wrap="square" lIns="0" tIns="0" rIns="0" bIns="0" rtlCol="0" anchor="ctr">
            <a:normAutofit/>
          </a:bodyPr>
          <a:lstStyle/>
          <a:p>
            <a:pPr marL="0" indent="0">
              <a:buNone/>
            </a:pPr>
            <a:r>
              <a:rPr lang="en-US" sz="880" dirty="0">
                <a:solidFill>
                  <a:srgbClr val="111827"/>
                </a:solidFill>
                <a:latin typeface="Aptos" pitchFamily="34" charset="0"/>
                <a:ea typeface="Aptos" pitchFamily="34" charset="-122"/>
                <a:cs typeface="Aptos" pitchFamily="34" charset="-120"/>
              </a:rPr>
              <a:t>Dangerous fall classes should be staged only with safe padding/supervision.</a:t>
            </a:r>
            <a:endParaRPr lang="en-US" sz="880" dirty="0"/>
          </a:p>
        </p:txBody>
      </p:sp>
      <p:sp>
        <p:nvSpPr>
          <p:cNvPr id="30" name="Shape 25"/>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31" name="Text 26"/>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Training module and learning samples</a:t>
            </a:r>
            <a:endParaRPr lang="en-US" sz="680" dirty="0"/>
          </a:p>
        </p:txBody>
      </p:sp>
      <p:sp>
        <p:nvSpPr>
          <p:cNvPr id="32" name="Text 27"/>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CODE EXECUTION</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Code execution: local prototype and validation</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project was executed locally, with camera capture, pose state output, training commands, and unit tests.</a:t>
            </a:r>
            <a:endParaRPr lang="en-US" sz="1240" dirty="0"/>
          </a:p>
        </p:txBody>
      </p:sp>
      <p:sp>
        <p:nvSpPr>
          <p:cNvPr id="5" name="Shape 3"/>
          <p:cNvSpPr/>
          <p:nvPr/>
        </p:nvSpPr>
        <p:spPr>
          <a:xfrm>
            <a:off x="658368" y="1783080"/>
            <a:ext cx="4709160" cy="3291840"/>
          </a:xfrm>
          <a:prstGeom prst="roundRect">
            <a:avLst>
              <a:gd name="adj" fmla="val 5000"/>
            </a:avLst>
          </a:prstGeom>
          <a:solidFill>
            <a:srgbClr val="FFFFFF"/>
          </a:solidFill>
          <a:ln w="12700">
            <a:solidFill>
              <a:srgbClr val="DDE6F2"/>
            </a:solidFill>
            <a:prstDash val="solid"/>
          </a:ln>
        </p:spPr>
        <p:txBody>
          <a:bodyPr/>
          <a:lstStyle/>
          <a:p>
            <a:endParaRPr lang="en-GB"/>
          </a:p>
        </p:txBody>
      </p:sp>
      <p:pic>
        <p:nvPicPr>
          <p:cNvPr id="6" name="Image 0" descr="/mnt/data/careagent_assets/training_code.png"/>
          <p:cNvPicPr>
            <a:picLocks noChangeAspect="1"/>
          </p:cNvPicPr>
          <p:nvPr/>
        </p:nvPicPr>
        <p:blipFill>
          <a:blip r:embed="rId3"/>
          <a:stretch>
            <a:fillRect/>
          </a:stretch>
        </p:blipFill>
        <p:spPr>
          <a:xfrm>
            <a:off x="740664" y="2300262"/>
            <a:ext cx="4544568" cy="2577516"/>
          </a:xfrm>
          <a:prstGeom prst="rect">
            <a:avLst/>
          </a:prstGeom>
        </p:spPr>
      </p:pic>
      <p:sp>
        <p:nvSpPr>
          <p:cNvPr id="7" name="Text 4"/>
          <p:cNvSpPr/>
          <p:nvPr/>
        </p:nvSpPr>
        <p:spPr>
          <a:xfrm>
            <a:off x="804672" y="1883664"/>
            <a:ext cx="441655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Training and test commands</a:t>
            </a:r>
            <a:endParaRPr lang="en-US" sz="820" dirty="0"/>
          </a:p>
        </p:txBody>
      </p:sp>
      <p:sp>
        <p:nvSpPr>
          <p:cNvPr id="8" name="Shape 5"/>
          <p:cNvSpPr/>
          <p:nvPr/>
        </p:nvSpPr>
        <p:spPr>
          <a:xfrm>
            <a:off x="5623560" y="1783080"/>
            <a:ext cx="5715000" cy="3291840"/>
          </a:xfrm>
          <a:prstGeom prst="roundRect">
            <a:avLst>
              <a:gd name="adj" fmla="val 5000"/>
            </a:avLst>
          </a:prstGeom>
          <a:solidFill>
            <a:srgbClr val="FFFFFF"/>
          </a:solidFill>
          <a:ln w="12700">
            <a:solidFill>
              <a:srgbClr val="DDE6F2"/>
            </a:solidFill>
            <a:prstDash val="solid"/>
          </a:ln>
        </p:spPr>
        <p:txBody>
          <a:bodyPr/>
          <a:lstStyle/>
          <a:p>
            <a:endParaRPr lang="en-GB"/>
          </a:p>
        </p:txBody>
      </p:sp>
      <p:pic>
        <p:nvPicPr>
          <p:cNvPr id="9" name="Image 1" descr="/mnt/data/careagent_assets/prototype_falling_terminal.png"/>
          <p:cNvPicPr>
            <a:picLocks noChangeAspect="1"/>
          </p:cNvPicPr>
          <p:nvPr/>
        </p:nvPicPr>
        <p:blipFill>
          <a:blip r:embed="rId4"/>
          <a:stretch>
            <a:fillRect/>
          </a:stretch>
        </p:blipFill>
        <p:spPr>
          <a:xfrm>
            <a:off x="5705856" y="2715281"/>
            <a:ext cx="5550408" cy="1747479"/>
          </a:xfrm>
          <a:prstGeom prst="rect">
            <a:avLst/>
          </a:prstGeom>
        </p:spPr>
      </p:pic>
      <p:sp>
        <p:nvSpPr>
          <p:cNvPr id="10" name="Text 6"/>
          <p:cNvSpPr/>
          <p:nvPr/>
        </p:nvSpPr>
        <p:spPr>
          <a:xfrm>
            <a:off x="5769864" y="1883664"/>
            <a:ext cx="542239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Terminal output during pose test</a:t>
            </a:r>
            <a:endParaRPr lang="en-US" sz="820" dirty="0"/>
          </a:p>
        </p:txBody>
      </p:sp>
      <p:sp>
        <p:nvSpPr>
          <p:cNvPr id="11" name="Shape 7"/>
          <p:cNvSpPr/>
          <p:nvPr/>
        </p:nvSpPr>
        <p:spPr>
          <a:xfrm>
            <a:off x="822960" y="5440680"/>
            <a:ext cx="182880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12" name="Text 8"/>
          <p:cNvSpPr/>
          <p:nvPr/>
        </p:nvSpPr>
        <p:spPr>
          <a:xfrm>
            <a:off x="1024128" y="5586984"/>
            <a:ext cx="142646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RPi logic tests</a:t>
            </a:r>
            <a:endParaRPr lang="en-US" sz="730" dirty="0"/>
          </a:p>
        </p:txBody>
      </p:sp>
      <p:sp>
        <p:nvSpPr>
          <p:cNvPr id="13" name="Text 9"/>
          <p:cNvSpPr/>
          <p:nvPr/>
        </p:nvSpPr>
        <p:spPr>
          <a:xfrm>
            <a:off x="1024128" y="5788152"/>
            <a:ext cx="1426464" cy="292608"/>
          </a:xfrm>
          <a:prstGeom prst="rect">
            <a:avLst/>
          </a:prstGeom>
          <a:noFill/>
          <a:ln/>
        </p:spPr>
        <p:txBody>
          <a:bodyPr wrap="square" lIns="0" tIns="0" rIns="0" bIns="0" rtlCol="0" anchor="ctr">
            <a:normAutofit/>
          </a:bodyPr>
          <a:lstStyle/>
          <a:p>
            <a:pPr marL="0" indent="0">
              <a:buNone/>
            </a:pPr>
            <a:r>
              <a:rPr lang="en-US" sz="1900" b="1" dirty="0">
                <a:solidFill>
                  <a:srgbClr val="10B981"/>
                </a:solidFill>
                <a:latin typeface="Aptos Display" pitchFamily="34" charset="0"/>
                <a:ea typeface="Aptos Display" pitchFamily="34" charset="-122"/>
                <a:cs typeface="Aptos Display" pitchFamily="34" charset="-120"/>
              </a:rPr>
              <a:t>9 passed</a:t>
            </a:r>
            <a:endParaRPr lang="en-US" sz="1900" dirty="0"/>
          </a:p>
        </p:txBody>
      </p:sp>
      <p:sp>
        <p:nvSpPr>
          <p:cNvPr id="14" name="Text 10"/>
          <p:cNvSpPr/>
          <p:nvPr/>
        </p:nvSpPr>
        <p:spPr>
          <a:xfrm>
            <a:off x="1024128" y="6117336"/>
            <a:ext cx="142646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pytest -q</a:t>
            </a:r>
            <a:endParaRPr lang="en-US" sz="660" dirty="0"/>
          </a:p>
        </p:txBody>
      </p:sp>
      <p:sp>
        <p:nvSpPr>
          <p:cNvPr id="15" name="Shape 11"/>
          <p:cNvSpPr/>
          <p:nvPr/>
        </p:nvSpPr>
        <p:spPr>
          <a:xfrm>
            <a:off x="2926080" y="5440680"/>
            <a:ext cx="182880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16" name="Text 12"/>
          <p:cNvSpPr/>
          <p:nvPr/>
        </p:nvSpPr>
        <p:spPr>
          <a:xfrm>
            <a:off x="3127248" y="5586984"/>
            <a:ext cx="142646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Classes trained</a:t>
            </a:r>
            <a:endParaRPr lang="en-US" sz="730" dirty="0"/>
          </a:p>
        </p:txBody>
      </p:sp>
      <p:sp>
        <p:nvSpPr>
          <p:cNvPr id="17" name="Text 13"/>
          <p:cNvSpPr/>
          <p:nvPr/>
        </p:nvSpPr>
        <p:spPr>
          <a:xfrm>
            <a:off x="3127248" y="5788152"/>
            <a:ext cx="1426464" cy="292608"/>
          </a:xfrm>
          <a:prstGeom prst="rect">
            <a:avLst/>
          </a:prstGeom>
          <a:noFill/>
          <a:ln/>
        </p:spPr>
        <p:txBody>
          <a:bodyPr wrap="square" lIns="0" tIns="0" rIns="0" bIns="0" rtlCol="0" anchor="ctr">
            <a:normAutofit/>
          </a:bodyPr>
          <a:lstStyle/>
          <a:p>
            <a:pPr marL="0" indent="0">
              <a:buNone/>
            </a:pPr>
            <a:r>
              <a:rPr lang="en-US" sz="1900" b="1" dirty="0">
                <a:solidFill>
                  <a:srgbClr val="2563EB"/>
                </a:solidFill>
                <a:latin typeface="Aptos Display" pitchFamily="34" charset="0"/>
                <a:ea typeface="Aptos Display" pitchFamily="34" charset="-122"/>
                <a:cs typeface="Aptos Display" pitchFamily="34" charset="-120"/>
              </a:rPr>
              <a:t>5 states</a:t>
            </a:r>
            <a:endParaRPr lang="en-US" sz="1900" dirty="0"/>
          </a:p>
        </p:txBody>
      </p:sp>
      <p:sp>
        <p:nvSpPr>
          <p:cNvPr id="18" name="Text 14"/>
          <p:cNvSpPr/>
          <p:nvPr/>
        </p:nvSpPr>
        <p:spPr>
          <a:xfrm>
            <a:off x="3127248" y="6117336"/>
            <a:ext cx="142646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standing, sitting, lying, falling, collapsing</a:t>
            </a:r>
            <a:endParaRPr lang="en-US" sz="660" dirty="0"/>
          </a:p>
        </p:txBody>
      </p:sp>
      <p:sp>
        <p:nvSpPr>
          <p:cNvPr id="19" name="Shape 15"/>
          <p:cNvSpPr/>
          <p:nvPr/>
        </p:nvSpPr>
        <p:spPr>
          <a:xfrm>
            <a:off x="5029200" y="5440680"/>
            <a:ext cx="182880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20" name="Text 16"/>
          <p:cNvSpPr/>
          <p:nvPr/>
        </p:nvSpPr>
        <p:spPr>
          <a:xfrm>
            <a:off x="5230368" y="5586984"/>
            <a:ext cx="142646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Input source</a:t>
            </a:r>
            <a:endParaRPr lang="en-US" sz="730" dirty="0"/>
          </a:p>
        </p:txBody>
      </p:sp>
      <p:sp>
        <p:nvSpPr>
          <p:cNvPr id="21" name="Text 17"/>
          <p:cNvSpPr/>
          <p:nvPr/>
        </p:nvSpPr>
        <p:spPr>
          <a:xfrm>
            <a:off x="5230368" y="5788152"/>
            <a:ext cx="1426464" cy="292608"/>
          </a:xfrm>
          <a:prstGeom prst="rect">
            <a:avLst/>
          </a:prstGeom>
          <a:noFill/>
          <a:ln/>
        </p:spPr>
        <p:txBody>
          <a:bodyPr wrap="square" lIns="0" tIns="0" rIns="0" bIns="0" rtlCol="0" anchor="ctr">
            <a:normAutofit/>
          </a:bodyPr>
          <a:lstStyle/>
          <a:p>
            <a:pPr marL="0" indent="0">
              <a:buNone/>
            </a:pPr>
            <a:r>
              <a:rPr lang="en-US" sz="1900" b="1" dirty="0">
                <a:solidFill>
                  <a:srgbClr val="F59E0B"/>
                </a:solidFill>
                <a:latin typeface="Aptos Display" pitchFamily="34" charset="0"/>
                <a:ea typeface="Aptos Display" pitchFamily="34" charset="-122"/>
                <a:cs typeface="Aptos Display" pitchFamily="34" charset="-120"/>
              </a:rPr>
              <a:t>Camera + sensors</a:t>
            </a:r>
            <a:endParaRPr lang="en-US" sz="1900" dirty="0"/>
          </a:p>
        </p:txBody>
      </p:sp>
      <p:sp>
        <p:nvSpPr>
          <p:cNvPr id="22" name="Text 18"/>
          <p:cNvSpPr/>
          <p:nvPr/>
        </p:nvSpPr>
        <p:spPr>
          <a:xfrm>
            <a:off x="5230368" y="6117336"/>
            <a:ext cx="142646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sensors simulated now</a:t>
            </a:r>
            <a:endParaRPr lang="en-US" sz="660" dirty="0"/>
          </a:p>
        </p:txBody>
      </p:sp>
      <p:sp>
        <p:nvSpPr>
          <p:cNvPr id="23" name="Shape 19"/>
          <p:cNvSpPr/>
          <p:nvPr/>
        </p:nvSpPr>
        <p:spPr>
          <a:xfrm>
            <a:off x="7132320" y="5440680"/>
            <a:ext cx="182880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24" name="Text 20"/>
          <p:cNvSpPr/>
          <p:nvPr/>
        </p:nvSpPr>
        <p:spPr>
          <a:xfrm>
            <a:off x="7333488" y="5586984"/>
            <a:ext cx="142646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Deployment style</a:t>
            </a:r>
            <a:endParaRPr lang="en-US" sz="730" dirty="0"/>
          </a:p>
        </p:txBody>
      </p:sp>
      <p:sp>
        <p:nvSpPr>
          <p:cNvPr id="25" name="Text 21"/>
          <p:cNvSpPr/>
          <p:nvPr/>
        </p:nvSpPr>
        <p:spPr>
          <a:xfrm>
            <a:off x="7333488" y="5788152"/>
            <a:ext cx="1426464" cy="292608"/>
          </a:xfrm>
          <a:prstGeom prst="rect">
            <a:avLst/>
          </a:prstGeom>
          <a:noFill/>
          <a:ln/>
        </p:spPr>
        <p:txBody>
          <a:bodyPr wrap="square" lIns="0" tIns="0" rIns="0" bIns="0" rtlCol="0" anchor="ctr">
            <a:normAutofit/>
          </a:bodyPr>
          <a:lstStyle/>
          <a:p>
            <a:pPr marL="0" indent="0">
              <a:buNone/>
            </a:pPr>
            <a:r>
              <a:rPr lang="en-US" sz="1900" b="1" dirty="0">
                <a:solidFill>
                  <a:srgbClr val="E6395A"/>
                </a:solidFill>
                <a:latin typeface="Aptos Display" pitchFamily="34" charset="0"/>
                <a:ea typeface="Aptos Display" pitchFamily="34" charset="-122"/>
                <a:cs typeface="Aptos Display" pitchFamily="34" charset="-120"/>
              </a:rPr>
              <a:t>Local Wi‑Fi</a:t>
            </a:r>
            <a:endParaRPr lang="en-US" sz="1900" dirty="0"/>
          </a:p>
        </p:txBody>
      </p:sp>
      <p:sp>
        <p:nvSpPr>
          <p:cNvPr id="26" name="Text 22"/>
          <p:cNvSpPr/>
          <p:nvPr/>
        </p:nvSpPr>
        <p:spPr>
          <a:xfrm>
            <a:off x="7333488" y="6117336"/>
            <a:ext cx="142646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RPi → PC webapp API</a:t>
            </a:r>
            <a:endParaRPr lang="en-US" sz="660" dirty="0"/>
          </a:p>
        </p:txBody>
      </p:sp>
      <p:sp>
        <p:nvSpPr>
          <p:cNvPr id="27" name="Shape 23"/>
          <p:cNvSpPr/>
          <p:nvPr/>
        </p:nvSpPr>
        <p:spPr>
          <a:xfrm>
            <a:off x="9235440" y="5440680"/>
            <a:ext cx="1828800" cy="896112"/>
          </a:xfrm>
          <a:prstGeom prst="roundRect">
            <a:avLst>
              <a:gd name="adj" fmla="val 18367"/>
            </a:avLst>
          </a:prstGeom>
          <a:solidFill>
            <a:srgbClr val="FFFFFF"/>
          </a:solidFill>
          <a:ln w="12700">
            <a:solidFill>
              <a:srgbClr val="E9EEF7"/>
            </a:solidFill>
            <a:prstDash val="solid"/>
          </a:ln>
        </p:spPr>
        <p:txBody>
          <a:bodyPr/>
          <a:lstStyle/>
          <a:p>
            <a:endParaRPr lang="en-GB"/>
          </a:p>
        </p:txBody>
      </p:sp>
      <p:sp>
        <p:nvSpPr>
          <p:cNvPr id="28" name="Text 24"/>
          <p:cNvSpPr/>
          <p:nvPr/>
        </p:nvSpPr>
        <p:spPr>
          <a:xfrm>
            <a:off x="9436608" y="5586984"/>
            <a:ext cx="1426464" cy="146304"/>
          </a:xfrm>
          <a:prstGeom prst="rect">
            <a:avLst/>
          </a:prstGeom>
          <a:noFill/>
          <a:ln/>
        </p:spPr>
        <p:txBody>
          <a:bodyPr wrap="square" lIns="0" tIns="0" rIns="0" bIns="0" rtlCol="0" anchor="ctr"/>
          <a:lstStyle/>
          <a:p>
            <a:pPr marL="0" indent="0">
              <a:buNone/>
            </a:pPr>
            <a:r>
              <a:rPr lang="en-US" sz="730" b="1" dirty="0">
                <a:solidFill>
                  <a:srgbClr val="6B7280"/>
                </a:solidFill>
                <a:latin typeface="Aptos" pitchFamily="34" charset="0"/>
                <a:ea typeface="Aptos" pitchFamily="34" charset="-122"/>
                <a:cs typeface="Aptos" pitchFamily="34" charset="-120"/>
              </a:rPr>
              <a:t>Security</a:t>
            </a:r>
            <a:endParaRPr lang="en-US" sz="730" dirty="0"/>
          </a:p>
        </p:txBody>
      </p:sp>
      <p:sp>
        <p:nvSpPr>
          <p:cNvPr id="29" name="Text 25"/>
          <p:cNvSpPr/>
          <p:nvPr/>
        </p:nvSpPr>
        <p:spPr>
          <a:xfrm>
            <a:off x="9436608" y="5788152"/>
            <a:ext cx="1426464" cy="292608"/>
          </a:xfrm>
          <a:prstGeom prst="rect">
            <a:avLst/>
          </a:prstGeom>
          <a:noFill/>
          <a:ln/>
        </p:spPr>
        <p:txBody>
          <a:bodyPr wrap="square" lIns="0" tIns="0" rIns="0" bIns="0" rtlCol="0" anchor="ctr">
            <a:normAutofit/>
          </a:bodyPr>
          <a:lstStyle/>
          <a:p>
            <a:pPr marL="0" indent="0">
              <a:buNone/>
            </a:pPr>
            <a:r>
              <a:rPr lang="en-US" sz="1900" b="1" dirty="0">
                <a:solidFill>
                  <a:srgbClr val="7C3AED"/>
                </a:solidFill>
                <a:latin typeface="Aptos Display" pitchFamily="34" charset="0"/>
                <a:ea typeface="Aptos Display" pitchFamily="34" charset="-122"/>
                <a:cs typeface="Aptos Display" pitchFamily="34" charset="-120"/>
              </a:rPr>
              <a:t>API key</a:t>
            </a:r>
            <a:endParaRPr lang="en-US" sz="1900" dirty="0"/>
          </a:p>
        </p:txBody>
      </p:sp>
      <p:sp>
        <p:nvSpPr>
          <p:cNvPr id="30" name="Text 26"/>
          <p:cNvSpPr/>
          <p:nvPr/>
        </p:nvSpPr>
        <p:spPr>
          <a:xfrm>
            <a:off x="9436608" y="6117336"/>
            <a:ext cx="1426464" cy="146304"/>
          </a:xfrm>
          <a:prstGeom prst="rect">
            <a:avLst/>
          </a:prstGeom>
          <a:noFill/>
          <a:ln/>
        </p:spPr>
        <p:txBody>
          <a:bodyPr wrap="square" lIns="0" tIns="0" rIns="0" bIns="0" rtlCol="0" anchor="ctr">
            <a:normAutofit/>
          </a:bodyPr>
          <a:lstStyle/>
          <a:p>
            <a:pPr marL="0" indent="0">
              <a:buNone/>
            </a:pPr>
            <a:r>
              <a:rPr lang="en-US" sz="660" dirty="0">
                <a:solidFill>
                  <a:srgbClr val="6B7280"/>
                </a:solidFill>
                <a:latin typeface="Aptos" pitchFamily="34" charset="0"/>
                <a:ea typeface="Aptos" pitchFamily="34" charset="-122"/>
                <a:cs typeface="Aptos" pitchFamily="34" charset="-120"/>
              </a:rPr>
              <a:t>X-API-Key header</a:t>
            </a:r>
            <a:endParaRPr lang="en-US" sz="660" dirty="0"/>
          </a:p>
        </p:txBody>
      </p:sp>
      <p:sp>
        <p:nvSpPr>
          <p:cNvPr id="31" name="Shape 27"/>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32" name="Text 28"/>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Code execution and validation</a:t>
            </a:r>
            <a:endParaRPr lang="en-US" sz="680" dirty="0"/>
          </a:p>
        </p:txBody>
      </p:sp>
      <p:sp>
        <p:nvSpPr>
          <p:cNvPr id="33" name="Text 29"/>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09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PROTOTYPE TEST</a:t>
            </a:r>
            <a:endParaRPr lang="en-US" sz="850" dirty="0"/>
          </a:p>
        </p:txBody>
      </p:sp>
      <p:sp>
        <p:nvSpPr>
          <p:cNvPr id="3" name="Text 1"/>
          <p:cNvSpPr/>
          <p:nvPr/>
        </p:nvSpPr>
        <p:spPr>
          <a:xfrm>
            <a:off x="566928" y="658368"/>
            <a:ext cx="10068988"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Prototype test: dashboard, snapshot, and emergency workflow</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test demonstrates camera evidence, pose state, risk indicators, and caregiver-facing dashboard updates.</a:t>
            </a:r>
            <a:endParaRPr lang="en-US" sz="1240" dirty="0"/>
          </a:p>
        </p:txBody>
      </p:sp>
      <p:sp>
        <p:nvSpPr>
          <p:cNvPr id="5" name="Shape 3"/>
          <p:cNvSpPr/>
          <p:nvPr/>
        </p:nvSpPr>
        <p:spPr>
          <a:xfrm>
            <a:off x="658368" y="1691640"/>
            <a:ext cx="6766560" cy="4251960"/>
          </a:xfrm>
          <a:prstGeom prst="roundRect">
            <a:avLst>
              <a:gd name="adj" fmla="val 3871"/>
            </a:avLst>
          </a:prstGeom>
          <a:solidFill>
            <a:srgbClr val="FFFFFF"/>
          </a:solidFill>
          <a:ln w="12700">
            <a:solidFill>
              <a:srgbClr val="DDE6F2"/>
            </a:solidFill>
            <a:prstDash val="solid"/>
          </a:ln>
        </p:spPr>
        <p:txBody>
          <a:bodyPr/>
          <a:lstStyle/>
          <a:p>
            <a:endParaRPr lang="en-GB"/>
          </a:p>
        </p:txBody>
      </p:sp>
      <p:pic>
        <p:nvPicPr>
          <p:cNvPr id="6" name="Image 0" descr="/mnt/data/careagent_assets/dashboard_mock.png"/>
          <p:cNvPicPr>
            <a:picLocks noChangeAspect="1"/>
          </p:cNvPicPr>
          <p:nvPr/>
        </p:nvPicPr>
        <p:blipFill>
          <a:blip r:embed="rId3"/>
          <a:srcRect t="3178" b="3178"/>
          <a:stretch/>
        </p:blipFill>
        <p:spPr>
          <a:xfrm>
            <a:off x="740664" y="2093976"/>
            <a:ext cx="6601968" cy="3767328"/>
          </a:xfrm>
          <a:prstGeom prst="rect">
            <a:avLst/>
          </a:prstGeom>
        </p:spPr>
      </p:pic>
      <p:sp>
        <p:nvSpPr>
          <p:cNvPr id="7" name="Text 4"/>
          <p:cNvSpPr/>
          <p:nvPr/>
        </p:nvSpPr>
        <p:spPr>
          <a:xfrm>
            <a:off x="804672" y="1792224"/>
            <a:ext cx="647395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Local dashboard view</a:t>
            </a:r>
            <a:endParaRPr lang="en-US" sz="820" dirty="0"/>
          </a:p>
        </p:txBody>
      </p:sp>
      <p:sp>
        <p:nvSpPr>
          <p:cNvPr id="8" name="Shape 5"/>
          <p:cNvSpPr/>
          <p:nvPr/>
        </p:nvSpPr>
        <p:spPr>
          <a:xfrm>
            <a:off x="7708392" y="1691640"/>
            <a:ext cx="3611880" cy="2240280"/>
          </a:xfrm>
          <a:prstGeom prst="roundRect">
            <a:avLst>
              <a:gd name="adj" fmla="val 7347"/>
            </a:avLst>
          </a:prstGeom>
          <a:solidFill>
            <a:srgbClr val="FFFFFF"/>
          </a:solidFill>
          <a:ln w="12700">
            <a:solidFill>
              <a:srgbClr val="DDE6F2"/>
            </a:solidFill>
            <a:prstDash val="solid"/>
          </a:ln>
        </p:spPr>
        <p:txBody>
          <a:bodyPr/>
          <a:lstStyle/>
          <a:p>
            <a:endParaRPr lang="en-GB"/>
          </a:p>
        </p:txBody>
      </p:sp>
      <p:pic>
        <p:nvPicPr>
          <p:cNvPr id="9" name="Image 1" descr="/mnt/data/careagent_assets/prototype_falling_camera.png"/>
          <p:cNvPicPr>
            <a:picLocks noChangeAspect="1"/>
          </p:cNvPicPr>
          <p:nvPr/>
        </p:nvPicPr>
        <p:blipFill>
          <a:blip r:embed="rId4"/>
          <a:srcRect t="17394" b="17394"/>
          <a:stretch/>
        </p:blipFill>
        <p:spPr>
          <a:xfrm>
            <a:off x="7790688" y="2093976"/>
            <a:ext cx="3447288" cy="1755648"/>
          </a:xfrm>
          <a:prstGeom prst="rect">
            <a:avLst/>
          </a:prstGeom>
        </p:spPr>
      </p:pic>
      <p:sp>
        <p:nvSpPr>
          <p:cNvPr id="10" name="Text 6"/>
          <p:cNvSpPr/>
          <p:nvPr/>
        </p:nvSpPr>
        <p:spPr>
          <a:xfrm>
            <a:off x="7854696" y="1792224"/>
            <a:ext cx="331927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Camera test snapshot</a:t>
            </a:r>
            <a:endParaRPr lang="en-US" sz="820" dirty="0"/>
          </a:p>
        </p:txBody>
      </p:sp>
      <p:sp>
        <p:nvSpPr>
          <p:cNvPr id="11" name="Shape 7"/>
          <p:cNvSpPr/>
          <p:nvPr/>
        </p:nvSpPr>
        <p:spPr>
          <a:xfrm>
            <a:off x="7708392" y="4160520"/>
            <a:ext cx="3611880" cy="1783080"/>
          </a:xfrm>
          <a:prstGeom prst="roundRect">
            <a:avLst>
              <a:gd name="adj" fmla="val 9231"/>
            </a:avLst>
          </a:prstGeom>
          <a:solidFill>
            <a:srgbClr val="FFFFFF"/>
          </a:solidFill>
          <a:ln w="12700">
            <a:solidFill>
              <a:srgbClr val="DDE6F2"/>
            </a:solidFill>
            <a:prstDash val="solid"/>
          </a:ln>
        </p:spPr>
        <p:txBody>
          <a:bodyPr/>
          <a:lstStyle/>
          <a:p>
            <a:endParaRPr lang="en-GB"/>
          </a:p>
        </p:txBody>
      </p:sp>
      <p:sp>
        <p:nvSpPr>
          <p:cNvPr id="12" name="Text 8"/>
          <p:cNvSpPr/>
          <p:nvPr/>
        </p:nvSpPr>
        <p:spPr>
          <a:xfrm>
            <a:off x="7955280" y="4416552"/>
            <a:ext cx="3108960" cy="228600"/>
          </a:xfrm>
          <a:prstGeom prst="rect">
            <a:avLst/>
          </a:prstGeom>
          <a:noFill/>
          <a:ln/>
        </p:spPr>
        <p:txBody>
          <a:bodyPr wrap="square" lIns="0" tIns="0" rIns="0" bIns="0" rtlCol="0" anchor="ctr"/>
          <a:lstStyle/>
          <a:p>
            <a:pPr marL="0" indent="0">
              <a:buNone/>
            </a:pPr>
            <a:r>
              <a:rPr lang="en-US" sz="1800" b="1" dirty="0">
                <a:solidFill>
                  <a:srgbClr val="111827"/>
                </a:solidFill>
                <a:latin typeface="Aptos Display" pitchFamily="34" charset="0"/>
                <a:ea typeface="Aptos Display" pitchFamily="34" charset="-122"/>
                <a:cs typeface="Aptos Display" pitchFamily="34" charset="-120"/>
              </a:rPr>
              <a:t>Observed during demo</a:t>
            </a:r>
            <a:endParaRPr lang="en-US" sz="1800" dirty="0"/>
          </a:p>
        </p:txBody>
      </p:sp>
      <p:sp>
        <p:nvSpPr>
          <p:cNvPr id="13" name="Shape 9"/>
          <p:cNvSpPr/>
          <p:nvPr/>
        </p:nvSpPr>
        <p:spPr>
          <a:xfrm>
            <a:off x="7973568" y="4846320"/>
            <a:ext cx="73152" cy="73152"/>
          </a:xfrm>
          <a:prstGeom prst="ellipse">
            <a:avLst/>
          </a:prstGeom>
          <a:solidFill>
            <a:srgbClr val="2563EB"/>
          </a:solidFill>
          <a:ln w="12700">
            <a:solidFill>
              <a:srgbClr val="2563EB"/>
            </a:solidFill>
            <a:prstDash val="solid"/>
          </a:ln>
        </p:spPr>
        <p:txBody>
          <a:bodyPr/>
          <a:lstStyle/>
          <a:p>
            <a:endParaRPr lang="en-GB"/>
          </a:p>
        </p:txBody>
      </p:sp>
      <p:sp>
        <p:nvSpPr>
          <p:cNvPr id="14" name="Text 10"/>
          <p:cNvSpPr/>
          <p:nvPr/>
        </p:nvSpPr>
        <p:spPr>
          <a:xfrm>
            <a:off x="8156448" y="4773168"/>
            <a:ext cx="2926080" cy="201168"/>
          </a:xfrm>
          <a:prstGeom prst="rect">
            <a:avLst/>
          </a:prstGeom>
          <a:noFill/>
          <a:ln/>
        </p:spPr>
        <p:txBody>
          <a:bodyPr wrap="square" lIns="0" tIns="0" rIns="0" bIns="0" rtlCol="0" anchor="ctr">
            <a:normAutofit/>
          </a:bodyPr>
          <a:lstStyle/>
          <a:p>
            <a:pPr marL="0" indent="0">
              <a:buNone/>
            </a:pPr>
            <a:r>
              <a:rPr lang="en-US" sz="860" dirty="0">
                <a:solidFill>
                  <a:srgbClr val="111827"/>
                </a:solidFill>
                <a:latin typeface="Aptos" pitchFamily="34" charset="0"/>
                <a:ea typeface="Aptos" pitchFamily="34" charset="-122"/>
                <a:cs typeface="Aptos" pitchFamily="34" charset="-120"/>
              </a:rPr>
              <a:t>Standing and sitting states appeared normally in the dashboard.</a:t>
            </a:r>
            <a:endParaRPr lang="en-US" sz="860" dirty="0"/>
          </a:p>
        </p:txBody>
      </p:sp>
      <p:sp>
        <p:nvSpPr>
          <p:cNvPr id="15" name="Shape 11"/>
          <p:cNvSpPr/>
          <p:nvPr/>
        </p:nvSpPr>
        <p:spPr>
          <a:xfrm>
            <a:off x="7973568" y="5102352"/>
            <a:ext cx="73152" cy="73152"/>
          </a:xfrm>
          <a:prstGeom prst="ellipse">
            <a:avLst/>
          </a:prstGeom>
          <a:solidFill>
            <a:srgbClr val="2563EB"/>
          </a:solidFill>
          <a:ln w="12700">
            <a:solidFill>
              <a:srgbClr val="2563EB"/>
            </a:solidFill>
            <a:prstDash val="solid"/>
          </a:ln>
        </p:spPr>
        <p:txBody>
          <a:bodyPr/>
          <a:lstStyle/>
          <a:p>
            <a:endParaRPr lang="en-GB"/>
          </a:p>
        </p:txBody>
      </p:sp>
      <p:sp>
        <p:nvSpPr>
          <p:cNvPr id="16" name="Text 12"/>
          <p:cNvSpPr/>
          <p:nvPr/>
        </p:nvSpPr>
        <p:spPr>
          <a:xfrm>
            <a:off x="8156448" y="5029200"/>
            <a:ext cx="2926080" cy="201168"/>
          </a:xfrm>
          <a:prstGeom prst="rect">
            <a:avLst/>
          </a:prstGeom>
          <a:noFill/>
          <a:ln/>
        </p:spPr>
        <p:txBody>
          <a:bodyPr wrap="square" lIns="0" tIns="0" rIns="0" bIns="0" rtlCol="0" anchor="ctr">
            <a:normAutofit/>
          </a:bodyPr>
          <a:lstStyle/>
          <a:p>
            <a:pPr marL="0" indent="0">
              <a:buNone/>
            </a:pPr>
            <a:r>
              <a:rPr lang="en-US" sz="860" dirty="0">
                <a:solidFill>
                  <a:srgbClr val="111827"/>
                </a:solidFill>
                <a:latin typeface="Aptos" pitchFamily="34" charset="0"/>
                <a:ea typeface="Aptos" pitchFamily="34" charset="-122"/>
                <a:cs typeface="Aptos" pitchFamily="34" charset="-120"/>
              </a:rPr>
              <a:t>Falling state raised HIGH risk and showed sudden collapse.</a:t>
            </a:r>
            <a:endParaRPr lang="en-US" sz="860" dirty="0"/>
          </a:p>
        </p:txBody>
      </p:sp>
      <p:sp>
        <p:nvSpPr>
          <p:cNvPr id="17" name="Shape 13"/>
          <p:cNvSpPr/>
          <p:nvPr/>
        </p:nvSpPr>
        <p:spPr>
          <a:xfrm>
            <a:off x="7973568" y="5358384"/>
            <a:ext cx="73152" cy="73152"/>
          </a:xfrm>
          <a:prstGeom prst="ellipse">
            <a:avLst/>
          </a:prstGeom>
          <a:solidFill>
            <a:srgbClr val="2563EB"/>
          </a:solidFill>
          <a:ln w="12700">
            <a:solidFill>
              <a:srgbClr val="2563EB"/>
            </a:solidFill>
            <a:prstDash val="solid"/>
          </a:ln>
        </p:spPr>
        <p:txBody>
          <a:bodyPr/>
          <a:lstStyle/>
          <a:p>
            <a:endParaRPr lang="en-GB"/>
          </a:p>
        </p:txBody>
      </p:sp>
      <p:sp>
        <p:nvSpPr>
          <p:cNvPr id="18" name="Text 14"/>
          <p:cNvSpPr/>
          <p:nvPr/>
        </p:nvSpPr>
        <p:spPr>
          <a:xfrm>
            <a:off x="8156448" y="5285232"/>
            <a:ext cx="2926080" cy="201168"/>
          </a:xfrm>
          <a:prstGeom prst="rect">
            <a:avLst/>
          </a:prstGeom>
          <a:noFill/>
          <a:ln/>
        </p:spPr>
        <p:txBody>
          <a:bodyPr wrap="square" lIns="0" tIns="0" rIns="0" bIns="0" rtlCol="0" anchor="ctr">
            <a:normAutofit/>
          </a:bodyPr>
          <a:lstStyle/>
          <a:p>
            <a:pPr marL="0" indent="0">
              <a:buNone/>
            </a:pPr>
            <a:r>
              <a:rPr lang="en-US" sz="860" dirty="0">
                <a:solidFill>
                  <a:srgbClr val="111827"/>
                </a:solidFill>
                <a:latin typeface="Aptos" pitchFamily="34" charset="0"/>
                <a:ea typeface="Aptos" pitchFamily="34" charset="-122"/>
                <a:cs typeface="Aptos" pitchFamily="34" charset="-120"/>
              </a:rPr>
              <a:t>Snapshot upload provides visual confirmation for the caregiver.</a:t>
            </a:r>
            <a:endParaRPr lang="en-US" sz="860" dirty="0"/>
          </a:p>
        </p:txBody>
      </p:sp>
      <p:sp>
        <p:nvSpPr>
          <p:cNvPr id="19" name="Shape 15"/>
          <p:cNvSpPr/>
          <p:nvPr/>
        </p:nvSpPr>
        <p:spPr>
          <a:xfrm>
            <a:off x="7973568" y="5614416"/>
            <a:ext cx="73152" cy="73152"/>
          </a:xfrm>
          <a:prstGeom prst="ellipse">
            <a:avLst/>
          </a:prstGeom>
          <a:solidFill>
            <a:srgbClr val="2563EB"/>
          </a:solidFill>
          <a:ln w="12700">
            <a:solidFill>
              <a:srgbClr val="2563EB"/>
            </a:solidFill>
            <a:prstDash val="solid"/>
          </a:ln>
        </p:spPr>
        <p:txBody>
          <a:bodyPr/>
          <a:lstStyle/>
          <a:p>
            <a:endParaRPr lang="en-GB"/>
          </a:p>
        </p:txBody>
      </p:sp>
      <p:sp>
        <p:nvSpPr>
          <p:cNvPr id="20" name="Text 16"/>
          <p:cNvSpPr/>
          <p:nvPr/>
        </p:nvSpPr>
        <p:spPr>
          <a:xfrm>
            <a:off x="8156448" y="5541264"/>
            <a:ext cx="2926080" cy="201168"/>
          </a:xfrm>
          <a:prstGeom prst="rect">
            <a:avLst/>
          </a:prstGeom>
          <a:noFill/>
          <a:ln/>
        </p:spPr>
        <p:txBody>
          <a:bodyPr wrap="square" lIns="0" tIns="0" rIns="0" bIns="0" rtlCol="0" anchor="ctr">
            <a:normAutofit/>
          </a:bodyPr>
          <a:lstStyle/>
          <a:p>
            <a:pPr marL="0" indent="0">
              <a:buNone/>
            </a:pPr>
            <a:r>
              <a:rPr lang="en-US" sz="860" dirty="0">
                <a:solidFill>
                  <a:srgbClr val="111827"/>
                </a:solidFill>
                <a:latin typeface="Aptos" pitchFamily="34" charset="0"/>
                <a:ea typeface="Aptos" pitchFamily="34" charset="-122"/>
                <a:cs typeface="Aptos" pitchFamily="34" charset="-120"/>
              </a:rPr>
              <a:t>Alert audit records automatic and manual SOS attempts.</a:t>
            </a:r>
            <a:endParaRPr lang="en-US" sz="860" dirty="0"/>
          </a:p>
        </p:txBody>
      </p:sp>
      <p:sp>
        <p:nvSpPr>
          <p:cNvPr id="21" name="Shape 17"/>
          <p:cNvSpPr/>
          <p:nvPr/>
        </p:nvSpPr>
        <p:spPr>
          <a:xfrm>
            <a:off x="658368" y="6172200"/>
            <a:ext cx="10881360" cy="320040"/>
          </a:xfrm>
          <a:prstGeom prst="roundRect">
            <a:avLst>
              <a:gd name="adj" fmla="val 28571"/>
            </a:avLst>
          </a:prstGeom>
          <a:solidFill>
            <a:srgbClr val="FEF3C7"/>
          </a:solidFill>
          <a:ln w="12700">
            <a:solidFill>
              <a:srgbClr val="FCD34D"/>
            </a:solidFill>
            <a:prstDash val="solid"/>
          </a:ln>
        </p:spPr>
        <p:txBody>
          <a:bodyPr/>
          <a:lstStyle/>
          <a:p>
            <a:endParaRPr lang="en-GB"/>
          </a:p>
        </p:txBody>
      </p:sp>
      <p:sp>
        <p:nvSpPr>
          <p:cNvPr id="22" name="Text 18"/>
          <p:cNvSpPr/>
          <p:nvPr/>
        </p:nvSpPr>
        <p:spPr>
          <a:xfrm>
            <a:off x="868680" y="6291072"/>
            <a:ext cx="10469880" cy="73152"/>
          </a:xfrm>
          <a:prstGeom prst="rect">
            <a:avLst/>
          </a:prstGeom>
          <a:noFill/>
          <a:ln/>
        </p:spPr>
        <p:txBody>
          <a:bodyPr wrap="square" lIns="0" tIns="0" rIns="0" bIns="0" rtlCol="0" anchor="ctr">
            <a:normAutofit/>
          </a:bodyPr>
          <a:lstStyle/>
          <a:p>
            <a:pPr marL="0" indent="0">
              <a:buNone/>
            </a:pPr>
            <a:r>
              <a:rPr lang="en-US" sz="720" b="1" dirty="0">
                <a:solidFill>
                  <a:srgbClr val="8A5B00"/>
                </a:solidFill>
                <a:latin typeface="Aptos" pitchFamily="34" charset="0"/>
                <a:ea typeface="Aptos" pitchFamily="34" charset="-122"/>
                <a:cs typeface="Aptos" pitchFamily="34" charset="-120"/>
              </a:rPr>
              <a:t>Medical note: dashboard snapshots are for confirmation only; suspected stroke or danger still requires direct assessment and emergency services.</a:t>
            </a:r>
            <a:endParaRPr lang="en-US" sz="720" dirty="0"/>
          </a:p>
        </p:txBody>
      </p:sp>
      <p:sp>
        <p:nvSpPr>
          <p:cNvPr id="23" name="Shape 1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24" name="Text 2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Prototype test</a:t>
            </a:r>
            <a:endParaRPr lang="en-US" sz="680" dirty="0"/>
          </a:p>
        </p:txBody>
      </p:sp>
      <p:sp>
        <p:nvSpPr>
          <p:cNvPr id="25" name="Text 2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ADDITIONAL PICTURES</a:t>
            </a:r>
            <a:endParaRPr lang="en-US" sz="850" dirty="0"/>
          </a:p>
        </p:txBody>
      </p:sp>
      <p:sp>
        <p:nvSpPr>
          <p:cNvPr id="3" name="Text 1"/>
          <p:cNvSpPr/>
          <p:nvPr/>
        </p:nvSpPr>
        <p:spPr>
          <a:xfrm>
            <a:off x="566927" y="658368"/>
            <a:ext cx="9984767"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More prototype evidence: posture states and runtime proof</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Additional screenshots from testing show the camera scene, terminal feedback, and code execution used to validate the local prototype.</a:t>
            </a:r>
            <a:endParaRPr lang="en-US" sz="1240" dirty="0"/>
          </a:p>
        </p:txBody>
      </p:sp>
      <p:sp>
        <p:nvSpPr>
          <p:cNvPr id="5" name="Shape 3"/>
          <p:cNvSpPr/>
          <p:nvPr/>
        </p:nvSpPr>
        <p:spPr>
          <a:xfrm>
            <a:off x="658368" y="1664208"/>
            <a:ext cx="4983480" cy="3246120"/>
          </a:xfrm>
          <a:prstGeom prst="roundRect">
            <a:avLst>
              <a:gd name="adj" fmla="val 5070"/>
            </a:avLst>
          </a:prstGeom>
          <a:solidFill>
            <a:srgbClr val="FFFFFF"/>
          </a:solidFill>
          <a:ln w="12700">
            <a:solidFill>
              <a:srgbClr val="DDE6F2"/>
            </a:solidFill>
            <a:prstDash val="solid"/>
          </a:ln>
        </p:spPr>
        <p:txBody>
          <a:bodyPr/>
          <a:lstStyle/>
          <a:p>
            <a:endParaRPr lang="en-GB"/>
          </a:p>
        </p:txBody>
      </p:sp>
      <p:pic>
        <p:nvPicPr>
          <p:cNvPr id="6" name="Image 0" descr="/mnt/data/careagent_assets/prototype_falling_full.png"/>
          <p:cNvPicPr>
            <a:picLocks noChangeAspect="1"/>
          </p:cNvPicPr>
          <p:nvPr/>
        </p:nvPicPr>
        <p:blipFill>
          <a:blip r:embed="rId3"/>
          <a:stretch>
            <a:fillRect/>
          </a:stretch>
        </p:blipFill>
        <p:spPr>
          <a:xfrm>
            <a:off x="1409693" y="2066544"/>
            <a:ext cx="3480830" cy="2761488"/>
          </a:xfrm>
          <a:prstGeom prst="rect">
            <a:avLst/>
          </a:prstGeom>
        </p:spPr>
      </p:pic>
      <p:sp>
        <p:nvSpPr>
          <p:cNvPr id="7" name="Text 4"/>
          <p:cNvSpPr/>
          <p:nvPr/>
        </p:nvSpPr>
        <p:spPr>
          <a:xfrm>
            <a:off x="804672" y="1764792"/>
            <a:ext cx="469087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Full falling test in VS Code</a:t>
            </a:r>
            <a:endParaRPr lang="en-US" sz="820" dirty="0"/>
          </a:p>
        </p:txBody>
      </p:sp>
      <p:sp>
        <p:nvSpPr>
          <p:cNvPr id="8" name="Shape 5"/>
          <p:cNvSpPr/>
          <p:nvPr/>
        </p:nvSpPr>
        <p:spPr>
          <a:xfrm>
            <a:off x="5897880" y="1664208"/>
            <a:ext cx="2697480" cy="1572768"/>
          </a:xfrm>
          <a:prstGeom prst="roundRect">
            <a:avLst>
              <a:gd name="adj" fmla="val 10465"/>
            </a:avLst>
          </a:prstGeom>
          <a:solidFill>
            <a:srgbClr val="FFFFFF"/>
          </a:solidFill>
          <a:ln w="12700">
            <a:solidFill>
              <a:srgbClr val="DDE6F2"/>
            </a:solidFill>
            <a:prstDash val="solid"/>
          </a:ln>
        </p:spPr>
        <p:txBody>
          <a:bodyPr/>
          <a:lstStyle/>
          <a:p>
            <a:endParaRPr lang="en-GB"/>
          </a:p>
        </p:txBody>
      </p:sp>
      <p:pic>
        <p:nvPicPr>
          <p:cNvPr id="9" name="Image 1" descr="/mnt/data/careagent_assets/prototype_falling_camera.png"/>
          <p:cNvPicPr>
            <a:picLocks noChangeAspect="1"/>
          </p:cNvPicPr>
          <p:nvPr/>
        </p:nvPicPr>
        <p:blipFill>
          <a:blip r:embed="rId4"/>
          <a:srcRect t="22495" b="22495"/>
          <a:stretch/>
        </p:blipFill>
        <p:spPr>
          <a:xfrm>
            <a:off x="5980176" y="2066544"/>
            <a:ext cx="2532888" cy="1088136"/>
          </a:xfrm>
          <a:prstGeom prst="rect">
            <a:avLst/>
          </a:prstGeom>
        </p:spPr>
      </p:pic>
      <p:sp>
        <p:nvSpPr>
          <p:cNvPr id="10" name="Text 6"/>
          <p:cNvSpPr/>
          <p:nvPr/>
        </p:nvSpPr>
        <p:spPr>
          <a:xfrm>
            <a:off x="6044184" y="1764792"/>
            <a:ext cx="240487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Camera frame: FALLING</a:t>
            </a:r>
            <a:endParaRPr lang="en-US" sz="820" dirty="0"/>
          </a:p>
        </p:txBody>
      </p:sp>
      <p:sp>
        <p:nvSpPr>
          <p:cNvPr id="11" name="Shape 7"/>
          <p:cNvSpPr/>
          <p:nvPr/>
        </p:nvSpPr>
        <p:spPr>
          <a:xfrm>
            <a:off x="8796528" y="1664208"/>
            <a:ext cx="2542032" cy="1572768"/>
          </a:xfrm>
          <a:prstGeom prst="roundRect">
            <a:avLst>
              <a:gd name="adj" fmla="val 10465"/>
            </a:avLst>
          </a:prstGeom>
          <a:solidFill>
            <a:srgbClr val="FFFFFF"/>
          </a:solidFill>
          <a:ln w="12700">
            <a:solidFill>
              <a:srgbClr val="DDE6F2"/>
            </a:solidFill>
            <a:prstDash val="solid"/>
          </a:ln>
        </p:spPr>
        <p:txBody>
          <a:bodyPr/>
          <a:lstStyle/>
          <a:p>
            <a:endParaRPr lang="en-GB"/>
          </a:p>
        </p:txBody>
      </p:sp>
      <p:pic>
        <p:nvPicPr>
          <p:cNvPr id="12" name="Image 2" descr="/mnt/data/careagent_assets/prototype_falling_terminal.png"/>
          <p:cNvPicPr>
            <a:picLocks noChangeAspect="1"/>
          </p:cNvPicPr>
          <p:nvPr/>
        </p:nvPicPr>
        <p:blipFill>
          <a:blip r:embed="rId5"/>
          <a:stretch>
            <a:fillRect/>
          </a:stretch>
        </p:blipFill>
        <p:spPr>
          <a:xfrm>
            <a:off x="8878824" y="2236358"/>
            <a:ext cx="2377440" cy="748508"/>
          </a:xfrm>
          <a:prstGeom prst="rect">
            <a:avLst/>
          </a:prstGeom>
        </p:spPr>
      </p:pic>
      <p:sp>
        <p:nvSpPr>
          <p:cNvPr id="13" name="Text 8"/>
          <p:cNvSpPr/>
          <p:nvPr/>
        </p:nvSpPr>
        <p:spPr>
          <a:xfrm>
            <a:off x="8942832" y="1764792"/>
            <a:ext cx="2249424"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Terminal state output</a:t>
            </a:r>
            <a:endParaRPr lang="en-US" sz="820" dirty="0"/>
          </a:p>
        </p:txBody>
      </p:sp>
      <p:sp>
        <p:nvSpPr>
          <p:cNvPr id="14" name="Shape 9"/>
          <p:cNvSpPr/>
          <p:nvPr/>
        </p:nvSpPr>
        <p:spPr>
          <a:xfrm>
            <a:off x="5897880" y="3520440"/>
            <a:ext cx="2697480" cy="1389888"/>
          </a:xfrm>
          <a:prstGeom prst="roundRect">
            <a:avLst>
              <a:gd name="adj" fmla="val 11842"/>
            </a:avLst>
          </a:prstGeom>
          <a:solidFill>
            <a:srgbClr val="FFFFFF"/>
          </a:solidFill>
          <a:ln w="12700">
            <a:solidFill>
              <a:srgbClr val="DDE6F2"/>
            </a:solidFill>
            <a:prstDash val="solid"/>
          </a:ln>
        </p:spPr>
        <p:txBody>
          <a:bodyPr/>
          <a:lstStyle/>
          <a:p>
            <a:endParaRPr lang="en-GB"/>
          </a:p>
        </p:txBody>
      </p:sp>
      <p:pic>
        <p:nvPicPr>
          <p:cNvPr id="15" name="Image 3" descr="/mnt/data/careagent_assets/prototype_code_execution.png"/>
          <p:cNvPicPr>
            <a:picLocks noChangeAspect="1"/>
          </p:cNvPicPr>
          <p:nvPr/>
        </p:nvPicPr>
        <p:blipFill>
          <a:blip r:embed="rId6"/>
          <a:stretch>
            <a:fillRect/>
          </a:stretch>
        </p:blipFill>
        <p:spPr>
          <a:xfrm>
            <a:off x="6757878" y="3922776"/>
            <a:ext cx="977484" cy="905256"/>
          </a:xfrm>
          <a:prstGeom prst="rect">
            <a:avLst/>
          </a:prstGeom>
        </p:spPr>
      </p:pic>
      <p:sp>
        <p:nvSpPr>
          <p:cNvPr id="16" name="Text 10"/>
          <p:cNvSpPr/>
          <p:nvPr/>
        </p:nvSpPr>
        <p:spPr>
          <a:xfrm>
            <a:off x="6044184" y="3621024"/>
            <a:ext cx="240487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Runtime evidence</a:t>
            </a:r>
            <a:endParaRPr lang="en-US" sz="820" dirty="0"/>
          </a:p>
        </p:txBody>
      </p:sp>
      <p:sp>
        <p:nvSpPr>
          <p:cNvPr id="17" name="Shape 11"/>
          <p:cNvSpPr/>
          <p:nvPr/>
        </p:nvSpPr>
        <p:spPr>
          <a:xfrm>
            <a:off x="8796528" y="3520440"/>
            <a:ext cx="2542032" cy="1389888"/>
          </a:xfrm>
          <a:prstGeom prst="roundRect">
            <a:avLst>
              <a:gd name="adj" fmla="val 11842"/>
            </a:avLst>
          </a:prstGeom>
          <a:solidFill>
            <a:srgbClr val="FFFFFF"/>
          </a:solidFill>
          <a:ln w="12700">
            <a:solidFill>
              <a:srgbClr val="DDE6F2"/>
            </a:solidFill>
            <a:prstDash val="solid"/>
          </a:ln>
        </p:spPr>
        <p:txBody>
          <a:bodyPr/>
          <a:lstStyle/>
          <a:p>
            <a:endParaRPr lang="en-GB"/>
          </a:p>
        </p:txBody>
      </p:sp>
      <p:pic>
        <p:nvPicPr>
          <p:cNvPr id="18" name="Image 4" descr="/mnt/data/careagent_assets/emergency_code.png"/>
          <p:cNvPicPr>
            <a:picLocks noChangeAspect="1"/>
          </p:cNvPicPr>
          <p:nvPr/>
        </p:nvPicPr>
        <p:blipFill>
          <a:blip r:embed="rId7"/>
          <a:stretch>
            <a:fillRect/>
          </a:stretch>
        </p:blipFill>
        <p:spPr>
          <a:xfrm>
            <a:off x="9206020" y="3922776"/>
            <a:ext cx="1723048" cy="905256"/>
          </a:xfrm>
          <a:prstGeom prst="rect">
            <a:avLst/>
          </a:prstGeom>
        </p:spPr>
      </p:pic>
      <p:sp>
        <p:nvSpPr>
          <p:cNvPr id="19" name="Text 12"/>
          <p:cNvSpPr/>
          <p:nvPr/>
        </p:nvSpPr>
        <p:spPr>
          <a:xfrm>
            <a:off x="8942832" y="3621024"/>
            <a:ext cx="2249424"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Alert logic code</a:t>
            </a:r>
            <a:endParaRPr lang="en-US" sz="820" dirty="0"/>
          </a:p>
        </p:txBody>
      </p:sp>
      <p:sp>
        <p:nvSpPr>
          <p:cNvPr id="20" name="Shape 13"/>
          <p:cNvSpPr/>
          <p:nvPr/>
        </p:nvSpPr>
        <p:spPr>
          <a:xfrm>
            <a:off x="658368" y="5230368"/>
            <a:ext cx="10680192" cy="758952"/>
          </a:xfrm>
          <a:prstGeom prst="roundRect">
            <a:avLst>
              <a:gd name="adj" fmla="val 21687"/>
            </a:avLst>
          </a:prstGeom>
          <a:solidFill>
            <a:srgbClr val="FFFFFF"/>
          </a:solidFill>
          <a:ln w="12700">
            <a:solidFill>
              <a:srgbClr val="DDE6F2"/>
            </a:solidFill>
            <a:prstDash val="solid"/>
          </a:ln>
        </p:spPr>
        <p:txBody>
          <a:bodyPr/>
          <a:lstStyle/>
          <a:p>
            <a:endParaRPr lang="en-GB"/>
          </a:p>
        </p:txBody>
      </p:sp>
      <p:sp>
        <p:nvSpPr>
          <p:cNvPr id="21" name="Text 14"/>
          <p:cNvSpPr/>
          <p:nvPr/>
        </p:nvSpPr>
        <p:spPr>
          <a:xfrm>
            <a:off x="914400" y="5440680"/>
            <a:ext cx="3383280" cy="164592"/>
          </a:xfrm>
          <a:prstGeom prst="rect">
            <a:avLst/>
          </a:prstGeom>
          <a:noFill/>
          <a:ln/>
        </p:spPr>
        <p:txBody>
          <a:bodyPr wrap="square" lIns="0" tIns="0" rIns="0" bIns="0" rtlCol="0" anchor="ctr"/>
          <a:lstStyle/>
          <a:p>
            <a:pPr marL="0" indent="0">
              <a:buNone/>
            </a:pPr>
            <a:r>
              <a:rPr lang="en-US" sz="1150" b="1" dirty="0">
                <a:solidFill>
                  <a:srgbClr val="111827"/>
                </a:solidFill>
                <a:latin typeface="Aptos" pitchFamily="34" charset="0"/>
                <a:ea typeface="Aptos" pitchFamily="34" charset="-122"/>
                <a:cs typeface="Aptos" pitchFamily="34" charset="-120"/>
              </a:rPr>
              <a:t>How these pictures support the case study</a:t>
            </a:r>
            <a:endParaRPr lang="en-US" sz="1150" dirty="0"/>
          </a:p>
        </p:txBody>
      </p:sp>
      <p:sp>
        <p:nvSpPr>
          <p:cNvPr id="22" name="Text 15"/>
          <p:cNvSpPr/>
          <p:nvPr/>
        </p:nvSpPr>
        <p:spPr>
          <a:xfrm>
            <a:off x="4434840" y="5385816"/>
            <a:ext cx="6537960" cy="237744"/>
          </a:xfrm>
          <a:prstGeom prst="rect">
            <a:avLst/>
          </a:prstGeom>
          <a:noFill/>
          <a:ln/>
        </p:spPr>
        <p:txBody>
          <a:bodyPr wrap="square" lIns="0" tIns="0" rIns="0" bIns="0" rtlCol="0" anchor="ctr">
            <a:normAutofit/>
          </a:bodyPr>
          <a:lstStyle/>
          <a:p>
            <a:pPr marL="0" indent="0">
              <a:buNone/>
            </a:pPr>
            <a:r>
              <a:rPr lang="en-US" sz="860" dirty="0">
                <a:solidFill>
                  <a:srgbClr val="6B7280"/>
                </a:solidFill>
                <a:latin typeface="Aptos" pitchFamily="34" charset="0"/>
                <a:ea typeface="Aptos" pitchFamily="34" charset="-122"/>
                <a:cs typeface="Aptos" pitchFamily="34" charset="-120"/>
              </a:rPr>
              <a:t>They show the complete prototype loop during testing: a real camera frame is captured, MediaPipe/OpenCV processing runs locally, the terminal prints pose state feedback, and the final evidence is used by the web dashboard.</a:t>
            </a:r>
            <a:endParaRPr lang="en-US" sz="860" dirty="0"/>
          </a:p>
        </p:txBody>
      </p:sp>
      <p:sp>
        <p:nvSpPr>
          <p:cNvPr id="23" name="Shape 16"/>
          <p:cNvSpPr/>
          <p:nvPr/>
        </p:nvSpPr>
        <p:spPr>
          <a:xfrm>
            <a:off x="914400" y="5797296"/>
            <a:ext cx="1234440" cy="292608"/>
          </a:xfrm>
          <a:prstGeom prst="roundRect">
            <a:avLst>
              <a:gd name="adj" fmla="val 50000"/>
            </a:avLst>
          </a:prstGeom>
          <a:solidFill>
            <a:srgbClr val="DBEAFE"/>
          </a:solidFill>
          <a:ln w="12700">
            <a:solidFill>
              <a:srgbClr val="DBEAFE"/>
            </a:solidFill>
            <a:prstDash val="solid"/>
          </a:ln>
        </p:spPr>
        <p:txBody>
          <a:bodyPr/>
          <a:lstStyle/>
          <a:p>
            <a:endParaRPr lang="en-GB"/>
          </a:p>
        </p:txBody>
      </p:sp>
      <p:sp>
        <p:nvSpPr>
          <p:cNvPr id="24" name="Text 17"/>
          <p:cNvSpPr/>
          <p:nvPr/>
        </p:nvSpPr>
        <p:spPr>
          <a:xfrm>
            <a:off x="987552" y="5861304"/>
            <a:ext cx="1088136" cy="137160"/>
          </a:xfrm>
          <a:prstGeom prst="rect">
            <a:avLst/>
          </a:prstGeom>
          <a:noFill/>
          <a:ln/>
        </p:spPr>
        <p:txBody>
          <a:bodyPr wrap="square" lIns="0" tIns="0" rIns="0" bIns="0" rtlCol="0" anchor="ctr">
            <a:normAutofit/>
          </a:bodyPr>
          <a:lstStyle/>
          <a:p>
            <a:pPr marL="0" indent="0" algn="ctr">
              <a:buNone/>
            </a:pPr>
            <a:r>
              <a:rPr lang="en-US" sz="730" b="1" dirty="0">
                <a:solidFill>
                  <a:srgbClr val="2563EB"/>
                </a:solidFill>
                <a:latin typeface="Aptos" pitchFamily="34" charset="0"/>
                <a:ea typeface="Aptos" pitchFamily="34" charset="-122"/>
                <a:cs typeface="Aptos" pitchFamily="34" charset="-120"/>
              </a:rPr>
              <a:t>camera evidence</a:t>
            </a:r>
            <a:endParaRPr lang="en-US" sz="730" dirty="0"/>
          </a:p>
        </p:txBody>
      </p:sp>
      <p:sp>
        <p:nvSpPr>
          <p:cNvPr id="25" name="Shape 18"/>
          <p:cNvSpPr/>
          <p:nvPr/>
        </p:nvSpPr>
        <p:spPr>
          <a:xfrm>
            <a:off x="2331720" y="5797296"/>
            <a:ext cx="1325880" cy="292608"/>
          </a:xfrm>
          <a:prstGeom prst="roundRect">
            <a:avLst>
              <a:gd name="adj" fmla="val 50000"/>
            </a:avLst>
          </a:prstGeom>
          <a:solidFill>
            <a:srgbClr val="D1FAE5"/>
          </a:solidFill>
          <a:ln w="12700">
            <a:solidFill>
              <a:srgbClr val="D1FAE5"/>
            </a:solidFill>
            <a:prstDash val="solid"/>
          </a:ln>
        </p:spPr>
        <p:txBody>
          <a:bodyPr/>
          <a:lstStyle/>
          <a:p>
            <a:endParaRPr lang="en-GB"/>
          </a:p>
        </p:txBody>
      </p:sp>
      <p:sp>
        <p:nvSpPr>
          <p:cNvPr id="26" name="Text 19"/>
          <p:cNvSpPr/>
          <p:nvPr/>
        </p:nvSpPr>
        <p:spPr>
          <a:xfrm>
            <a:off x="2404872" y="5861304"/>
            <a:ext cx="1179576" cy="137160"/>
          </a:xfrm>
          <a:prstGeom prst="rect">
            <a:avLst/>
          </a:prstGeom>
          <a:noFill/>
          <a:ln/>
        </p:spPr>
        <p:txBody>
          <a:bodyPr wrap="square" lIns="0" tIns="0" rIns="0" bIns="0" rtlCol="0" anchor="ctr">
            <a:normAutofit/>
          </a:bodyPr>
          <a:lstStyle/>
          <a:p>
            <a:pPr marL="0" indent="0" algn="ctr">
              <a:buNone/>
            </a:pPr>
            <a:r>
              <a:rPr lang="en-US" sz="730" b="1" dirty="0">
                <a:solidFill>
                  <a:srgbClr val="10B981"/>
                </a:solidFill>
                <a:latin typeface="Aptos" pitchFamily="34" charset="0"/>
                <a:ea typeface="Aptos" pitchFamily="34" charset="-122"/>
                <a:cs typeface="Aptos" pitchFamily="34" charset="-120"/>
              </a:rPr>
              <a:t>terminal feedback</a:t>
            </a:r>
            <a:endParaRPr lang="en-US" sz="730" dirty="0"/>
          </a:p>
        </p:txBody>
      </p:sp>
      <p:sp>
        <p:nvSpPr>
          <p:cNvPr id="27" name="Shape 20"/>
          <p:cNvSpPr/>
          <p:nvPr/>
        </p:nvSpPr>
        <p:spPr>
          <a:xfrm>
            <a:off x="3858768" y="5797296"/>
            <a:ext cx="1234440" cy="292608"/>
          </a:xfrm>
          <a:prstGeom prst="roundRect">
            <a:avLst>
              <a:gd name="adj" fmla="val 50000"/>
            </a:avLst>
          </a:prstGeom>
          <a:solidFill>
            <a:srgbClr val="FEF3C7"/>
          </a:solidFill>
          <a:ln w="12700">
            <a:solidFill>
              <a:srgbClr val="FEF3C7"/>
            </a:solidFill>
            <a:prstDash val="solid"/>
          </a:ln>
        </p:spPr>
        <p:txBody>
          <a:bodyPr/>
          <a:lstStyle/>
          <a:p>
            <a:endParaRPr lang="en-GB"/>
          </a:p>
        </p:txBody>
      </p:sp>
      <p:sp>
        <p:nvSpPr>
          <p:cNvPr id="28" name="Text 21"/>
          <p:cNvSpPr/>
          <p:nvPr/>
        </p:nvSpPr>
        <p:spPr>
          <a:xfrm>
            <a:off x="3931920" y="5861304"/>
            <a:ext cx="1088136" cy="137160"/>
          </a:xfrm>
          <a:prstGeom prst="rect">
            <a:avLst/>
          </a:prstGeom>
          <a:noFill/>
          <a:ln/>
        </p:spPr>
        <p:txBody>
          <a:bodyPr wrap="square" lIns="0" tIns="0" rIns="0" bIns="0" rtlCol="0" anchor="ctr">
            <a:normAutofit/>
          </a:bodyPr>
          <a:lstStyle/>
          <a:p>
            <a:pPr marL="0" indent="0" algn="ctr">
              <a:buNone/>
            </a:pPr>
            <a:r>
              <a:rPr lang="en-US" sz="730" b="1" dirty="0">
                <a:solidFill>
                  <a:srgbClr val="F59E0B"/>
                </a:solidFill>
                <a:latin typeface="Aptos" pitchFamily="34" charset="0"/>
                <a:ea typeface="Aptos" pitchFamily="34" charset="-122"/>
                <a:cs typeface="Aptos" pitchFamily="34" charset="-120"/>
              </a:rPr>
              <a:t>local execution</a:t>
            </a:r>
            <a:endParaRPr lang="en-US" sz="730" dirty="0"/>
          </a:p>
        </p:txBody>
      </p:sp>
      <p:sp>
        <p:nvSpPr>
          <p:cNvPr id="29" name="Shape 22"/>
          <p:cNvSpPr/>
          <p:nvPr/>
        </p:nvSpPr>
        <p:spPr>
          <a:xfrm>
            <a:off x="5303520" y="5797296"/>
            <a:ext cx="1463040" cy="292608"/>
          </a:xfrm>
          <a:prstGeom prst="roundRect">
            <a:avLst>
              <a:gd name="adj" fmla="val 50000"/>
            </a:avLst>
          </a:prstGeom>
          <a:solidFill>
            <a:srgbClr val="FFE4EC"/>
          </a:solidFill>
          <a:ln w="12700">
            <a:solidFill>
              <a:srgbClr val="FFE4EC"/>
            </a:solidFill>
            <a:prstDash val="solid"/>
          </a:ln>
        </p:spPr>
        <p:txBody>
          <a:bodyPr/>
          <a:lstStyle/>
          <a:p>
            <a:endParaRPr lang="en-GB"/>
          </a:p>
        </p:txBody>
      </p:sp>
      <p:sp>
        <p:nvSpPr>
          <p:cNvPr id="30" name="Text 23"/>
          <p:cNvSpPr/>
          <p:nvPr/>
        </p:nvSpPr>
        <p:spPr>
          <a:xfrm>
            <a:off x="5376672" y="5861304"/>
            <a:ext cx="1316736" cy="137160"/>
          </a:xfrm>
          <a:prstGeom prst="rect">
            <a:avLst/>
          </a:prstGeom>
          <a:noFill/>
          <a:ln/>
        </p:spPr>
        <p:txBody>
          <a:bodyPr wrap="square" lIns="0" tIns="0" rIns="0" bIns="0" rtlCol="0" anchor="ctr">
            <a:normAutofit/>
          </a:bodyPr>
          <a:lstStyle/>
          <a:p>
            <a:pPr marL="0" indent="0" algn="ctr">
              <a:buNone/>
            </a:pPr>
            <a:r>
              <a:rPr lang="en-US" sz="730" b="1" dirty="0">
                <a:solidFill>
                  <a:srgbClr val="E6395A"/>
                </a:solidFill>
                <a:latin typeface="Aptos" pitchFamily="34" charset="0"/>
                <a:ea typeface="Aptos" pitchFamily="34" charset="-122"/>
                <a:cs typeface="Aptos" pitchFamily="34" charset="-120"/>
              </a:rPr>
              <a:t>prototype validation</a:t>
            </a:r>
            <a:endParaRPr lang="en-US" sz="730" dirty="0"/>
          </a:p>
        </p:txBody>
      </p:sp>
      <p:sp>
        <p:nvSpPr>
          <p:cNvPr id="31" name="Shape 24"/>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32" name="Text 25"/>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Additional prototype pictures</a:t>
            </a:r>
            <a:endParaRPr lang="en-US" sz="680" dirty="0"/>
          </a:p>
        </p:txBody>
      </p:sp>
      <p:sp>
        <p:nvSpPr>
          <p:cNvPr id="33" name="Text 26"/>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ADDITIONAL PICTURES</a:t>
            </a:r>
            <a:endParaRPr lang="en-US" sz="850" dirty="0"/>
          </a:p>
        </p:txBody>
      </p:sp>
      <p:sp>
        <p:nvSpPr>
          <p:cNvPr id="3" name="Text 1"/>
          <p:cNvSpPr/>
          <p:nvPr/>
        </p:nvSpPr>
        <p:spPr>
          <a:xfrm>
            <a:off x="566927" y="658368"/>
            <a:ext cx="11248083" cy="594360"/>
          </a:xfrm>
          <a:prstGeom prst="rect">
            <a:avLst/>
          </a:prstGeom>
          <a:noFill/>
          <a:ln/>
        </p:spPr>
        <p:txBody>
          <a:bodyPr wrap="square" lIns="0" tIns="0" rIns="0" bIns="0" rtlCol="0" anchor="ctr">
            <a:normAutofit fontScale="92500"/>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More system evidence: dashboard, alert logic, and cloud proof-of-concept</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final demo is local, but the project history also includes dashboard screenshots, alert logic, and an Azure proof-of-concept kept for future work.</a:t>
            </a:r>
            <a:endParaRPr lang="en-US" sz="1240" dirty="0"/>
          </a:p>
        </p:txBody>
      </p:sp>
      <p:sp>
        <p:nvSpPr>
          <p:cNvPr id="5" name="Shape 3"/>
          <p:cNvSpPr/>
          <p:nvPr/>
        </p:nvSpPr>
        <p:spPr>
          <a:xfrm>
            <a:off x="658368" y="1691640"/>
            <a:ext cx="4892040" cy="2926080"/>
          </a:xfrm>
          <a:prstGeom prst="roundRect">
            <a:avLst>
              <a:gd name="adj" fmla="val 5625"/>
            </a:avLst>
          </a:prstGeom>
          <a:solidFill>
            <a:srgbClr val="FFFFFF"/>
          </a:solidFill>
          <a:ln w="12700">
            <a:solidFill>
              <a:srgbClr val="DDE6F2"/>
            </a:solidFill>
            <a:prstDash val="solid"/>
          </a:ln>
        </p:spPr>
        <p:txBody>
          <a:bodyPr/>
          <a:lstStyle/>
          <a:p>
            <a:endParaRPr lang="en-GB"/>
          </a:p>
        </p:txBody>
      </p:sp>
      <p:pic>
        <p:nvPicPr>
          <p:cNvPr id="6" name="Image 0" descr="/mnt/data/careagent_assets/dashboard_mock.png"/>
          <p:cNvPicPr>
            <a:picLocks noChangeAspect="1"/>
          </p:cNvPicPr>
          <p:nvPr/>
        </p:nvPicPr>
        <p:blipFill>
          <a:blip r:embed="rId3"/>
          <a:srcRect t="7625" b="7625"/>
          <a:stretch/>
        </p:blipFill>
        <p:spPr>
          <a:xfrm>
            <a:off x="740664" y="2093976"/>
            <a:ext cx="4727448" cy="2441448"/>
          </a:xfrm>
          <a:prstGeom prst="rect">
            <a:avLst/>
          </a:prstGeom>
        </p:spPr>
      </p:pic>
      <p:sp>
        <p:nvSpPr>
          <p:cNvPr id="7" name="Text 4"/>
          <p:cNvSpPr/>
          <p:nvPr/>
        </p:nvSpPr>
        <p:spPr>
          <a:xfrm>
            <a:off x="804672" y="1792224"/>
            <a:ext cx="459943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Dashboard after FALLING reading</a:t>
            </a:r>
            <a:endParaRPr lang="en-US" sz="820" dirty="0"/>
          </a:p>
        </p:txBody>
      </p:sp>
      <p:sp>
        <p:nvSpPr>
          <p:cNvPr id="8" name="Shape 5"/>
          <p:cNvSpPr/>
          <p:nvPr/>
        </p:nvSpPr>
        <p:spPr>
          <a:xfrm>
            <a:off x="5806440" y="1691640"/>
            <a:ext cx="2743200" cy="1325880"/>
          </a:xfrm>
          <a:prstGeom prst="roundRect">
            <a:avLst>
              <a:gd name="adj" fmla="val 12414"/>
            </a:avLst>
          </a:prstGeom>
          <a:solidFill>
            <a:srgbClr val="FFFFFF"/>
          </a:solidFill>
          <a:ln w="12700">
            <a:solidFill>
              <a:srgbClr val="DDE6F2"/>
            </a:solidFill>
            <a:prstDash val="solid"/>
          </a:ln>
        </p:spPr>
        <p:txBody>
          <a:bodyPr/>
          <a:lstStyle/>
          <a:p>
            <a:endParaRPr lang="en-GB"/>
          </a:p>
        </p:txBody>
      </p:sp>
      <p:pic>
        <p:nvPicPr>
          <p:cNvPr id="9" name="Image 1" descr="/mnt/data/careagent_assets/emergency_code.png"/>
          <p:cNvPicPr>
            <a:picLocks noChangeAspect="1"/>
          </p:cNvPicPr>
          <p:nvPr/>
        </p:nvPicPr>
        <p:blipFill>
          <a:blip r:embed="rId4"/>
          <a:stretch>
            <a:fillRect/>
          </a:stretch>
        </p:blipFill>
        <p:spPr>
          <a:xfrm>
            <a:off x="6377432" y="2093976"/>
            <a:ext cx="1601216" cy="841248"/>
          </a:xfrm>
          <a:prstGeom prst="rect">
            <a:avLst/>
          </a:prstGeom>
        </p:spPr>
      </p:pic>
      <p:sp>
        <p:nvSpPr>
          <p:cNvPr id="10" name="Text 6"/>
          <p:cNvSpPr/>
          <p:nvPr/>
        </p:nvSpPr>
        <p:spPr>
          <a:xfrm>
            <a:off x="5952744" y="1792224"/>
            <a:ext cx="245059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Emergency decision logic</a:t>
            </a:r>
            <a:endParaRPr lang="en-US" sz="820" dirty="0"/>
          </a:p>
        </p:txBody>
      </p:sp>
      <p:sp>
        <p:nvSpPr>
          <p:cNvPr id="11" name="Shape 7"/>
          <p:cNvSpPr/>
          <p:nvPr/>
        </p:nvSpPr>
        <p:spPr>
          <a:xfrm>
            <a:off x="8732520" y="1691640"/>
            <a:ext cx="2606040" cy="1325880"/>
          </a:xfrm>
          <a:prstGeom prst="roundRect">
            <a:avLst>
              <a:gd name="adj" fmla="val 12414"/>
            </a:avLst>
          </a:prstGeom>
          <a:solidFill>
            <a:srgbClr val="FFFFFF"/>
          </a:solidFill>
          <a:ln w="12700">
            <a:solidFill>
              <a:srgbClr val="DDE6F2"/>
            </a:solidFill>
            <a:prstDash val="solid"/>
          </a:ln>
        </p:spPr>
        <p:txBody>
          <a:bodyPr/>
          <a:lstStyle/>
          <a:p>
            <a:endParaRPr lang="en-GB"/>
          </a:p>
        </p:txBody>
      </p:sp>
      <p:pic>
        <p:nvPicPr>
          <p:cNvPr id="12" name="Image 2" descr="/mnt/data/careagent_assets/training_code.png"/>
          <p:cNvPicPr>
            <a:picLocks noChangeAspect="1"/>
          </p:cNvPicPr>
          <p:nvPr/>
        </p:nvPicPr>
        <p:blipFill>
          <a:blip r:embed="rId5"/>
          <a:stretch>
            <a:fillRect/>
          </a:stretch>
        </p:blipFill>
        <p:spPr>
          <a:xfrm>
            <a:off x="9293913" y="2093976"/>
            <a:ext cx="1483253" cy="841248"/>
          </a:xfrm>
          <a:prstGeom prst="rect">
            <a:avLst/>
          </a:prstGeom>
        </p:spPr>
      </p:pic>
      <p:sp>
        <p:nvSpPr>
          <p:cNvPr id="13" name="Text 8"/>
          <p:cNvSpPr/>
          <p:nvPr/>
        </p:nvSpPr>
        <p:spPr>
          <a:xfrm>
            <a:off x="8878824" y="1792224"/>
            <a:ext cx="231343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Training/test command proof</a:t>
            </a:r>
            <a:endParaRPr lang="en-US" sz="820" dirty="0"/>
          </a:p>
        </p:txBody>
      </p:sp>
      <p:sp>
        <p:nvSpPr>
          <p:cNvPr id="14" name="Shape 9"/>
          <p:cNvSpPr/>
          <p:nvPr/>
        </p:nvSpPr>
        <p:spPr>
          <a:xfrm>
            <a:off x="5806440" y="3273552"/>
            <a:ext cx="5532120" cy="1783080"/>
          </a:xfrm>
          <a:prstGeom prst="roundRect">
            <a:avLst>
              <a:gd name="adj" fmla="val 9231"/>
            </a:avLst>
          </a:prstGeom>
          <a:solidFill>
            <a:srgbClr val="FFFFFF"/>
          </a:solidFill>
          <a:ln w="12700">
            <a:solidFill>
              <a:srgbClr val="DDE6F2"/>
            </a:solidFill>
            <a:prstDash val="solid"/>
          </a:ln>
        </p:spPr>
        <p:txBody>
          <a:bodyPr/>
          <a:lstStyle/>
          <a:p>
            <a:endParaRPr lang="en-GB"/>
          </a:p>
        </p:txBody>
      </p:sp>
      <p:pic>
        <p:nvPicPr>
          <p:cNvPr id="15" name="Image 3" descr="/mnt/data/careagent_assets/azure_mock.png"/>
          <p:cNvPicPr>
            <a:picLocks noChangeAspect="1"/>
          </p:cNvPicPr>
          <p:nvPr/>
        </p:nvPicPr>
        <p:blipFill>
          <a:blip r:embed="rId6"/>
          <a:stretch>
            <a:fillRect/>
          </a:stretch>
        </p:blipFill>
        <p:spPr>
          <a:xfrm>
            <a:off x="7409711" y="3675888"/>
            <a:ext cx="2325579" cy="1298448"/>
          </a:xfrm>
          <a:prstGeom prst="rect">
            <a:avLst/>
          </a:prstGeom>
        </p:spPr>
      </p:pic>
      <p:sp>
        <p:nvSpPr>
          <p:cNvPr id="16" name="Text 10"/>
          <p:cNvSpPr/>
          <p:nvPr/>
        </p:nvSpPr>
        <p:spPr>
          <a:xfrm>
            <a:off x="5952744" y="3374136"/>
            <a:ext cx="5239512" cy="182880"/>
          </a:xfrm>
          <a:prstGeom prst="rect">
            <a:avLst/>
          </a:prstGeom>
          <a:noFill/>
          <a:ln/>
        </p:spPr>
        <p:txBody>
          <a:bodyPr wrap="square" lIns="0" tIns="0" rIns="0" bIns="0" rtlCol="0" anchor="ctr"/>
          <a:lstStyle/>
          <a:p>
            <a:pPr marL="0" indent="0">
              <a:buNone/>
            </a:pPr>
            <a:r>
              <a:rPr lang="en-US" sz="820" b="1" dirty="0">
                <a:solidFill>
                  <a:srgbClr val="6B7280"/>
                </a:solidFill>
                <a:latin typeface="Aptos" pitchFamily="34" charset="0"/>
                <a:ea typeface="Aptos" pitchFamily="34" charset="-122"/>
                <a:cs typeface="Aptos" pitchFamily="34" charset="-120"/>
              </a:rPr>
              <a:t>Earlier Azure IoT + storage telemetry proof-of-concept</a:t>
            </a:r>
            <a:endParaRPr lang="en-US" sz="820" dirty="0"/>
          </a:p>
        </p:txBody>
      </p:sp>
      <p:sp>
        <p:nvSpPr>
          <p:cNvPr id="17" name="Shape 11"/>
          <p:cNvSpPr/>
          <p:nvPr/>
        </p:nvSpPr>
        <p:spPr>
          <a:xfrm>
            <a:off x="658368" y="5321808"/>
            <a:ext cx="10680192" cy="804672"/>
          </a:xfrm>
          <a:prstGeom prst="roundRect">
            <a:avLst>
              <a:gd name="adj" fmla="val 20455"/>
            </a:avLst>
          </a:prstGeom>
          <a:solidFill>
            <a:srgbClr val="FFFFFF"/>
          </a:solidFill>
          <a:ln w="12700">
            <a:solidFill>
              <a:srgbClr val="DDE6F2"/>
            </a:solidFill>
            <a:prstDash val="solid"/>
          </a:ln>
        </p:spPr>
        <p:txBody>
          <a:bodyPr/>
          <a:lstStyle/>
          <a:p>
            <a:endParaRPr lang="en-GB"/>
          </a:p>
        </p:txBody>
      </p:sp>
      <p:sp>
        <p:nvSpPr>
          <p:cNvPr id="18" name="Text 12"/>
          <p:cNvSpPr/>
          <p:nvPr/>
        </p:nvSpPr>
        <p:spPr>
          <a:xfrm>
            <a:off x="914400" y="5559552"/>
            <a:ext cx="3108960" cy="182880"/>
          </a:xfrm>
          <a:prstGeom prst="rect">
            <a:avLst/>
          </a:prstGeom>
          <a:noFill/>
          <a:ln/>
        </p:spPr>
        <p:txBody>
          <a:bodyPr wrap="square" lIns="0" tIns="0" rIns="0" bIns="0"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What the extra screenshots prove</a:t>
            </a:r>
            <a:endParaRPr lang="en-US" sz="1600" dirty="0"/>
          </a:p>
        </p:txBody>
      </p:sp>
      <p:sp>
        <p:nvSpPr>
          <p:cNvPr id="19" name="Shape 13"/>
          <p:cNvSpPr/>
          <p:nvPr/>
        </p:nvSpPr>
        <p:spPr>
          <a:xfrm>
            <a:off x="3886200" y="5577840"/>
            <a:ext cx="73152" cy="73152"/>
          </a:xfrm>
          <a:prstGeom prst="ellipse">
            <a:avLst/>
          </a:prstGeom>
          <a:solidFill>
            <a:srgbClr val="2563EB"/>
          </a:solidFill>
          <a:ln w="12700">
            <a:solidFill>
              <a:srgbClr val="2563EB"/>
            </a:solidFill>
            <a:prstDash val="solid"/>
          </a:ln>
        </p:spPr>
        <p:txBody>
          <a:bodyPr/>
          <a:lstStyle/>
          <a:p>
            <a:endParaRPr lang="en-GB"/>
          </a:p>
        </p:txBody>
      </p:sp>
      <p:sp>
        <p:nvSpPr>
          <p:cNvPr id="20" name="Text 14"/>
          <p:cNvSpPr/>
          <p:nvPr/>
        </p:nvSpPr>
        <p:spPr>
          <a:xfrm>
            <a:off x="4069080" y="5504688"/>
            <a:ext cx="6903720" cy="137160"/>
          </a:xfrm>
          <a:prstGeom prst="rect">
            <a:avLst/>
          </a:prstGeom>
          <a:noFill/>
          <a:ln/>
        </p:spPr>
        <p:txBody>
          <a:bodyPr wrap="square" lIns="0" tIns="0" rIns="0" bIns="0" rtlCol="0" anchor="ctr">
            <a:normAutofit/>
          </a:bodyPr>
          <a:lstStyle/>
          <a:p>
            <a:pPr marL="0" indent="0">
              <a:buNone/>
            </a:pPr>
            <a:r>
              <a:rPr lang="en-US" sz="800" dirty="0">
                <a:solidFill>
                  <a:srgbClr val="111827"/>
                </a:solidFill>
                <a:latin typeface="Aptos" pitchFamily="34" charset="0"/>
                <a:ea typeface="Aptos" pitchFamily="34" charset="-122"/>
                <a:cs typeface="Aptos" pitchFamily="34" charset="-120"/>
              </a:rPr>
              <a:t>Dashboard view confirms risk indicators, latest snapshot, telemetry cards, and caregiver-facing status.</a:t>
            </a:r>
            <a:endParaRPr lang="en-US" sz="800" dirty="0"/>
          </a:p>
        </p:txBody>
      </p:sp>
      <p:sp>
        <p:nvSpPr>
          <p:cNvPr id="21" name="Shape 15"/>
          <p:cNvSpPr/>
          <p:nvPr/>
        </p:nvSpPr>
        <p:spPr>
          <a:xfrm>
            <a:off x="3886200" y="5769864"/>
            <a:ext cx="73152" cy="73152"/>
          </a:xfrm>
          <a:prstGeom prst="ellipse">
            <a:avLst/>
          </a:prstGeom>
          <a:solidFill>
            <a:srgbClr val="2563EB"/>
          </a:solidFill>
          <a:ln w="12700">
            <a:solidFill>
              <a:srgbClr val="2563EB"/>
            </a:solidFill>
            <a:prstDash val="solid"/>
          </a:ln>
        </p:spPr>
        <p:txBody>
          <a:bodyPr/>
          <a:lstStyle/>
          <a:p>
            <a:endParaRPr lang="en-GB"/>
          </a:p>
        </p:txBody>
      </p:sp>
      <p:sp>
        <p:nvSpPr>
          <p:cNvPr id="22" name="Text 16"/>
          <p:cNvSpPr/>
          <p:nvPr/>
        </p:nvSpPr>
        <p:spPr>
          <a:xfrm>
            <a:off x="4069080" y="5696712"/>
            <a:ext cx="6903720" cy="137160"/>
          </a:xfrm>
          <a:prstGeom prst="rect">
            <a:avLst/>
          </a:prstGeom>
          <a:noFill/>
          <a:ln/>
        </p:spPr>
        <p:txBody>
          <a:bodyPr wrap="square" lIns="0" tIns="0" rIns="0" bIns="0" rtlCol="0" anchor="ctr">
            <a:normAutofit/>
          </a:bodyPr>
          <a:lstStyle/>
          <a:p>
            <a:pPr marL="0" indent="0">
              <a:buNone/>
            </a:pPr>
            <a:r>
              <a:rPr lang="en-US" sz="800" dirty="0">
                <a:solidFill>
                  <a:srgbClr val="111827"/>
                </a:solidFill>
                <a:latin typeface="Aptos" pitchFamily="34" charset="0"/>
                <a:ea typeface="Aptos" pitchFamily="34" charset="-122"/>
                <a:cs typeface="Aptos" pitchFamily="34" charset="-120"/>
              </a:rPr>
              <a:t>Emergency logic shows how pose and risk reasons become a conservative alert decision.</a:t>
            </a:r>
            <a:endParaRPr lang="en-US" sz="800" dirty="0"/>
          </a:p>
        </p:txBody>
      </p:sp>
      <p:sp>
        <p:nvSpPr>
          <p:cNvPr id="23" name="Shape 17"/>
          <p:cNvSpPr/>
          <p:nvPr/>
        </p:nvSpPr>
        <p:spPr>
          <a:xfrm>
            <a:off x="3886200" y="5961888"/>
            <a:ext cx="73152" cy="73152"/>
          </a:xfrm>
          <a:prstGeom prst="ellipse">
            <a:avLst/>
          </a:prstGeom>
          <a:solidFill>
            <a:srgbClr val="2563EB"/>
          </a:solidFill>
          <a:ln w="12700">
            <a:solidFill>
              <a:srgbClr val="2563EB"/>
            </a:solidFill>
            <a:prstDash val="solid"/>
          </a:ln>
        </p:spPr>
        <p:txBody>
          <a:bodyPr/>
          <a:lstStyle/>
          <a:p>
            <a:endParaRPr lang="en-GB"/>
          </a:p>
        </p:txBody>
      </p:sp>
      <p:sp>
        <p:nvSpPr>
          <p:cNvPr id="24" name="Text 18"/>
          <p:cNvSpPr/>
          <p:nvPr/>
        </p:nvSpPr>
        <p:spPr>
          <a:xfrm>
            <a:off x="4069080" y="5888736"/>
            <a:ext cx="6903720" cy="137160"/>
          </a:xfrm>
          <a:prstGeom prst="rect">
            <a:avLst/>
          </a:prstGeom>
          <a:noFill/>
          <a:ln/>
        </p:spPr>
        <p:txBody>
          <a:bodyPr wrap="square" lIns="0" tIns="0" rIns="0" bIns="0" rtlCol="0" anchor="ctr">
            <a:normAutofit/>
          </a:bodyPr>
          <a:lstStyle/>
          <a:p>
            <a:pPr marL="0" indent="0">
              <a:buNone/>
            </a:pPr>
            <a:r>
              <a:rPr lang="en-US" sz="800" dirty="0">
                <a:solidFill>
                  <a:srgbClr val="111827"/>
                </a:solidFill>
                <a:latin typeface="Aptos" pitchFamily="34" charset="0"/>
                <a:ea typeface="Aptos" pitchFamily="34" charset="-122"/>
                <a:cs typeface="Aptos" pitchFamily="34" charset="-120"/>
              </a:rPr>
              <a:t>Azure pictures document previous cloud experiments, but V3.0 keeps the working demo local-first.</a:t>
            </a:r>
            <a:endParaRPr lang="en-US" sz="800" dirty="0"/>
          </a:p>
        </p:txBody>
      </p:sp>
      <p:sp>
        <p:nvSpPr>
          <p:cNvPr id="25" name="Shape 1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26" name="Text 2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Additional system pictures</a:t>
            </a:r>
            <a:endParaRPr lang="en-US" sz="680" dirty="0"/>
          </a:p>
        </p:txBody>
      </p:sp>
      <p:sp>
        <p:nvSpPr>
          <p:cNvPr id="27" name="Text 2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RESULTS + DISCUSSION</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Results and discussion</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prototype successfully demonstrates a complete local monitoring loop, while also showing the limits of camera-only medical inference.</a:t>
            </a:r>
            <a:endParaRPr lang="en-US" sz="1240" dirty="0"/>
          </a:p>
        </p:txBody>
      </p:sp>
      <p:sp>
        <p:nvSpPr>
          <p:cNvPr id="5" name="Shape 3"/>
          <p:cNvSpPr/>
          <p:nvPr/>
        </p:nvSpPr>
        <p:spPr>
          <a:xfrm>
            <a:off x="658368" y="1828800"/>
            <a:ext cx="5074920" cy="960120"/>
          </a:xfrm>
          <a:prstGeom prst="roundRect">
            <a:avLst>
              <a:gd name="adj" fmla="val 17143"/>
            </a:avLst>
          </a:prstGeom>
          <a:solidFill>
            <a:srgbClr val="FFFFFF"/>
          </a:solidFill>
          <a:ln w="12700">
            <a:solidFill>
              <a:srgbClr val="DDE6F2"/>
            </a:solidFill>
            <a:prstDash val="solid"/>
          </a:ln>
        </p:spPr>
        <p:txBody>
          <a:bodyPr/>
          <a:lstStyle/>
          <a:p>
            <a:endParaRPr lang="en-GB"/>
          </a:p>
        </p:txBody>
      </p:sp>
      <p:sp>
        <p:nvSpPr>
          <p:cNvPr id="6" name="Shape 4"/>
          <p:cNvSpPr/>
          <p:nvPr/>
        </p:nvSpPr>
        <p:spPr>
          <a:xfrm>
            <a:off x="886968" y="2066544"/>
            <a:ext cx="384048" cy="384048"/>
          </a:xfrm>
          <a:prstGeom prst="ellipse">
            <a:avLst/>
          </a:prstGeom>
          <a:solidFill>
            <a:srgbClr val="10B981"/>
          </a:solidFill>
          <a:ln w="12700">
            <a:solidFill>
              <a:srgbClr val="10B981"/>
            </a:solidFill>
            <a:prstDash val="solid"/>
          </a:ln>
        </p:spPr>
        <p:txBody>
          <a:bodyPr/>
          <a:lstStyle/>
          <a:p>
            <a:endParaRPr lang="en-GB"/>
          </a:p>
        </p:txBody>
      </p:sp>
      <p:sp>
        <p:nvSpPr>
          <p:cNvPr id="7" name="Text 5"/>
          <p:cNvSpPr/>
          <p:nvPr/>
        </p:nvSpPr>
        <p:spPr>
          <a:xfrm>
            <a:off x="1014984" y="2176272"/>
            <a:ext cx="109728" cy="64008"/>
          </a:xfrm>
          <a:prstGeom prst="rect">
            <a:avLst/>
          </a:prstGeom>
          <a:noFill/>
          <a:ln/>
        </p:spPr>
        <p:txBody>
          <a:bodyPr wrap="square" lIns="0" tIns="0" rIns="0" bIns="0" rtlCol="0" anchor="ctr"/>
          <a:lstStyle/>
          <a:p>
            <a:pPr marL="0" indent="0" algn="ctr">
              <a:buNone/>
            </a:pPr>
            <a:r>
              <a:rPr lang="en-US" sz="650" b="1" dirty="0">
                <a:solidFill>
                  <a:srgbClr val="FFFFFF"/>
                </a:solidFill>
                <a:latin typeface="Aptos" pitchFamily="34" charset="0"/>
                <a:ea typeface="Aptos" pitchFamily="34" charset="-122"/>
                <a:cs typeface="Aptos" pitchFamily="34" charset="-120"/>
              </a:rPr>
              <a:t>1</a:t>
            </a:r>
            <a:endParaRPr lang="en-US" sz="650" dirty="0"/>
          </a:p>
        </p:txBody>
      </p:sp>
      <p:sp>
        <p:nvSpPr>
          <p:cNvPr id="8" name="Text 6"/>
          <p:cNvSpPr/>
          <p:nvPr/>
        </p:nvSpPr>
        <p:spPr>
          <a:xfrm>
            <a:off x="1435608" y="2029968"/>
            <a:ext cx="3840480" cy="164592"/>
          </a:xfrm>
          <a:prstGeom prst="rect">
            <a:avLst/>
          </a:prstGeom>
          <a:noFill/>
          <a:ln/>
        </p:spPr>
        <p:txBody>
          <a:bodyPr wrap="square" lIns="0" tIns="0" rIns="0" bIns="0" rtlCol="0" anchor="ctr"/>
          <a:lstStyle/>
          <a:p>
            <a:pPr marL="0" indent="0">
              <a:buNone/>
            </a:pPr>
            <a:r>
              <a:rPr lang="en-US" sz="1150" b="1" dirty="0">
                <a:solidFill>
                  <a:srgbClr val="111827"/>
                </a:solidFill>
                <a:latin typeface="Aptos" pitchFamily="34" charset="0"/>
                <a:ea typeface="Aptos" pitchFamily="34" charset="-122"/>
                <a:cs typeface="Aptos" pitchFamily="34" charset="-120"/>
              </a:rPr>
              <a:t>Working local loop</a:t>
            </a:r>
            <a:endParaRPr lang="en-US" sz="1150" dirty="0"/>
          </a:p>
        </p:txBody>
      </p:sp>
      <p:sp>
        <p:nvSpPr>
          <p:cNvPr id="9" name="Text 7"/>
          <p:cNvSpPr/>
          <p:nvPr/>
        </p:nvSpPr>
        <p:spPr>
          <a:xfrm>
            <a:off x="1435608" y="2304288"/>
            <a:ext cx="3931920" cy="18288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RPi-style agent → local API → Flask dashboard → visual snapshot + history.</a:t>
            </a:r>
            <a:endParaRPr lang="en-US" sz="840" dirty="0"/>
          </a:p>
        </p:txBody>
      </p:sp>
      <p:sp>
        <p:nvSpPr>
          <p:cNvPr id="10" name="Shape 8"/>
          <p:cNvSpPr/>
          <p:nvPr/>
        </p:nvSpPr>
        <p:spPr>
          <a:xfrm>
            <a:off x="6144768" y="1828800"/>
            <a:ext cx="5074920" cy="960120"/>
          </a:xfrm>
          <a:prstGeom prst="roundRect">
            <a:avLst>
              <a:gd name="adj" fmla="val 17143"/>
            </a:avLst>
          </a:prstGeom>
          <a:solidFill>
            <a:srgbClr val="FFFFFF"/>
          </a:solidFill>
          <a:ln w="12700">
            <a:solidFill>
              <a:srgbClr val="DDE6F2"/>
            </a:solidFill>
            <a:prstDash val="solid"/>
          </a:ln>
        </p:spPr>
        <p:txBody>
          <a:bodyPr/>
          <a:lstStyle/>
          <a:p>
            <a:endParaRPr lang="en-GB"/>
          </a:p>
        </p:txBody>
      </p:sp>
      <p:sp>
        <p:nvSpPr>
          <p:cNvPr id="11" name="Shape 9"/>
          <p:cNvSpPr/>
          <p:nvPr/>
        </p:nvSpPr>
        <p:spPr>
          <a:xfrm>
            <a:off x="6373368" y="2066544"/>
            <a:ext cx="384048" cy="384048"/>
          </a:xfrm>
          <a:prstGeom prst="ellipse">
            <a:avLst/>
          </a:prstGeom>
          <a:solidFill>
            <a:srgbClr val="2563EB"/>
          </a:solidFill>
          <a:ln w="12700">
            <a:solidFill>
              <a:srgbClr val="2563EB"/>
            </a:solidFill>
            <a:prstDash val="solid"/>
          </a:ln>
        </p:spPr>
        <p:txBody>
          <a:bodyPr/>
          <a:lstStyle/>
          <a:p>
            <a:endParaRPr lang="en-GB"/>
          </a:p>
        </p:txBody>
      </p:sp>
      <p:sp>
        <p:nvSpPr>
          <p:cNvPr id="12" name="Text 10"/>
          <p:cNvSpPr/>
          <p:nvPr/>
        </p:nvSpPr>
        <p:spPr>
          <a:xfrm>
            <a:off x="6501384" y="2176272"/>
            <a:ext cx="109728" cy="64008"/>
          </a:xfrm>
          <a:prstGeom prst="rect">
            <a:avLst/>
          </a:prstGeom>
          <a:noFill/>
          <a:ln/>
        </p:spPr>
        <p:txBody>
          <a:bodyPr wrap="square" lIns="0" tIns="0" rIns="0" bIns="0" rtlCol="0" anchor="ctr"/>
          <a:lstStyle/>
          <a:p>
            <a:pPr marL="0" indent="0" algn="ctr">
              <a:buNone/>
            </a:pPr>
            <a:r>
              <a:rPr lang="en-US" sz="650" b="1" dirty="0">
                <a:solidFill>
                  <a:srgbClr val="FFFFFF"/>
                </a:solidFill>
                <a:latin typeface="Aptos" pitchFamily="34" charset="0"/>
                <a:ea typeface="Aptos" pitchFamily="34" charset="-122"/>
                <a:cs typeface="Aptos" pitchFamily="34" charset="-120"/>
              </a:rPr>
              <a:t>2</a:t>
            </a:r>
            <a:endParaRPr lang="en-US" sz="650" dirty="0"/>
          </a:p>
        </p:txBody>
      </p:sp>
      <p:sp>
        <p:nvSpPr>
          <p:cNvPr id="13" name="Text 11"/>
          <p:cNvSpPr/>
          <p:nvPr/>
        </p:nvSpPr>
        <p:spPr>
          <a:xfrm>
            <a:off x="6922008" y="2029968"/>
            <a:ext cx="3840480" cy="164592"/>
          </a:xfrm>
          <a:prstGeom prst="rect">
            <a:avLst/>
          </a:prstGeom>
          <a:noFill/>
          <a:ln/>
        </p:spPr>
        <p:txBody>
          <a:bodyPr wrap="square" lIns="0" tIns="0" rIns="0" bIns="0" rtlCol="0" anchor="ctr"/>
          <a:lstStyle/>
          <a:p>
            <a:pPr marL="0" indent="0">
              <a:buNone/>
            </a:pPr>
            <a:r>
              <a:rPr lang="en-US" sz="1150" b="1" dirty="0">
                <a:solidFill>
                  <a:srgbClr val="111827"/>
                </a:solidFill>
                <a:latin typeface="Aptos" pitchFamily="34" charset="0"/>
                <a:ea typeface="Aptos" pitchFamily="34" charset="-122"/>
                <a:cs typeface="Aptos" pitchFamily="34" charset="-120"/>
              </a:rPr>
              <a:t>Pose states detected</a:t>
            </a:r>
            <a:endParaRPr lang="en-US" sz="1150" dirty="0"/>
          </a:p>
        </p:txBody>
      </p:sp>
      <p:sp>
        <p:nvSpPr>
          <p:cNvPr id="14" name="Text 12"/>
          <p:cNvSpPr/>
          <p:nvPr/>
        </p:nvSpPr>
        <p:spPr>
          <a:xfrm>
            <a:off x="6922008" y="2304288"/>
            <a:ext cx="3931920" cy="18288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Standing, sitting, falling/collapsing, lying/unknown handling with confidence.</a:t>
            </a:r>
            <a:endParaRPr lang="en-US" sz="840" dirty="0"/>
          </a:p>
        </p:txBody>
      </p:sp>
      <p:sp>
        <p:nvSpPr>
          <p:cNvPr id="15" name="Shape 13"/>
          <p:cNvSpPr/>
          <p:nvPr/>
        </p:nvSpPr>
        <p:spPr>
          <a:xfrm>
            <a:off x="658368" y="3154680"/>
            <a:ext cx="5074920" cy="960120"/>
          </a:xfrm>
          <a:prstGeom prst="roundRect">
            <a:avLst>
              <a:gd name="adj" fmla="val 17143"/>
            </a:avLst>
          </a:prstGeom>
          <a:solidFill>
            <a:srgbClr val="FFFFFF"/>
          </a:solidFill>
          <a:ln w="12700">
            <a:solidFill>
              <a:srgbClr val="DDE6F2"/>
            </a:solidFill>
            <a:prstDash val="solid"/>
          </a:ln>
        </p:spPr>
        <p:txBody>
          <a:bodyPr/>
          <a:lstStyle/>
          <a:p>
            <a:endParaRPr lang="en-GB"/>
          </a:p>
        </p:txBody>
      </p:sp>
      <p:sp>
        <p:nvSpPr>
          <p:cNvPr id="16" name="Shape 14"/>
          <p:cNvSpPr/>
          <p:nvPr/>
        </p:nvSpPr>
        <p:spPr>
          <a:xfrm>
            <a:off x="886968" y="3392424"/>
            <a:ext cx="384048" cy="384048"/>
          </a:xfrm>
          <a:prstGeom prst="ellipse">
            <a:avLst/>
          </a:prstGeom>
          <a:solidFill>
            <a:srgbClr val="F59E0B"/>
          </a:solidFill>
          <a:ln w="12700">
            <a:solidFill>
              <a:srgbClr val="F59E0B"/>
            </a:solidFill>
            <a:prstDash val="solid"/>
          </a:ln>
        </p:spPr>
        <p:txBody>
          <a:bodyPr/>
          <a:lstStyle/>
          <a:p>
            <a:endParaRPr lang="en-GB"/>
          </a:p>
        </p:txBody>
      </p:sp>
      <p:sp>
        <p:nvSpPr>
          <p:cNvPr id="17" name="Text 15"/>
          <p:cNvSpPr/>
          <p:nvPr/>
        </p:nvSpPr>
        <p:spPr>
          <a:xfrm>
            <a:off x="1014984" y="3502152"/>
            <a:ext cx="109728" cy="64008"/>
          </a:xfrm>
          <a:prstGeom prst="rect">
            <a:avLst/>
          </a:prstGeom>
          <a:noFill/>
          <a:ln/>
        </p:spPr>
        <p:txBody>
          <a:bodyPr wrap="square" lIns="0" tIns="0" rIns="0" bIns="0" rtlCol="0" anchor="ctr"/>
          <a:lstStyle/>
          <a:p>
            <a:pPr marL="0" indent="0" algn="ctr">
              <a:buNone/>
            </a:pPr>
            <a:r>
              <a:rPr lang="en-US" sz="650" b="1" dirty="0">
                <a:solidFill>
                  <a:srgbClr val="FFFFFF"/>
                </a:solidFill>
                <a:latin typeface="Aptos" pitchFamily="34" charset="0"/>
                <a:ea typeface="Aptos" pitchFamily="34" charset="-122"/>
                <a:cs typeface="Aptos" pitchFamily="34" charset="-120"/>
              </a:rPr>
              <a:t>3</a:t>
            </a:r>
            <a:endParaRPr lang="en-US" sz="650" dirty="0"/>
          </a:p>
        </p:txBody>
      </p:sp>
      <p:sp>
        <p:nvSpPr>
          <p:cNvPr id="18" name="Text 16"/>
          <p:cNvSpPr/>
          <p:nvPr/>
        </p:nvSpPr>
        <p:spPr>
          <a:xfrm>
            <a:off x="1435608" y="3355848"/>
            <a:ext cx="3840480" cy="164592"/>
          </a:xfrm>
          <a:prstGeom prst="rect">
            <a:avLst/>
          </a:prstGeom>
          <a:noFill/>
          <a:ln/>
        </p:spPr>
        <p:txBody>
          <a:bodyPr wrap="square" lIns="0" tIns="0" rIns="0" bIns="0" rtlCol="0" anchor="ctr"/>
          <a:lstStyle/>
          <a:p>
            <a:pPr marL="0" indent="0">
              <a:buNone/>
            </a:pPr>
            <a:r>
              <a:rPr lang="en-US" sz="1150" b="1" dirty="0">
                <a:solidFill>
                  <a:srgbClr val="111827"/>
                </a:solidFill>
                <a:latin typeface="Aptos" pitchFamily="34" charset="0"/>
                <a:ea typeface="Aptos" pitchFamily="34" charset="-122"/>
                <a:cs typeface="Aptos" pitchFamily="34" charset="-120"/>
              </a:rPr>
              <a:t>Training pipeline ready</a:t>
            </a:r>
            <a:endParaRPr lang="en-US" sz="1150" dirty="0"/>
          </a:p>
        </p:txBody>
      </p:sp>
      <p:sp>
        <p:nvSpPr>
          <p:cNvPr id="19" name="Text 17"/>
          <p:cNvSpPr/>
          <p:nvPr/>
        </p:nvSpPr>
        <p:spPr>
          <a:xfrm>
            <a:off x="1435608" y="3630168"/>
            <a:ext cx="3931920" cy="18288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800 bootstrap rows, starter model, report JSON, and real-data collection commands.</a:t>
            </a:r>
            <a:endParaRPr lang="en-US" sz="840" dirty="0"/>
          </a:p>
        </p:txBody>
      </p:sp>
      <p:sp>
        <p:nvSpPr>
          <p:cNvPr id="20" name="Shape 18"/>
          <p:cNvSpPr/>
          <p:nvPr/>
        </p:nvSpPr>
        <p:spPr>
          <a:xfrm>
            <a:off x="6144768" y="3154680"/>
            <a:ext cx="5074920" cy="960120"/>
          </a:xfrm>
          <a:prstGeom prst="roundRect">
            <a:avLst>
              <a:gd name="adj" fmla="val 17143"/>
            </a:avLst>
          </a:prstGeom>
          <a:solidFill>
            <a:srgbClr val="FFFFFF"/>
          </a:solidFill>
          <a:ln w="12700">
            <a:solidFill>
              <a:srgbClr val="DDE6F2"/>
            </a:solidFill>
            <a:prstDash val="solid"/>
          </a:ln>
        </p:spPr>
        <p:txBody>
          <a:bodyPr/>
          <a:lstStyle/>
          <a:p>
            <a:endParaRPr lang="en-GB"/>
          </a:p>
        </p:txBody>
      </p:sp>
      <p:sp>
        <p:nvSpPr>
          <p:cNvPr id="21" name="Shape 19"/>
          <p:cNvSpPr/>
          <p:nvPr/>
        </p:nvSpPr>
        <p:spPr>
          <a:xfrm>
            <a:off x="6373368" y="3392424"/>
            <a:ext cx="384048" cy="384048"/>
          </a:xfrm>
          <a:prstGeom prst="ellipse">
            <a:avLst/>
          </a:prstGeom>
          <a:solidFill>
            <a:srgbClr val="E6395A"/>
          </a:solidFill>
          <a:ln w="12700">
            <a:solidFill>
              <a:srgbClr val="E6395A"/>
            </a:solidFill>
            <a:prstDash val="solid"/>
          </a:ln>
        </p:spPr>
        <p:txBody>
          <a:bodyPr/>
          <a:lstStyle/>
          <a:p>
            <a:endParaRPr lang="en-GB"/>
          </a:p>
        </p:txBody>
      </p:sp>
      <p:sp>
        <p:nvSpPr>
          <p:cNvPr id="22" name="Text 20"/>
          <p:cNvSpPr/>
          <p:nvPr/>
        </p:nvSpPr>
        <p:spPr>
          <a:xfrm>
            <a:off x="6501384" y="3502152"/>
            <a:ext cx="109728" cy="64008"/>
          </a:xfrm>
          <a:prstGeom prst="rect">
            <a:avLst/>
          </a:prstGeom>
          <a:noFill/>
          <a:ln/>
        </p:spPr>
        <p:txBody>
          <a:bodyPr wrap="square" lIns="0" tIns="0" rIns="0" bIns="0" rtlCol="0" anchor="ctr"/>
          <a:lstStyle/>
          <a:p>
            <a:pPr marL="0" indent="0" algn="ctr">
              <a:buNone/>
            </a:pPr>
            <a:r>
              <a:rPr lang="en-US" sz="650" b="1" dirty="0">
                <a:solidFill>
                  <a:srgbClr val="FFFFFF"/>
                </a:solidFill>
                <a:latin typeface="Aptos" pitchFamily="34" charset="0"/>
                <a:ea typeface="Aptos" pitchFamily="34" charset="-122"/>
                <a:cs typeface="Aptos" pitchFamily="34" charset="-120"/>
              </a:rPr>
              <a:t>4</a:t>
            </a:r>
            <a:endParaRPr lang="en-US" sz="650" dirty="0"/>
          </a:p>
        </p:txBody>
      </p:sp>
      <p:sp>
        <p:nvSpPr>
          <p:cNvPr id="23" name="Text 21"/>
          <p:cNvSpPr/>
          <p:nvPr/>
        </p:nvSpPr>
        <p:spPr>
          <a:xfrm>
            <a:off x="6922008" y="3355848"/>
            <a:ext cx="3840480" cy="164592"/>
          </a:xfrm>
          <a:prstGeom prst="rect">
            <a:avLst/>
          </a:prstGeom>
          <a:noFill/>
          <a:ln/>
        </p:spPr>
        <p:txBody>
          <a:bodyPr wrap="square" lIns="0" tIns="0" rIns="0" bIns="0" rtlCol="0" anchor="ctr"/>
          <a:lstStyle/>
          <a:p>
            <a:pPr marL="0" indent="0">
              <a:buNone/>
            </a:pPr>
            <a:r>
              <a:rPr lang="en-US" sz="1150" b="1" dirty="0">
                <a:solidFill>
                  <a:srgbClr val="111827"/>
                </a:solidFill>
                <a:latin typeface="Aptos" pitchFamily="34" charset="0"/>
                <a:ea typeface="Aptos" pitchFamily="34" charset="-122"/>
                <a:cs typeface="Aptos" pitchFamily="34" charset="-120"/>
              </a:rPr>
              <a:t>Emergency workflow</a:t>
            </a:r>
            <a:endParaRPr lang="en-US" sz="1150" dirty="0"/>
          </a:p>
        </p:txBody>
      </p:sp>
      <p:sp>
        <p:nvSpPr>
          <p:cNvPr id="24" name="Text 22"/>
          <p:cNvSpPr/>
          <p:nvPr/>
        </p:nvSpPr>
        <p:spPr>
          <a:xfrm>
            <a:off x="6922008" y="3630168"/>
            <a:ext cx="3931920" cy="182880"/>
          </a:xfrm>
          <a:prstGeom prst="rect">
            <a:avLst/>
          </a:prstGeom>
          <a:noFill/>
          <a:ln/>
        </p:spPr>
        <p:txBody>
          <a:bodyPr wrap="square" lIns="0" tIns="0" rIns="0" bIns="0" rtlCol="0" anchor="ctr">
            <a:normAutofit/>
          </a:bodyPr>
          <a:lstStyle/>
          <a:p>
            <a:pPr marL="0" indent="0">
              <a:buNone/>
            </a:pPr>
            <a:r>
              <a:rPr lang="en-US" sz="840" dirty="0">
                <a:solidFill>
                  <a:srgbClr val="6B7280"/>
                </a:solidFill>
                <a:latin typeface="Aptos" pitchFamily="34" charset="0"/>
                <a:ea typeface="Aptos" pitchFamily="34" charset="-122"/>
                <a:cs typeface="Aptos" pitchFamily="34" charset="-120"/>
              </a:rPr>
              <a:t>Risk reasons, alert audit, SOS email path, phone-call action on mobile dashboard.</a:t>
            </a:r>
            <a:endParaRPr lang="en-US" sz="840" dirty="0"/>
          </a:p>
        </p:txBody>
      </p:sp>
      <p:sp>
        <p:nvSpPr>
          <p:cNvPr id="25" name="Shape 23"/>
          <p:cNvSpPr/>
          <p:nvPr/>
        </p:nvSpPr>
        <p:spPr>
          <a:xfrm>
            <a:off x="658368" y="4690872"/>
            <a:ext cx="5166360" cy="1261872"/>
          </a:xfrm>
          <a:prstGeom prst="roundRect">
            <a:avLst>
              <a:gd name="adj" fmla="val 13043"/>
            </a:avLst>
          </a:prstGeom>
          <a:solidFill>
            <a:srgbClr val="FFFFFF"/>
          </a:solidFill>
          <a:ln w="12700">
            <a:solidFill>
              <a:srgbClr val="DDE6F2"/>
            </a:solidFill>
            <a:prstDash val="solid"/>
          </a:ln>
        </p:spPr>
        <p:txBody>
          <a:bodyPr/>
          <a:lstStyle/>
          <a:p>
            <a:endParaRPr lang="en-GB"/>
          </a:p>
        </p:txBody>
      </p:sp>
      <p:sp>
        <p:nvSpPr>
          <p:cNvPr id="26" name="Text 24"/>
          <p:cNvSpPr/>
          <p:nvPr/>
        </p:nvSpPr>
        <p:spPr>
          <a:xfrm>
            <a:off x="914400" y="4910328"/>
            <a:ext cx="2377440" cy="201168"/>
          </a:xfrm>
          <a:prstGeom prst="rect">
            <a:avLst/>
          </a:prstGeom>
          <a:noFill/>
          <a:ln/>
        </p:spPr>
        <p:txBody>
          <a:bodyPr wrap="square" lIns="0" tIns="0" rIns="0" bIns="0" rtlCol="0" anchor="ctr"/>
          <a:lstStyle/>
          <a:p>
            <a:pPr marL="0" indent="0">
              <a:buNone/>
            </a:pPr>
            <a:r>
              <a:rPr lang="en-US" sz="1800" b="1" dirty="0">
                <a:solidFill>
                  <a:srgbClr val="10B981"/>
                </a:solidFill>
                <a:latin typeface="Aptos Display" pitchFamily="34" charset="0"/>
                <a:ea typeface="Aptos Display" pitchFamily="34" charset="-122"/>
                <a:cs typeface="Aptos Display" pitchFamily="34" charset="-120"/>
              </a:rPr>
              <a:t>What worked well</a:t>
            </a:r>
            <a:endParaRPr lang="en-US" sz="1800" dirty="0"/>
          </a:p>
        </p:txBody>
      </p:sp>
      <p:sp>
        <p:nvSpPr>
          <p:cNvPr id="27" name="Shape 25"/>
          <p:cNvSpPr/>
          <p:nvPr/>
        </p:nvSpPr>
        <p:spPr>
          <a:xfrm>
            <a:off x="932688" y="5340096"/>
            <a:ext cx="73152" cy="73152"/>
          </a:xfrm>
          <a:prstGeom prst="ellipse">
            <a:avLst/>
          </a:prstGeom>
          <a:solidFill>
            <a:srgbClr val="2563EB"/>
          </a:solidFill>
          <a:ln w="12700">
            <a:solidFill>
              <a:srgbClr val="2563EB"/>
            </a:solidFill>
            <a:prstDash val="solid"/>
          </a:ln>
        </p:spPr>
        <p:txBody>
          <a:bodyPr/>
          <a:lstStyle/>
          <a:p>
            <a:endParaRPr lang="en-GB"/>
          </a:p>
        </p:txBody>
      </p:sp>
      <p:sp>
        <p:nvSpPr>
          <p:cNvPr id="28" name="Text 26"/>
          <p:cNvSpPr/>
          <p:nvPr/>
        </p:nvSpPr>
        <p:spPr>
          <a:xfrm>
            <a:off x="1115568" y="5266944"/>
            <a:ext cx="438912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Responsive dashboard is understandable on mobile.</a:t>
            </a:r>
            <a:endParaRPr lang="en-US" sz="830" dirty="0"/>
          </a:p>
        </p:txBody>
      </p:sp>
      <p:sp>
        <p:nvSpPr>
          <p:cNvPr id="29" name="Shape 27"/>
          <p:cNvSpPr/>
          <p:nvPr/>
        </p:nvSpPr>
        <p:spPr>
          <a:xfrm>
            <a:off x="932688" y="5559552"/>
            <a:ext cx="73152" cy="73152"/>
          </a:xfrm>
          <a:prstGeom prst="ellipse">
            <a:avLst/>
          </a:prstGeom>
          <a:solidFill>
            <a:srgbClr val="2563EB"/>
          </a:solidFill>
          <a:ln w="12700">
            <a:solidFill>
              <a:srgbClr val="2563EB"/>
            </a:solidFill>
            <a:prstDash val="solid"/>
          </a:ln>
        </p:spPr>
        <p:txBody>
          <a:bodyPr/>
          <a:lstStyle/>
          <a:p>
            <a:endParaRPr lang="en-GB"/>
          </a:p>
        </p:txBody>
      </p:sp>
      <p:sp>
        <p:nvSpPr>
          <p:cNvPr id="30" name="Text 28"/>
          <p:cNvSpPr/>
          <p:nvPr/>
        </p:nvSpPr>
        <p:spPr>
          <a:xfrm>
            <a:off x="1115568" y="5486400"/>
            <a:ext cx="438912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Local deployment reduces cloud dependency and latency.</a:t>
            </a:r>
            <a:endParaRPr lang="en-US" sz="830" dirty="0"/>
          </a:p>
        </p:txBody>
      </p:sp>
      <p:sp>
        <p:nvSpPr>
          <p:cNvPr id="31" name="Shape 29"/>
          <p:cNvSpPr/>
          <p:nvPr/>
        </p:nvSpPr>
        <p:spPr>
          <a:xfrm>
            <a:off x="932688" y="5779008"/>
            <a:ext cx="73152" cy="73152"/>
          </a:xfrm>
          <a:prstGeom prst="ellipse">
            <a:avLst/>
          </a:prstGeom>
          <a:solidFill>
            <a:srgbClr val="2563EB"/>
          </a:solidFill>
          <a:ln w="12700">
            <a:solidFill>
              <a:srgbClr val="2563EB"/>
            </a:solidFill>
            <a:prstDash val="solid"/>
          </a:ln>
        </p:spPr>
        <p:txBody>
          <a:bodyPr/>
          <a:lstStyle/>
          <a:p>
            <a:endParaRPr lang="en-GB"/>
          </a:p>
        </p:txBody>
      </p:sp>
      <p:sp>
        <p:nvSpPr>
          <p:cNvPr id="32" name="Text 30"/>
          <p:cNvSpPr/>
          <p:nvPr/>
        </p:nvSpPr>
        <p:spPr>
          <a:xfrm>
            <a:off x="1115568" y="5705856"/>
            <a:ext cx="438912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Math normalization improves consistency across camera distance.</a:t>
            </a:r>
            <a:endParaRPr lang="en-US" sz="830" dirty="0"/>
          </a:p>
        </p:txBody>
      </p:sp>
      <p:sp>
        <p:nvSpPr>
          <p:cNvPr id="33" name="Shape 31"/>
          <p:cNvSpPr/>
          <p:nvPr/>
        </p:nvSpPr>
        <p:spPr>
          <a:xfrm>
            <a:off x="6172200" y="4690872"/>
            <a:ext cx="5166360" cy="1261872"/>
          </a:xfrm>
          <a:prstGeom prst="roundRect">
            <a:avLst>
              <a:gd name="adj" fmla="val 13043"/>
            </a:avLst>
          </a:prstGeom>
          <a:solidFill>
            <a:srgbClr val="FFFFFF"/>
          </a:solidFill>
          <a:ln w="12700">
            <a:solidFill>
              <a:srgbClr val="DDE6F2"/>
            </a:solidFill>
            <a:prstDash val="solid"/>
          </a:ln>
        </p:spPr>
        <p:txBody>
          <a:bodyPr/>
          <a:lstStyle/>
          <a:p>
            <a:endParaRPr lang="en-GB"/>
          </a:p>
        </p:txBody>
      </p:sp>
      <p:sp>
        <p:nvSpPr>
          <p:cNvPr id="34" name="Text 32"/>
          <p:cNvSpPr/>
          <p:nvPr/>
        </p:nvSpPr>
        <p:spPr>
          <a:xfrm>
            <a:off x="6428232" y="4910328"/>
            <a:ext cx="2834640" cy="201168"/>
          </a:xfrm>
          <a:prstGeom prst="rect">
            <a:avLst/>
          </a:prstGeom>
          <a:noFill/>
          <a:ln/>
        </p:spPr>
        <p:txBody>
          <a:bodyPr wrap="square" lIns="0" tIns="0" rIns="0" bIns="0" rtlCol="0" anchor="ctr"/>
          <a:lstStyle/>
          <a:p>
            <a:pPr marL="0" indent="0">
              <a:buNone/>
            </a:pPr>
            <a:r>
              <a:rPr lang="en-US" sz="1800" b="1" dirty="0">
                <a:solidFill>
                  <a:srgbClr val="E6395A"/>
                </a:solidFill>
                <a:latin typeface="Aptos Display" pitchFamily="34" charset="0"/>
                <a:ea typeface="Aptos Display" pitchFamily="34" charset="-122"/>
                <a:cs typeface="Aptos Display" pitchFamily="34" charset="-120"/>
              </a:rPr>
              <a:t>Limitations / next work</a:t>
            </a:r>
            <a:endParaRPr lang="en-US" sz="1800" dirty="0"/>
          </a:p>
        </p:txBody>
      </p:sp>
      <p:sp>
        <p:nvSpPr>
          <p:cNvPr id="35" name="Shape 33"/>
          <p:cNvSpPr/>
          <p:nvPr/>
        </p:nvSpPr>
        <p:spPr>
          <a:xfrm>
            <a:off x="6446520" y="5340096"/>
            <a:ext cx="73152" cy="73152"/>
          </a:xfrm>
          <a:prstGeom prst="ellipse">
            <a:avLst/>
          </a:prstGeom>
          <a:solidFill>
            <a:srgbClr val="2563EB"/>
          </a:solidFill>
          <a:ln w="12700">
            <a:solidFill>
              <a:srgbClr val="2563EB"/>
            </a:solidFill>
            <a:prstDash val="solid"/>
          </a:ln>
        </p:spPr>
        <p:txBody>
          <a:bodyPr/>
          <a:lstStyle/>
          <a:p>
            <a:endParaRPr lang="en-GB"/>
          </a:p>
        </p:txBody>
      </p:sp>
      <p:sp>
        <p:nvSpPr>
          <p:cNvPr id="36" name="Text 34"/>
          <p:cNvSpPr/>
          <p:nvPr/>
        </p:nvSpPr>
        <p:spPr>
          <a:xfrm>
            <a:off x="6629400" y="5266944"/>
            <a:ext cx="443484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Replace synthetic data with real, ethically collected RPi samples.</a:t>
            </a:r>
            <a:endParaRPr lang="en-US" sz="830" dirty="0"/>
          </a:p>
        </p:txBody>
      </p:sp>
      <p:sp>
        <p:nvSpPr>
          <p:cNvPr id="37" name="Shape 35"/>
          <p:cNvSpPr/>
          <p:nvPr/>
        </p:nvSpPr>
        <p:spPr>
          <a:xfrm>
            <a:off x="6446520" y="5559552"/>
            <a:ext cx="73152" cy="73152"/>
          </a:xfrm>
          <a:prstGeom prst="ellipse">
            <a:avLst/>
          </a:prstGeom>
          <a:solidFill>
            <a:srgbClr val="2563EB"/>
          </a:solidFill>
          <a:ln w="12700">
            <a:solidFill>
              <a:srgbClr val="2563EB"/>
            </a:solidFill>
            <a:prstDash val="solid"/>
          </a:ln>
        </p:spPr>
        <p:txBody>
          <a:bodyPr/>
          <a:lstStyle/>
          <a:p>
            <a:endParaRPr lang="en-GB"/>
          </a:p>
        </p:txBody>
      </p:sp>
      <p:sp>
        <p:nvSpPr>
          <p:cNvPr id="38" name="Text 36"/>
          <p:cNvSpPr/>
          <p:nvPr/>
        </p:nvSpPr>
        <p:spPr>
          <a:xfrm>
            <a:off x="6629400" y="5486400"/>
            <a:ext cx="443484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Configure production email credentials and emergency contact phone.</a:t>
            </a:r>
            <a:endParaRPr lang="en-US" sz="830" dirty="0"/>
          </a:p>
        </p:txBody>
      </p:sp>
      <p:sp>
        <p:nvSpPr>
          <p:cNvPr id="39" name="Shape 37"/>
          <p:cNvSpPr/>
          <p:nvPr/>
        </p:nvSpPr>
        <p:spPr>
          <a:xfrm>
            <a:off x="6446520" y="5779008"/>
            <a:ext cx="73152" cy="73152"/>
          </a:xfrm>
          <a:prstGeom prst="ellipse">
            <a:avLst/>
          </a:prstGeom>
          <a:solidFill>
            <a:srgbClr val="2563EB"/>
          </a:solidFill>
          <a:ln w="12700">
            <a:solidFill>
              <a:srgbClr val="2563EB"/>
            </a:solidFill>
            <a:prstDash val="solid"/>
          </a:ln>
        </p:spPr>
        <p:txBody>
          <a:bodyPr/>
          <a:lstStyle/>
          <a:p>
            <a:endParaRPr lang="en-GB"/>
          </a:p>
        </p:txBody>
      </p:sp>
      <p:sp>
        <p:nvSpPr>
          <p:cNvPr id="40" name="Text 38"/>
          <p:cNvSpPr/>
          <p:nvPr/>
        </p:nvSpPr>
        <p:spPr>
          <a:xfrm>
            <a:off x="6629400" y="5705856"/>
            <a:ext cx="4434840" cy="164592"/>
          </a:xfrm>
          <a:prstGeom prst="rect">
            <a:avLst/>
          </a:prstGeom>
          <a:noFill/>
          <a:ln/>
        </p:spPr>
        <p:txBody>
          <a:bodyPr wrap="square" lIns="0" tIns="0" rIns="0" bIns="0" rtlCol="0" anchor="ctr">
            <a:normAutofit/>
          </a:bodyPr>
          <a:lstStyle/>
          <a:p>
            <a:pPr marL="0" indent="0">
              <a:buNone/>
            </a:pPr>
            <a:r>
              <a:rPr lang="en-US" sz="830" dirty="0">
                <a:solidFill>
                  <a:srgbClr val="111827"/>
                </a:solidFill>
                <a:latin typeface="Aptos" pitchFamily="34" charset="0"/>
                <a:ea typeface="Aptos" pitchFamily="34" charset="-122"/>
                <a:cs typeface="Aptos" pitchFamily="34" charset="-120"/>
              </a:rPr>
              <a:t>Add privacy policy, device hardening, and optional cloud reporting later.</a:t>
            </a:r>
            <a:endParaRPr lang="en-US" sz="830" dirty="0"/>
          </a:p>
        </p:txBody>
      </p:sp>
      <p:sp>
        <p:nvSpPr>
          <p:cNvPr id="41" name="Shape 3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42" name="Text 4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Results and discussion</a:t>
            </a:r>
            <a:endParaRPr lang="en-US" sz="680" dirty="0"/>
          </a:p>
        </p:txBody>
      </p:sp>
      <p:sp>
        <p:nvSpPr>
          <p:cNvPr id="43" name="Text 4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C"/>
        </a:solidFill>
        <a:effectLst/>
      </p:bgPr>
    </p:bg>
    <p:spTree>
      <p:nvGrpSpPr>
        <p:cNvPr id="1" name=""/>
        <p:cNvGrpSpPr/>
        <p:nvPr/>
      </p:nvGrpSpPr>
      <p:grpSpPr>
        <a:xfrm>
          <a:off x="0" y="0"/>
          <a:ext cx="0" cy="0"/>
          <a:chOff x="0" y="0"/>
          <a:chExt cx="0" cy="0"/>
        </a:xfrm>
      </p:grpSpPr>
      <p:sp>
        <p:nvSpPr>
          <p:cNvPr id="2" name="Text 0"/>
          <p:cNvSpPr/>
          <p:nvPr/>
        </p:nvSpPr>
        <p:spPr>
          <a:xfrm>
            <a:off x="594360" y="384048"/>
            <a:ext cx="3840480" cy="228600"/>
          </a:xfrm>
          <a:prstGeom prst="rect">
            <a:avLst/>
          </a:prstGeom>
          <a:noFill/>
          <a:ln/>
        </p:spPr>
        <p:txBody>
          <a:bodyPr wrap="square" lIns="0" tIns="0" rIns="0" bIns="0" rtlCol="0" anchor="ctr"/>
          <a:lstStyle/>
          <a:p>
            <a:pPr marL="0" indent="0">
              <a:buNone/>
            </a:pPr>
            <a:r>
              <a:rPr lang="en-US" sz="850" b="1" dirty="0">
                <a:solidFill>
                  <a:srgbClr val="2563EB"/>
                </a:solidFill>
                <a:latin typeface="Aptos" pitchFamily="34" charset="0"/>
                <a:ea typeface="Aptos" pitchFamily="34" charset="-122"/>
                <a:cs typeface="Aptos" pitchFamily="34" charset="-120"/>
              </a:rPr>
              <a:t>BIBLIOGRAPHY REPORT</a:t>
            </a:r>
            <a:endParaRPr lang="en-US" sz="850" dirty="0"/>
          </a:p>
        </p:txBody>
      </p:sp>
      <p:sp>
        <p:nvSpPr>
          <p:cNvPr id="3" name="Text 1"/>
          <p:cNvSpPr/>
          <p:nvPr/>
        </p:nvSpPr>
        <p:spPr>
          <a:xfrm>
            <a:off x="566928" y="658368"/>
            <a:ext cx="7772400" cy="594360"/>
          </a:xfrm>
          <a:prstGeom prst="rect">
            <a:avLst/>
          </a:prstGeom>
          <a:noFill/>
          <a:ln/>
        </p:spPr>
        <p:txBody>
          <a:bodyPr wrap="square" lIns="0" tIns="0" rIns="0" bIns="0" rtlCol="0" anchor="ctr">
            <a:normAutofit/>
          </a:bodyP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Final bibliography report and project boundary</a:t>
            </a:r>
            <a:endParaRPr lang="en-US" sz="2900" dirty="0"/>
          </a:p>
        </p:txBody>
      </p:sp>
      <p:sp>
        <p:nvSpPr>
          <p:cNvPr id="4" name="Text 2"/>
          <p:cNvSpPr/>
          <p:nvPr/>
        </p:nvSpPr>
        <p:spPr>
          <a:xfrm>
            <a:off x="603504" y="1261872"/>
            <a:ext cx="8138160" cy="310896"/>
          </a:xfrm>
          <a:prstGeom prst="rect">
            <a:avLst/>
          </a:prstGeom>
          <a:noFill/>
          <a:ln/>
        </p:spPr>
        <p:txBody>
          <a:bodyPr wrap="square" lIns="0" tIns="0" rIns="0" bIns="0" rtlCol="0" anchor="ctr"/>
          <a:lstStyle/>
          <a:p>
            <a:pPr marL="0" indent="0">
              <a:buNone/>
            </a:pPr>
            <a:r>
              <a:rPr lang="en-US" sz="1240" dirty="0">
                <a:solidFill>
                  <a:srgbClr val="6B7280"/>
                </a:solidFill>
                <a:latin typeface="Aptos" pitchFamily="34" charset="0"/>
                <a:ea typeface="Aptos" pitchFamily="34" charset="-122"/>
                <a:cs typeface="Aptos" pitchFamily="34" charset="-120"/>
              </a:rPr>
              <a:t>The case study uses clinical-awareness sources for motivation and technical documentation for implementation choices.</a:t>
            </a:r>
            <a:endParaRPr lang="en-US" sz="1240" dirty="0"/>
          </a:p>
        </p:txBody>
      </p:sp>
      <p:sp>
        <p:nvSpPr>
          <p:cNvPr id="5" name="Shape 3"/>
          <p:cNvSpPr/>
          <p:nvPr/>
        </p:nvSpPr>
        <p:spPr>
          <a:xfrm>
            <a:off x="658368" y="1755648"/>
            <a:ext cx="5486400" cy="4370832"/>
          </a:xfrm>
          <a:prstGeom prst="roundRect">
            <a:avLst>
              <a:gd name="adj" fmla="val 3766"/>
            </a:avLst>
          </a:prstGeom>
          <a:solidFill>
            <a:srgbClr val="FFFFFF"/>
          </a:solidFill>
          <a:ln w="12700">
            <a:solidFill>
              <a:srgbClr val="DDE6F2"/>
            </a:solidFill>
            <a:prstDash val="solid"/>
          </a:ln>
        </p:spPr>
        <p:txBody>
          <a:bodyPr/>
          <a:lstStyle/>
          <a:p>
            <a:endParaRPr lang="en-GB"/>
          </a:p>
        </p:txBody>
      </p:sp>
      <p:sp>
        <p:nvSpPr>
          <p:cNvPr id="6" name="Text 4"/>
          <p:cNvSpPr/>
          <p:nvPr/>
        </p:nvSpPr>
        <p:spPr>
          <a:xfrm>
            <a:off x="914400" y="1993392"/>
            <a:ext cx="2926080" cy="256032"/>
          </a:xfrm>
          <a:prstGeom prst="rect">
            <a:avLst/>
          </a:prstGeom>
          <a:noFill/>
          <a:ln/>
        </p:spPr>
        <p:txBody>
          <a:bodyPr wrap="square" lIns="0" tIns="0" rIns="0" bIns="0" rtlCol="0" anchor="ctr"/>
          <a:lstStyle/>
          <a:p>
            <a:pPr marL="0" indent="0">
              <a:buNone/>
            </a:pPr>
            <a:r>
              <a:rPr lang="en-US" sz="2100" b="1" dirty="0">
                <a:solidFill>
                  <a:srgbClr val="111827"/>
                </a:solidFill>
                <a:latin typeface="Aptos Display" pitchFamily="34" charset="0"/>
                <a:ea typeface="Aptos Display" pitchFamily="34" charset="-122"/>
                <a:cs typeface="Aptos Display" pitchFamily="34" charset="-120"/>
              </a:rPr>
              <a:t>Main references</a:t>
            </a:r>
            <a:endParaRPr lang="en-US" sz="2100" dirty="0"/>
          </a:p>
        </p:txBody>
      </p:sp>
      <p:sp>
        <p:nvSpPr>
          <p:cNvPr id="7" name="Shape 5"/>
          <p:cNvSpPr/>
          <p:nvPr/>
        </p:nvSpPr>
        <p:spPr>
          <a:xfrm>
            <a:off x="932688" y="2496312"/>
            <a:ext cx="73152" cy="73152"/>
          </a:xfrm>
          <a:prstGeom prst="ellipse">
            <a:avLst/>
          </a:prstGeom>
          <a:solidFill>
            <a:srgbClr val="2563EB"/>
          </a:solidFill>
          <a:ln w="12700">
            <a:solidFill>
              <a:srgbClr val="2563EB"/>
            </a:solidFill>
            <a:prstDash val="solid"/>
          </a:ln>
        </p:spPr>
        <p:txBody>
          <a:bodyPr/>
          <a:lstStyle/>
          <a:p>
            <a:endParaRPr lang="en-GB"/>
          </a:p>
        </p:txBody>
      </p:sp>
      <p:sp>
        <p:nvSpPr>
          <p:cNvPr id="8" name="Text 6"/>
          <p:cNvSpPr/>
          <p:nvPr/>
        </p:nvSpPr>
        <p:spPr>
          <a:xfrm>
            <a:off x="1078992" y="2450592"/>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WHO — Falls fact sheet</a:t>
            </a:r>
            <a:endParaRPr lang="en-US" sz="780" dirty="0"/>
          </a:p>
        </p:txBody>
      </p:sp>
      <p:sp>
        <p:nvSpPr>
          <p:cNvPr id="9" name="Text 7"/>
          <p:cNvSpPr/>
          <p:nvPr/>
        </p:nvSpPr>
        <p:spPr>
          <a:xfrm>
            <a:off x="1078992" y="2615184"/>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https://www.who.int/news-room/fact-sheets/detail/falls</a:t>
            </a:r>
            <a:endParaRPr lang="en-US" sz="590" dirty="0"/>
          </a:p>
        </p:txBody>
      </p:sp>
      <p:sp>
        <p:nvSpPr>
          <p:cNvPr id="10" name="Shape 8"/>
          <p:cNvSpPr/>
          <p:nvPr/>
        </p:nvSpPr>
        <p:spPr>
          <a:xfrm>
            <a:off x="932688" y="2926080"/>
            <a:ext cx="73152" cy="73152"/>
          </a:xfrm>
          <a:prstGeom prst="ellipse">
            <a:avLst/>
          </a:prstGeom>
          <a:solidFill>
            <a:srgbClr val="2563EB"/>
          </a:solidFill>
          <a:ln w="12700">
            <a:solidFill>
              <a:srgbClr val="2563EB"/>
            </a:solidFill>
            <a:prstDash val="solid"/>
          </a:ln>
        </p:spPr>
        <p:txBody>
          <a:bodyPr/>
          <a:lstStyle/>
          <a:p>
            <a:endParaRPr lang="en-GB"/>
          </a:p>
        </p:txBody>
      </p:sp>
      <p:sp>
        <p:nvSpPr>
          <p:cNvPr id="11" name="Text 9"/>
          <p:cNvSpPr/>
          <p:nvPr/>
        </p:nvSpPr>
        <p:spPr>
          <a:xfrm>
            <a:off x="1078992" y="2880360"/>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CDC — Signs and Symptoms of Stroke / B.E.F.A.S.T.</a:t>
            </a:r>
            <a:endParaRPr lang="en-US" sz="780" dirty="0"/>
          </a:p>
        </p:txBody>
      </p:sp>
      <p:sp>
        <p:nvSpPr>
          <p:cNvPr id="12" name="Text 10"/>
          <p:cNvSpPr/>
          <p:nvPr/>
        </p:nvSpPr>
        <p:spPr>
          <a:xfrm>
            <a:off x="1078992" y="3044952"/>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https://www.cdc.gov/stroke/signs-symptoms/index.html</a:t>
            </a:r>
            <a:endParaRPr lang="en-US" sz="590" dirty="0"/>
          </a:p>
        </p:txBody>
      </p:sp>
      <p:sp>
        <p:nvSpPr>
          <p:cNvPr id="13" name="Shape 11"/>
          <p:cNvSpPr/>
          <p:nvPr/>
        </p:nvSpPr>
        <p:spPr>
          <a:xfrm>
            <a:off x="932688" y="3355848"/>
            <a:ext cx="73152" cy="73152"/>
          </a:xfrm>
          <a:prstGeom prst="ellipse">
            <a:avLst/>
          </a:prstGeom>
          <a:solidFill>
            <a:srgbClr val="2563EB"/>
          </a:solidFill>
          <a:ln w="12700">
            <a:solidFill>
              <a:srgbClr val="2563EB"/>
            </a:solidFill>
            <a:prstDash val="solid"/>
          </a:ln>
        </p:spPr>
        <p:txBody>
          <a:bodyPr/>
          <a:lstStyle/>
          <a:p>
            <a:endParaRPr lang="en-GB"/>
          </a:p>
        </p:txBody>
      </p:sp>
      <p:sp>
        <p:nvSpPr>
          <p:cNvPr id="14" name="Text 12"/>
          <p:cNvSpPr/>
          <p:nvPr/>
        </p:nvSpPr>
        <p:spPr>
          <a:xfrm>
            <a:off x="1078992" y="3310128"/>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Google MediaPipe — Pose Landmarker Python guide</a:t>
            </a:r>
            <a:endParaRPr lang="en-US" sz="780" dirty="0"/>
          </a:p>
        </p:txBody>
      </p:sp>
      <p:sp>
        <p:nvSpPr>
          <p:cNvPr id="15" name="Text 13"/>
          <p:cNvSpPr/>
          <p:nvPr/>
        </p:nvSpPr>
        <p:spPr>
          <a:xfrm>
            <a:off x="1078992" y="3474720"/>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https://developers.google.com/edge/mediapipe/solutions/vision/pose_landmarker/python</a:t>
            </a:r>
            <a:endParaRPr lang="en-US" sz="590" dirty="0"/>
          </a:p>
        </p:txBody>
      </p:sp>
      <p:sp>
        <p:nvSpPr>
          <p:cNvPr id="16" name="Shape 14"/>
          <p:cNvSpPr/>
          <p:nvPr/>
        </p:nvSpPr>
        <p:spPr>
          <a:xfrm>
            <a:off x="932688" y="3785616"/>
            <a:ext cx="73152" cy="73152"/>
          </a:xfrm>
          <a:prstGeom prst="ellipse">
            <a:avLst/>
          </a:prstGeom>
          <a:solidFill>
            <a:srgbClr val="2563EB"/>
          </a:solidFill>
          <a:ln w="12700">
            <a:solidFill>
              <a:srgbClr val="2563EB"/>
            </a:solidFill>
            <a:prstDash val="solid"/>
          </a:ln>
        </p:spPr>
        <p:txBody>
          <a:bodyPr/>
          <a:lstStyle/>
          <a:p>
            <a:endParaRPr lang="en-GB"/>
          </a:p>
        </p:txBody>
      </p:sp>
      <p:sp>
        <p:nvSpPr>
          <p:cNvPr id="17" name="Text 15"/>
          <p:cNvSpPr/>
          <p:nvPr/>
        </p:nvSpPr>
        <p:spPr>
          <a:xfrm>
            <a:off x="1078992" y="3739896"/>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OpenCV — VideoCapture reference</a:t>
            </a:r>
            <a:endParaRPr lang="en-US" sz="780" dirty="0"/>
          </a:p>
        </p:txBody>
      </p:sp>
      <p:sp>
        <p:nvSpPr>
          <p:cNvPr id="18" name="Text 16"/>
          <p:cNvSpPr/>
          <p:nvPr/>
        </p:nvSpPr>
        <p:spPr>
          <a:xfrm>
            <a:off x="1078992" y="3904488"/>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https://docs.opencv.org/4.x/d8/dfe/classcv_1_1VideoCapture.html</a:t>
            </a:r>
            <a:endParaRPr lang="en-US" sz="590" dirty="0"/>
          </a:p>
        </p:txBody>
      </p:sp>
      <p:sp>
        <p:nvSpPr>
          <p:cNvPr id="19" name="Shape 17"/>
          <p:cNvSpPr/>
          <p:nvPr/>
        </p:nvSpPr>
        <p:spPr>
          <a:xfrm>
            <a:off x="932688" y="4215384"/>
            <a:ext cx="73152" cy="73152"/>
          </a:xfrm>
          <a:prstGeom prst="ellipse">
            <a:avLst/>
          </a:prstGeom>
          <a:solidFill>
            <a:srgbClr val="2563EB"/>
          </a:solidFill>
          <a:ln w="12700">
            <a:solidFill>
              <a:srgbClr val="2563EB"/>
            </a:solidFill>
            <a:prstDash val="solid"/>
          </a:ln>
        </p:spPr>
        <p:txBody>
          <a:bodyPr/>
          <a:lstStyle/>
          <a:p>
            <a:endParaRPr lang="en-GB"/>
          </a:p>
        </p:txBody>
      </p:sp>
      <p:sp>
        <p:nvSpPr>
          <p:cNvPr id="20" name="Text 18"/>
          <p:cNvSpPr/>
          <p:nvPr/>
        </p:nvSpPr>
        <p:spPr>
          <a:xfrm>
            <a:off x="1078992" y="4169664"/>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scikit-learn — RandomForestClassifier</a:t>
            </a:r>
            <a:endParaRPr lang="en-US" sz="780" dirty="0"/>
          </a:p>
        </p:txBody>
      </p:sp>
      <p:sp>
        <p:nvSpPr>
          <p:cNvPr id="21" name="Text 19"/>
          <p:cNvSpPr/>
          <p:nvPr/>
        </p:nvSpPr>
        <p:spPr>
          <a:xfrm>
            <a:off x="1078992" y="4334256"/>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https://scikit-learn.org/stable/modules/generated/sklearn.ensemble.RandomForestClassifier.html</a:t>
            </a:r>
            <a:endParaRPr lang="en-US" sz="590" dirty="0"/>
          </a:p>
        </p:txBody>
      </p:sp>
      <p:sp>
        <p:nvSpPr>
          <p:cNvPr id="22" name="Shape 20"/>
          <p:cNvSpPr/>
          <p:nvPr/>
        </p:nvSpPr>
        <p:spPr>
          <a:xfrm>
            <a:off x="932688" y="4645152"/>
            <a:ext cx="73152" cy="73152"/>
          </a:xfrm>
          <a:prstGeom prst="ellipse">
            <a:avLst/>
          </a:prstGeom>
          <a:solidFill>
            <a:srgbClr val="2563EB"/>
          </a:solidFill>
          <a:ln w="12700">
            <a:solidFill>
              <a:srgbClr val="2563EB"/>
            </a:solidFill>
            <a:prstDash val="solid"/>
          </a:ln>
        </p:spPr>
        <p:txBody>
          <a:bodyPr/>
          <a:lstStyle/>
          <a:p>
            <a:endParaRPr lang="en-GB"/>
          </a:p>
        </p:txBody>
      </p:sp>
      <p:sp>
        <p:nvSpPr>
          <p:cNvPr id="23" name="Text 21"/>
          <p:cNvSpPr/>
          <p:nvPr/>
        </p:nvSpPr>
        <p:spPr>
          <a:xfrm>
            <a:off x="1078992" y="4599432"/>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Raspberry Pi — Raspberry Pi 5 product information</a:t>
            </a:r>
            <a:endParaRPr lang="en-US" sz="780" dirty="0"/>
          </a:p>
        </p:txBody>
      </p:sp>
      <p:sp>
        <p:nvSpPr>
          <p:cNvPr id="24" name="Text 22"/>
          <p:cNvSpPr/>
          <p:nvPr/>
        </p:nvSpPr>
        <p:spPr>
          <a:xfrm>
            <a:off x="1078992" y="4764024"/>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https://www.raspberrypi.com/products/raspberry-pi-5/</a:t>
            </a:r>
            <a:endParaRPr lang="en-US" sz="590" dirty="0"/>
          </a:p>
        </p:txBody>
      </p:sp>
      <p:sp>
        <p:nvSpPr>
          <p:cNvPr id="25" name="Shape 23"/>
          <p:cNvSpPr/>
          <p:nvPr/>
        </p:nvSpPr>
        <p:spPr>
          <a:xfrm>
            <a:off x="932688" y="5074920"/>
            <a:ext cx="73152" cy="73152"/>
          </a:xfrm>
          <a:prstGeom prst="ellipse">
            <a:avLst/>
          </a:prstGeom>
          <a:solidFill>
            <a:srgbClr val="2563EB"/>
          </a:solidFill>
          <a:ln w="12700">
            <a:solidFill>
              <a:srgbClr val="2563EB"/>
            </a:solidFill>
            <a:prstDash val="solid"/>
          </a:ln>
        </p:spPr>
        <p:txBody>
          <a:bodyPr/>
          <a:lstStyle/>
          <a:p>
            <a:endParaRPr lang="en-GB"/>
          </a:p>
        </p:txBody>
      </p:sp>
      <p:sp>
        <p:nvSpPr>
          <p:cNvPr id="26" name="Text 24"/>
          <p:cNvSpPr/>
          <p:nvPr/>
        </p:nvSpPr>
        <p:spPr>
          <a:xfrm>
            <a:off x="1078992" y="5029200"/>
            <a:ext cx="3017520" cy="118872"/>
          </a:xfrm>
          <a:prstGeom prst="rect">
            <a:avLst/>
          </a:prstGeom>
          <a:noFill/>
          <a:ln/>
        </p:spPr>
        <p:txBody>
          <a:bodyPr wrap="square" lIns="0" tIns="0" rIns="0" bIns="0" rtlCol="0" anchor="ctr">
            <a:normAutofit/>
          </a:bodyPr>
          <a:lstStyle/>
          <a:p>
            <a:pPr marL="0" indent="0">
              <a:buNone/>
            </a:pPr>
            <a:r>
              <a:rPr lang="en-US" sz="780" b="1" dirty="0">
                <a:solidFill>
                  <a:srgbClr val="111827"/>
                </a:solidFill>
                <a:latin typeface="Aptos" pitchFamily="34" charset="0"/>
                <a:ea typeface="Aptos" pitchFamily="34" charset="-122"/>
                <a:cs typeface="Aptos" pitchFamily="34" charset="-120"/>
              </a:rPr>
              <a:t>Project repository — final branch V3.0</a:t>
            </a:r>
            <a:endParaRPr lang="en-US" sz="780" dirty="0"/>
          </a:p>
        </p:txBody>
      </p:sp>
      <p:sp>
        <p:nvSpPr>
          <p:cNvPr id="27" name="Text 25"/>
          <p:cNvSpPr/>
          <p:nvPr/>
        </p:nvSpPr>
        <p:spPr>
          <a:xfrm>
            <a:off x="1078992" y="5193792"/>
            <a:ext cx="4617720" cy="100584"/>
          </a:xfrm>
          <a:prstGeom prst="rect">
            <a:avLst/>
          </a:prstGeom>
          <a:noFill/>
          <a:ln/>
        </p:spPr>
        <p:txBody>
          <a:bodyPr wrap="square" lIns="0" tIns="0" rIns="0" bIns="0" rtlCol="0" anchor="ctr">
            <a:normAutofit/>
          </a:bodyPr>
          <a:lstStyle/>
          <a:p>
            <a:pPr marL="0" indent="0">
              <a:buNone/>
            </a:pPr>
            <a:r>
              <a:rPr lang="en-US" sz="590" dirty="0">
                <a:solidFill>
                  <a:srgbClr val="6B7280"/>
                </a:solidFill>
                <a:latin typeface="Aptos" pitchFamily="34" charset="0"/>
                <a:ea typeface="Aptos" pitchFamily="34" charset="-122"/>
                <a:cs typeface="Aptos" pitchFamily="34" charset="-120"/>
              </a:rPr>
              <a:t>https://github.com/Mohyeldean11/Assistive_IOT_PROJ/tree/V3.0</a:t>
            </a:r>
            <a:endParaRPr lang="en-US" sz="590" dirty="0"/>
          </a:p>
        </p:txBody>
      </p:sp>
      <p:sp>
        <p:nvSpPr>
          <p:cNvPr id="28" name="Shape 26"/>
          <p:cNvSpPr/>
          <p:nvPr/>
        </p:nvSpPr>
        <p:spPr>
          <a:xfrm>
            <a:off x="6400800" y="1755648"/>
            <a:ext cx="4937760" cy="4370832"/>
          </a:xfrm>
          <a:prstGeom prst="roundRect">
            <a:avLst>
              <a:gd name="adj" fmla="val 3766"/>
            </a:avLst>
          </a:prstGeom>
          <a:solidFill>
            <a:srgbClr val="0F172A"/>
          </a:solidFill>
          <a:ln w="12700">
            <a:solidFill>
              <a:srgbClr val="1E293B"/>
            </a:solidFill>
            <a:prstDash val="solid"/>
          </a:ln>
        </p:spPr>
        <p:txBody>
          <a:bodyPr/>
          <a:lstStyle/>
          <a:p>
            <a:endParaRPr lang="en-GB"/>
          </a:p>
        </p:txBody>
      </p:sp>
      <p:sp>
        <p:nvSpPr>
          <p:cNvPr id="29" name="Text 27"/>
          <p:cNvSpPr/>
          <p:nvPr/>
        </p:nvSpPr>
        <p:spPr>
          <a:xfrm>
            <a:off x="6720840" y="1993392"/>
            <a:ext cx="3108960" cy="256032"/>
          </a:xfrm>
          <a:prstGeom prst="rect">
            <a:avLst/>
          </a:prstGeom>
          <a:noFill/>
          <a:ln/>
        </p:spPr>
        <p:txBody>
          <a:bodyPr wrap="square" lIns="0" tIns="0" rIns="0" bIns="0" rtlCol="0" anchor="ctr"/>
          <a:lstStyle/>
          <a:p>
            <a:pPr marL="0" indent="0">
              <a:buNone/>
            </a:pPr>
            <a:r>
              <a:rPr lang="en-US" sz="2100" b="1" dirty="0">
                <a:solidFill>
                  <a:srgbClr val="FFFFFF"/>
                </a:solidFill>
                <a:latin typeface="Aptos Display" pitchFamily="34" charset="0"/>
                <a:ea typeface="Aptos Display" pitchFamily="34" charset="-122"/>
                <a:cs typeface="Aptos Display" pitchFamily="34" charset="-120"/>
              </a:rPr>
              <a:t>Conclusion statement</a:t>
            </a:r>
            <a:endParaRPr lang="en-US" sz="2100" dirty="0"/>
          </a:p>
        </p:txBody>
      </p:sp>
      <p:sp>
        <p:nvSpPr>
          <p:cNvPr id="30" name="Text 28"/>
          <p:cNvSpPr/>
          <p:nvPr/>
        </p:nvSpPr>
        <p:spPr>
          <a:xfrm>
            <a:off x="6720840" y="2514600"/>
            <a:ext cx="4160520" cy="1005840"/>
          </a:xfrm>
          <a:prstGeom prst="rect">
            <a:avLst/>
          </a:prstGeom>
          <a:noFill/>
          <a:ln/>
        </p:spPr>
        <p:txBody>
          <a:bodyPr wrap="square" lIns="381" tIns="381" rIns="381" bIns="381" rtlCol="0" anchor="ctr">
            <a:normAutofit/>
          </a:bodyPr>
          <a:lstStyle/>
          <a:p>
            <a:pPr marL="0" indent="0">
              <a:buNone/>
            </a:pPr>
            <a:r>
              <a:rPr lang="en-US" sz="1300" dirty="0">
                <a:solidFill>
                  <a:srgbClr val="D7E1F3"/>
                </a:solidFill>
                <a:latin typeface="Aptos" pitchFamily="34" charset="0"/>
                <a:ea typeface="Aptos" pitchFamily="34" charset="-122"/>
                <a:cs typeface="Aptos" pitchFamily="34" charset="-120"/>
              </a:rPr>
              <a:t>CareAgent AI demonstrates how a low-cost Raspberry Pi device can combine local sensors, camera pose landmarks, mathematical feature extraction, a trained classifier, and a caregiver dashboard to support faster awareness of elder-safety risks.</a:t>
            </a:r>
            <a:endParaRPr lang="en-US" sz="1300" dirty="0"/>
          </a:p>
        </p:txBody>
      </p:sp>
      <p:sp>
        <p:nvSpPr>
          <p:cNvPr id="31" name="Shape 29"/>
          <p:cNvSpPr/>
          <p:nvPr/>
        </p:nvSpPr>
        <p:spPr>
          <a:xfrm>
            <a:off x="6720840" y="3712464"/>
            <a:ext cx="4206240" cy="1700784"/>
          </a:xfrm>
          <a:prstGeom prst="roundRect">
            <a:avLst>
              <a:gd name="adj" fmla="val 6989"/>
            </a:avLst>
          </a:prstGeom>
          <a:solidFill>
            <a:srgbClr val="172554"/>
          </a:solidFill>
          <a:ln w="12700">
            <a:solidFill>
              <a:srgbClr val="1E40AF"/>
            </a:solidFill>
            <a:prstDash val="solid"/>
          </a:ln>
        </p:spPr>
        <p:txBody>
          <a:bodyPr/>
          <a:lstStyle/>
          <a:p>
            <a:endParaRPr lang="en-GB"/>
          </a:p>
        </p:txBody>
      </p:sp>
      <p:sp>
        <p:nvSpPr>
          <p:cNvPr id="32" name="Text 30"/>
          <p:cNvSpPr/>
          <p:nvPr/>
        </p:nvSpPr>
        <p:spPr>
          <a:xfrm>
            <a:off x="6967728" y="3931920"/>
            <a:ext cx="3474720" cy="164592"/>
          </a:xfrm>
          <a:prstGeom prst="rect">
            <a:avLst/>
          </a:prstGeom>
          <a:noFill/>
          <a:ln/>
        </p:spPr>
        <p:txBody>
          <a:bodyPr wrap="square" lIns="0" tIns="0" rIns="0" bIns="0" rtlCol="0" anchor="ctr"/>
          <a:lstStyle/>
          <a:p>
            <a:pPr marL="0" indent="0">
              <a:buNone/>
            </a:pPr>
            <a:r>
              <a:rPr lang="en-US" sz="1050" b="1" dirty="0">
                <a:solidFill>
                  <a:srgbClr val="BFDBFE"/>
                </a:solidFill>
                <a:latin typeface="Aptos" pitchFamily="34" charset="0"/>
                <a:ea typeface="Aptos" pitchFamily="34" charset="-122"/>
                <a:cs typeface="Aptos" pitchFamily="34" charset="-120"/>
              </a:rPr>
              <a:t>Boundary for the final report</a:t>
            </a:r>
            <a:endParaRPr lang="en-US" sz="1050" dirty="0"/>
          </a:p>
        </p:txBody>
      </p:sp>
      <p:sp>
        <p:nvSpPr>
          <p:cNvPr id="33" name="Shape 31"/>
          <p:cNvSpPr/>
          <p:nvPr/>
        </p:nvSpPr>
        <p:spPr>
          <a:xfrm>
            <a:off x="6986016" y="4334256"/>
            <a:ext cx="73152" cy="73152"/>
          </a:xfrm>
          <a:prstGeom prst="ellipse">
            <a:avLst/>
          </a:prstGeom>
          <a:solidFill>
            <a:srgbClr val="2563EB"/>
          </a:solidFill>
          <a:ln w="12700">
            <a:solidFill>
              <a:srgbClr val="2563EB"/>
            </a:solidFill>
            <a:prstDash val="solid"/>
          </a:ln>
        </p:spPr>
        <p:txBody>
          <a:bodyPr/>
          <a:lstStyle/>
          <a:p>
            <a:endParaRPr lang="en-GB"/>
          </a:p>
        </p:txBody>
      </p:sp>
      <p:sp>
        <p:nvSpPr>
          <p:cNvPr id="34" name="Text 32"/>
          <p:cNvSpPr/>
          <p:nvPr/>
        </p:nvSpPr>
        <p:spPr>
          <a:xfrm>
            <a:off x="7168896" y="4261104"/>
            <a:ext cx="3566160" cy="192024"/>
          </a:xfrm>
          <a:prstGeom prst="rect">
            <a:avLst/>
          </a:prstGeom>
          <a:noFill/>
          <a:ln/>
        </p:spPr>
        <p:txBody>
          <a:bodyPr wrap="square" lIns="0" tIns="0" rIns="0" bIns="0" rtlCol="0" anchor="ctr">
            <a:normAutofit/>
          </a:bodyPr>
          <a:lstStyle/>
          <a:p>
            <a:pPr marL="0" indent="0">
              <a:buNone/>
            </a:pPr>
            <a:r>
              <a:rPr lang="en-US" sz="800" dirty="0">
                <a:solidFill>
                  <a:srgbClr val="FFFFFF"/>
                </a:solidFill>
                <a:latin typeface="Aptos" pitchFamily="34" charset="0"/>
                <a:ea typeface="Aptos" pitchFamily="34" charset="-122"/>
                <a:cs typeface="Aptos" pitchFamily="34" charset="-120"/>
              </a:rPr>
              <a:t>Experimental prototype only.</a:t>
            </a:r>
            <a:endParaRPr lang="en-US" sz="800" dirty="0"/>
          </a:p>
        </p:txBody>
      </p:sp>
      <p:sp>
        <p:nvSpPr>
          <p:cNvPr id="35" name="Shape 33"/>
          <p:cNvSpPr/>
          <p:nvPr/>
        </p:nvSpPr>
        <p:spPr>
          <a:xfrm>
            <a:off x="6986016" y="4581144"/>
            <a:ext cx="73152" cy="73152"/>
          </a:xfrm>
          <a:prstGeom prst="ellipse">
            <a:avLst/>
          </a:prstGeom>
          <a:solidFill>
            <a:srgbClr val="2563EB"/>
          </a:solidFill>
          <a:ln w="12700">
            <a:solidFill>
              <a:srgbClr val="2563EB"/>
            </a:solidFill>
            <a:prstDash val="solid"/>
          </a:ln>
        </p:spPr>
        <p:txBody>
          <a:bodyPr/>
          <a:lstStyle/>
          <a:p>
            <a:endParaRPr lang="en-GB"/>
          </a:p>
        </p:txBody>
      </p:sp>
      <p:sp>
        <p:nvSpPr>
          <p:cNvPr id="36" name="Text 34"/>
          <p:cNvSpPr/>
          <p:nvPr/>
        </p:nvSpPr>
        <p:spPr>
          <a:xfrm>
            <a:off x="7168896" y="4507992"/>
            <a:ext cx="3566160" cy="192024"/>
          </a:xfrm>
          <a:prstGeom prst="rect">
            <a:avLst/>
          </a:prstGeom>
          <a:noFill/>
          <a:ln/>
        </p:spPr>
        <p:txBody>
          <a:bodyPr wrap="square" lIns="0" tIns="0" rIns="0" bIns="0" rtlCol="0" anchor="ctr">
            <a:normAutofit/>
          </a:bodyPr>
          <a:lstStyle/>
          <a:p>
            <a:pPr marL="0" indent="0">
              <a:buNone/>
            </a:pPr>
            <a:r>
              <a:rPr lang="en-US" sz="800" dirty="0">
                <a:solidFill>
                  <a:srgbClr val="FFFFFF"/>
                </a:solidFill>
                <a:latin typeface="Aptos" pitchFamily="34" charset="0"/>
                <a:ea typeface="Aptos" pitchFamily="34" charset="-122"/>
                <a:cs typeface="Aptos" pitchFamily="34" charset="-120"/>
              </a:rPr>
              <a:t>Camera-only stroke signs are incomplete.</a:t>
            </a:r>
            <a:endParaRPr lang="en-US" sz="800" dirty="0"/>
          </a:p>
        </p:txBody>
      </p:sp>
      <p:sp>
        <p:nvSpPr>
          <p:cNvPr id="37" name="Shape 35"/>
          <p:cNvSpPr/>
          <p:nvPr/>
        </p:nvSpPr>
        <p:spPr>
          <a:xfrm>
            <a:off x="6986016" y="4828032"/>
            <a:ext cx="73152" cy="73152"/>
          </a:xfrm>
          <a:prstGeom prst="ellipse">
            <a:avLst/>
          </a:prstGeom>
          <a:solidFill>
            <a:srgbClr val="2563EB"/>
          </a:solidFill>
          <a:ln w="12700">
            <a:solidFill>
              <a:srgbClr val="2563EB"/>
            </a:solidFill>
            <a:prstDash val="solid"/>
          </a:ln>
        </p:spPr>
        <p:txBody>
          <a:bodyPr/>
          <a:lstStyle/>
          <a:p>
            <a:endParaRPr lang="en-GB"/>
          </a:p>
        </p:txBody>
      </p:sp>
      <p:sp>
        <p:nvSpPr>
          <p:cNvPr id="38" name="Text 36"/>
          <p:cNvSpPr/>
          <p:nvPr/>
        </p:nvSpPr>
        <p:spPr>
          <a:xfrm>
            <a:off x="7168896" y="4754880"/>
            <a:ext cx="3566160" cy="192024"/>
          </a:xfrm>
          <a:prstGeom prst="rect">
            <a:avLst/>
          </a:prstGeom>
          <a:noFill/>
          <a:ln/>
        </p:spPr>
        <p:txBody>
          <a:bodyPr wrap="square" lIns="0" tIns="0" rIns="0" bIns="0" rtlCol="0" anchor="ctr">
            <a:normAutofit/>
          </a:bodyPr>
          <a:lstStyle/>
          <a:p>
            <a:pPr marL="0" indent="0">
              <a:buNone/>
            </a:pPr>
            <a:r>
              <a:rPr lang="en-US" sz="800" dirty="0">
                <a:solidFill>
                  <a:srgbClr val="FFFFFF"/>
                </a:solidFill>
                <a:latin typeface="Aptos" pitchFamily="34" charset="0"/>
                <a:ea typeface="Aptos" pitchFamily="34" charset="-122"/>
                <a:cs typeface="Aptos" pitchFamily="34" charset="-120"/>
              </a:rPr>
              <a:t>Real-world validation is future work.</a:t>
            </a:r>
            <a:endParaRPr lang="en-US" sz="800" dirty="0"/>
          </a:p>
        </p:txBody>
      </p:sp>
      <p:sp>
        <p:nvSpPr>
          <p:cNvPr id="39" name="Shape 37"/>
          <p:cNvSpPr/>
          <p:nvPr/>
        </p:nvSpPr>
        <p:spPr>
          <a:xfrm>
            <a:off x="6986016" y="5074920"/>
            <a:ext cx="73152" cy="73152"/>
          </a:xfrm>
          <a:prstGeom prst="ellipse">
            <a:avLst/>
          </a:prstGeom>
          <a:solidFill>
            <a:srgbClr val="2563EB"/>
          </a:solidFill>
          <a:ln w="12700">
            <a:solidFill>
              <a:srgbClr val="2563EB"/>
            </a:solidFill>
            <a:prstDash val="solid"/>
          </a:ln>
        </p:spPr>
        <p:txBody>
          <a:bodyPr/>
          <a:lstStyle/>
          <a:p>
            <a:endParaRPr lang="en-GB"/>
          </a:p>
        </p:txBody>
      </p:sp>
      <p:sp>
        <p:nvSpPr>
          <p:cNvPr id="40" name="Text 38"/>
          <p:cNvSpPr/>
          <p:nvPr/>
        </p:nvSpPr>
        <p:spPr>
          <a:xfrm>
            <a:off x="7168896" y="5001768"/>
            <a:ext cx="3566160" cy="192024"/>
          </a:xfrm>
          <a:prstGeom prst="rect">
            <a:avLst/>
          </a:prstGeom>
          <a:noFill/>
          <a:ln/>
        </p:spPr>
        <p:txBody>
          <a:bodyPr wrap="square" lIns="0" tIns="0" rIns="0" bIns="0" rtlCol="0" anchor="ctr">
            <a:normAutofit/>
          </a:bodyPr>
          <a:lstStyle/>
          <a:p>
            <a:pPr marL="0" indent="0">
              <a:buNone/>
            </a:pPr>
            <a:r>
              <a:rPr lang="en-US" sz="800" dirty="0">
                <a:solidFill>
                  <a:srgbClr val="FFFFFF"/>
                </a:solidFill>
                <a:latin typeface="Aptos" pitchFamily="34" charset="0"/>
                <a:ea typeface="Aptos" pitchFamily="34" charset="-122"/>
                <a:cs typeface="Aptos" pitchFamily="34" charset="-120"/>
              </a:rPr>
              <a:t>Cloud remains out of scope for current local demo.</a:t>
            </a:r>
            <a:endParaRPr lang="en-US" sz="800" dirty="0"/>
          </a:p>
        </p:txBody>
      </p:sp>
      <p:sp>
        <p:nvSpPr>
          <p:cNvPr id="41" name="Shape 39"/>
          <p:cNvSpPr/>
          <p:nvPr/>
        </p:nvSpPr>
        <p:spPr>
          <a:xfrm>
            <a:off x="502920" y="6537960"/>
            <a:ext cx="11155680" cy="0"/>
          </a:xfrm>
          <a:prstGeom prst="line">
            <a:avLst/>
          </a:prstGeom>
          <a:noFill/>
          <a:ln w="12700">
            <a:solidFill>
              <a:srgbClr val="DDE6F2"/>
            </a:solidFill>
            <a:prstDash val="solid"/>
          </a:ln>
        </p:spPr>
        <p:txBody>
          <a:bodyPr/>
          <a:lstStyle/>
          <a:p>
            <a:endParaRPr lang="en-GB"/>
          </a:p>
        </p:txBody>
      </p:sp>
      <p:sp>
        <p:nvSpPr>
          <p:cNvPr id="42" name="Text 40"/>
          <p:cNvSpPr/>
          <p:nvPr/>
        </p:nvSpPr>
        <p:spPr>
          <a:xfrm>
            <a:off x="530352" y="6601968"/>
            <a:ext cx="594360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Final bibliography report</a:t>
            </a:r>
            <a:endParaRPr lang="en-US" sz="680" dirty="0"/>
          </a:p>
        </p:txBody>
      </p:sp>
      <p:sp>
        <p:nvSpPr>
          <p:cNvPr id="43" name="Text 41"/>
          <p:cNvSpPr/>
          <p:nvPr/>
        </p:nvSpPr>
        <p:spPr>
          <a:xfrm>
            <a:off x="11393424" y="6565392"/>
            <a:ext cx="329184" cy="182880"/>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14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3263</Words>
  <Application>Microsoft Office PowerPoint</Application>
  <PresentationFormat>Widescreen</PresentationFormat>
  <Paragraphs>336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CareAgent AI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CareAgent AI — Local Elderly Safety Monitoring Prototype — Updated Visual Version</dc:title>
  <dc:subject>Assistive IoT elderly monitoring case study</dc:subject>
  <dc:creator>Mohie Eldean Badawy &amp; Mohamed Alomarry</dc:creator>
  <cp:lastModifiedBy>Mohammed Alomari</cp:lastModifiedBy>
  <cp:revision>2</cp:revision>
  <dcterms:created xsi:type="dcterms:W3CDTF">2026-07-03T08:29:06Z</dcterms:created>
  <dcterms:modified xsi:type="dcterms:W3CDTF">2026-07-03T14:35:09Z</dcterms:modified>
</cp:coreProperties>
</file>